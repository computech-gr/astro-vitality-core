
<file path=[Content_Types].xml><?xml version="1.0" encoding="utf-8"?>
<Types xmlns="http://schemas.openxmlformats.org/package/2006/content-types">
  <Default Extension="jpg" ContentType="image/jp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llenge" id="{B6EFD8AF-A88F-E127-BEAA-08BF4029D7C0}">
          <p14:sldIdLst>
            <p14:sldId id="256"/>
            <p14:sldId id="257"/>
            <p14:sldId id="258"/>
            <p14:sldId id="259"/>
          </p14:sldIdLst>
        </p14:section>
        <p14:section name="Solution &amp; science" id="{1B87A8FF-716E-E5C8-C144-7AEC061D05B7}">
          <p14:sldIdLst>
            <p14:sldId id="260"/>
            <p14:sldId id="261"/>
            <p14:sldId id="262"/>
            <p14:sldId id="263"/>
            <p14:sldId id="264"/>
            <p14:sldId id="265"/>
            <p14:sldId id="266"/>
            <p14:sldId id="267"/>
          </p14:sldIdLst>
        </p14:section>
        <p14:section name="Platform" id="{67704343-C401-2B29-C98C-77FA0FDBA1D1}">
          <p14:sldIdLst>
            <p14:sldId id="268"/>
            <p14:sldId id="269"/>
            <p14:sldId id="270"/>
            <p14:sldId id="271"/>
            <p14:sldId id="272"/>
            <p14:sldId id="273"/>
          </p14:sldIdLst>
        </p14:section>
        <p14:section name="Crew Self &amp; Ground Medical workflows" id="{1086EBEB-3D07-AB2D-7F1A-BC25EAED59F0}">
          <p14:sldIdLst>
            <p14:sldId id="274"/>
            <p14:sldId id="275"/>
            <p14:sldId id="276"/>
            <p14:sldId id="277"/>
            <p14:sldId id="278"/>
            <p14:sldId id="279"/>
            <p14:sldId id="280"/>
          </p14:sldIdLst>
        </p14:section>
        <p14:section name="Demonstration &amp; results" id="{6F45610B-7A5C-5E94-24F9-FA5B366FA96D}">
          <p14:sldIdLst>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880890-3CE2-4A19-BE64-8BC456D7D606}" v="96" dt="2026-10-31T14:03:14.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odore Silvestros" userId="27dd4baea24166a6" providerId="LiveId" clId="{E4A9A71E-97C1-4E27-8939-834D350299B6}"/>
    <pc:docChg chg="modSld">
      <pc:chgData name="Theodore Silvestros" userId="27dd4baea24166a6" providerId="LiveId" clId="{E4A9A71E-97C1-4E27-8939-834D350299B6}" dt="2026-10-31T14:03:14.056" v="126"/>
      <pc:docMkLst>
        <pc:docMk/>
      </pc:docMkLst>
      <pc:sldChg chg="addSp modSp mod modTransition modAnim">
        <pc:chgData name="Theodore Silvestros" userId="27dd4baea24166a6" providerId="LiveId" clId="{E4A9A71E-97C1-4E27-8939-834D350299B6}" dt="2026-10-31T13:51:41.353" v="24"/>
        <pc:sldMkLst>
          <pc:docMk/>
          <pc:sldMk cId="0" sldId="256"/>
        </pc:sldMkLst>
        <pc:picChg chg="add mod">
          <ac:chgData name="Theodore Silvestros" userId="27dd4baea24166a6" providerId="LiveId" clId="{E4A9A71E-97C1-4E27-8939-834D350299B6}" dt="2026-10-31T13:11:13.311" v="1" actId="1076"/>
          <ac:picMkLst>
            <pc:docMk/>
            <pc:sldMk cId="0" sldId="256"/>
            <ac:picMk id="17" creationId="{FCC7F48D-1EE7-BD5A-C978-33776D60517B}"/>
          </ac:picMkLst>
        </pc:picChg>
      </pc:sldChg>
      <pc:sldChg chg="addSp modSp mod modTransition modAnim">
        <pc:chgData name="Theodore Silvestros" userId="27dd4baea24166a6" providerId="LiveId" clId="{E4A9A71E-97C1-4E27-8939-834D350299B6}" dt="2026-10-31T13:51:44.723" v="25"/>
        <pc:sldMkLst>
          <pc:docMk/>
          <pc:sldMk cId="0" sldId="257"/>
        </pc:sldMkLst>
        <pc:picChg chg="add mod">
          <ac:chgData name="Theodore Silvestros" userId="27dd4baea24166a6" providerId="LiveId" clId="{E4A9A71E-97C1-4E27-8939-834D350299B6}" dt="2026-10-31T13:12:13.049" v="5" actId="1076"/>
          <ac:picMkLst>
            <pc:docMk/>
            <pc:sldMk cId="0" sldId="257"/>
            <ac:picMk id="27" creationId="{FBD46D7E-2CB2-EEE7-3112-90B04030BE31}"/>
          </ac:picMkLst>
        </pc:picChg>
      </pc:sldChg>
      <pc:sldChg chg="addSp modSp mod modTransition modAnim">
        <pc:chgData name="Theodore Silvestros" userId="27dd4baea24166a6" providerId="LiveId" clId="{E4A9A71E-97C1-4E27-8939-834D350299B6}" dt="2026-10-31T13:51:47.273" v="26"/>
        <pc:sldMkLst>
          <pc:docMk/>
          <pc:sldMk cId="0" sldId="258"/>
        </pc:sldMkLst>
        <pc:picChg chg="add mod">
          <ac:chgData name="Theodore Silvestros" userId="27dd4baea24166a6" providerId="LiveId" clId="{E4A9A71E-97C1-4E27-8939-834D350299B6}" dt="2026-10-31T13:12:34.774" v="9" actId="1076"/>
          <ac:picMkLst>
            <pc:docMk/>
            <pc:sldMk cId="0" sldId="258"/>
            <ac:picMk id="19" creationId="{7E1AD257-0FA4-4F79-B7B5-AD3672403AB1}"/>
          </ac:picMkLst>
        </pc:picChg>
      </pc:sldChg>
      <pc:sldChg chg="addSp modSp mod modTransition modAnim">
        <pc:chgData name="Theodore Silvestros" userId="27dd4baea24166a6" providerId="LiveId" clId="{E4A9A71E-97C1-4E27-8939-834D350299B6}" dt="2026-10-31T13:51:50.167" v="27"/>
        <pc:sldMkLst>
          <pc:docMk/>
          <pc:sldMk cId="0" sldId="259"/>
        </pc:sldMkLst>
        <pc:picChg chg="add mod">
          <ac:chgData name="Theodore Silvestros" userId="27dd4baea24166a6" providerId="LiveId" clId="{E4A9A71E-97C1-4E27-8939-834D350299B6}" dt="2026-10-31T13:13:06.473" v="13" actId="1076"/>
          <ac:picMkLst>
            <pc:docMk/>
            <pc:sldMk cId="0" sldId="259"/>
            <ac:picMk id="7" creationId="{EC2339A2-F9AD-F370-CE89-F677D7CA2D01}"/>
          </ac:picMkLst>
        </pc:picChg>
      </pc:sldChg>
      <pc:sldChg chg="addSp modSp mod modTransition modAnim">
        <pc:chgData name="Theodore Silvestros" userId="27dd4baea24166a6" providerId="LiveId" clId="{E4A9A71E-97C1-4E27-8939-834D350299B6}" dt="2026-10-31T13:51:53.318" v="28"/>
        <pc:sldMkLst>
          <pc:docMk/>
          <pc:sldMk cId="0" sldId="260"/>
        </pc:sldMkLst>
        <pc:picChg chg="add mod">
          <ac:chgData name="Theodore Silvestros" userId="27dd4baea24166a6" providerId="LiveId" clId="{E4A9A71E-97C1-4E27-8939-834D350299B6}" dt="2026-10-31T13:13:38.556" v="17" actId="1076"/>
          <ac:picMkLst>
            <pc:docMk/>
            <pc:sldMk cId="0" sldId="260"/>
            <ac:picMk id="33" creationId="{520EFC32-59E2-F35E-576C-38B6DA6AE4E6}"/>
          </ac:picMkLst>
        </pc:picChg>
      </pc:sldChg>
      <pc:sldChg chg="addSp modSp mod modTransition modAnim">
        <pc:chgData name="Theodore Silvestros" userId="27dd4baea24166a6" providerId="LiveId" clId="{E4A9A71E-97C1-4E27-8939-834D350299B6}" dt="2026-10-31T13:52:00.096" v="29"/>
        <pc:sldMkLst>
          <pc:docMk/>
          <pc:sldMk cId="0" sldId="261"/>
        </pc:sldMkLst>
        <pc:picChg chg="add mod">
          <ac:chgData name="Theodore Silvestros" userId="27dd4baea24166a6" providerId="LiveId" clId="{E4A9A71E-97C1-4E27-8939-834D350299B6}" dt="2026-10-31T13:14:04.524" v="21" actId="1076"/>
          <ac:picMkLst>
            <pc:docMk/>
            <pc:sldMk cId="0" sldId="261"/>
            <ac:picMk id="26" creationId="{BBC18D8A-BFF3-E2BA-DE07-720B4AB80AF8}"/>
          </ac:picMkLst>
        </pc:picChg>
      </pc:sldChg>
      <pc:sldChg chg="addSp modSp mod modAnim">
        <pc:chgData name="Theodore Silvestros" userId="27dd4baea24166a6" providerId="LiveId" clId="{E4A9A71E-97C1-4E27-8939-834D350299B6}" dt="2026-10-31T13:53:38.335" v="33"/>
        <pc:sldMkLst>
          <pc:docMk/>
          <pc:sldMk cId="0" sldId="262"/>
        </pc:sldMkLst>
        <pc:picChg chg="add mod">
          <ac:chgData name="Theodore Silvestros" userId="27dd4baea24166a6" providerId="LiveId" clId="{E4A9A71E-97C1-4E27-8939-834D350299B6}" dt="2026-10-31T13:53:32.824" v="31" actId="1076"/>
          <ac:picMkLst>
            <pc:docMk/>
            <pc:sldMk cId="0" sldId="262"/>
            <ac:picMk id="11" creationId="{7E019EA9-915D-53D4-E959-E07C351EB31D}"/>
          </ac:picMkLst>
        </pc:picChg>
      </pc:sldChg>
      <pc:sldChg chg="addSp modSp mod modAnim">
        <pc:chgData name="Theodore Silvestros" userId="27dd4baea24166a6" providerId="LiveId" clId="{E4A9A71E-97C1-4E27-8939-834D350299B6}" dt="2026-10-31T13:54:00.427" v="37"/>
        <pc:sldMkLst>
          <pc:docMk/>
          <pc:sldMk cId="0" sldId="263"/>
        </pc:sldMkLst>
        <pc:picChg chg="add mod">
          <ac:chgData name="Theodore Silvestros" userId="27dd4baea24166a6" providerId="LiveId" clId="{E4A9A71E-97C1-4E27-8939-834D350299B6}" dt="2026-10-31T13:53:56.863" v="35" actId="1076"/>
          <ac:picMkLst>
            <pc:docMk/>
            <pc:sldMk cId="0" sldId="263"/>
            <ac:picMk id="22" creationId="{F3432D52-937E-8D1D-7C68-EEBFF07170DB}"/>
          </ac:picMkLst>
        </pc:picChg>
      </pc:sldChg>
      <pc:sldChg chg="addSp modSp mod modAnim">
        <pc:chgData name="Theodore Silvestros" userId="27dd4baea24166a6" providerId="LiveId" clId="{E4A9A71E-97C1-4E27-8939-834D350299B6}" dt="2026-10-31T13:54:24.782" v="41"/>
        <pc:sldMkLst>
          <pc:docMk/>
          <pc:sldMk cId="0" sldId="264"/>
        </pc:sldMkLst>
        <pc:picChg chg="add mod">
          <ac:chgData name="Theodore Silvestros" userId="27dd4baea24166a6" providerId="LiveId" clId="{E4A9A71E-97C1-4E27-8939-834D350299B6}" dt="2026-10-31T13:54:21.343" v="39" actId="1076"/>
          <ac:picMkLst>
            <pc:docMk/>
            <pc:sldMk cId="0" sldId="264"/>
            <ac:picMk id="21" creationId="{703B5832-94A7-20D9-0ADD-565225BDB9DF}"/>
          </ac:picMkLst>
        </pc:picChg>
      </pc:sldChg>
      <pc:sldChg chg="addSp modSp mod modAnim">
        <pc:chgData name="Theodore Silvestros" userId="27dd4baea24166a6" providerId="LiveId" clId="{E4A9A71E-97C1-4E27-8939-834D350299B6}" dt="2026-10-31T13:54:52.844" v="45"/>
        <pc:sldMkLst>
          <pc:docMk/>
          <pc:sldMk cId="0" sldId="265"/>
        </pc:sldMkLst>
        <pc:picChg chg="add mod">
          <ac:chgData name="Theodore Silvestros" userId="27dd4baea24166a6" providerId="LiveId" clId="{E4A9A71E-97C1-4E27-8939-834D350299B6}" dt="2026-10-31T13:54:49.346" v="43" actId="1076"/>
          <ac:picMkLst>
            <pc:docMk/>
            <pc:sldMk cId="0" sldId="265"/>
            <ac:picMk id="11" creationId="{A5877290-6D27-AF08-B4D1-784FE22387D8}"/>
          </ac:picMkLst>
        </pc:picChg>
      </pc:sldChg>
      <pc:sldChg chg="addSp modSp mod modAnim">
        <pc:chgData name="Theodore Silvestros" userId="27dd4baea24166a6" providerId="LiveId" clId="{E4A9A71E-97C1-4E27-8939-834D350299B6}" dt="2026-10-31T13:55:19.148" v="49"/>
        <pc:sldMkLst>
          <pc:docMk/>
          <pc:sldMk cId="0" sldId="266"/>
        </pc:sldMkLst>
        <pc:picChg chg="add mod">
          <ac:chgData name="Theodore Silvestros" userId="27dd4baea24166a6" providerId="LiveId" clId="{E4A9A71E-97C1-4E27-8939-834D350299B6}" dt="2026-10-31T13:55:13.382" v="47" actId="1076"/>
          <ac:picMkLst>
            <pc:docMk/>
            <pc:sldMk cId="0" sldId="266"/>
            <ac:picMk id="23" creationId="{ECB5D5F7-83F0-1371-4ED5-885E303B682F}"/>
          </ac:picMkLst>
        </pc:picChg>
      </pc:sldChg>
      <pc:sldChg chg="addSp modSp mod modAnim">
        <pc:chgData name="Theodore Silvestros" userId="27dd4baea24166a6" providerId="LiveId" clId="{E4A9A71E-97C1-4E27-8939-834D350299B6}" dt="2026-10-31T13:55:46.614" v="53"/>
        <pc:sldMkLst>
          <pc:docMk/>
          <pc:sldMk cId="0" sldId="267"/>
        </pc:sldMkLst>
        <pc:picChg chg="add mod">
          <ac:chgData name="Theodore Silvestros" userId="27dd4baea24166a6" providerId="LiveId" clId="{E4A9A71E-97C1-4E27-8939-834D350299B6}" dt="2026-10-31T13:55:43.154" v="51" actId="1076"/>
          <ac:picMkLst>
            <pc:docMk/>
            <pc:sldMk cId="0" sldId="267"/>
            <ac:picMk id="18" creationId="{FB184745-901D-C253-BB89-B7F1CA1E468A}"/>
          </ac:picMkLst>
        </pc:picChg>
      </pc:sldChg>
      <pc:sldChg chg="addSp modSp mod modAnim">
        <pc:chgData name="Theodore Silvestros" userId="27dd4baea24166a6" providerId="LiveId" clId="{E4A9A71E-97C1-4E27-8939-834D350299B6}" dt="2026-10-31T13:56:12.555" v="57"/>
        <pc:sldMkLst>
          <pc:docMk/>
          <pc:sldMk cId="0" sldId="268"/>
        </pc:sldMkLst>
        <pc:picChg chg="add mod">
          <ac:chgData name="Theodore Silvestros" userId="27dd4baea24166a6" providerId="LiveId" clId="{E4A9A71E-97C1-4E27-8939-834D350299B6}" dt="2026-10-31T13:56:03.189" v="55" actId="1076"/>
          <ac:picMkLst>
            <pc:docMk/>
            <pc:sldMk cId="0" sldId="268"/>
            <ac:picMk id="12" creationId="{963CAE0D-8EF6-0023-FD46-7D7A480FCB8E}"/>
          </ac:picMkLst>
        </pc:picChg>
      </pc:sldChg>
      <pc:sldChg chg="addSp modSp mod modAnim">
        <pc:chgData name="Theodore Silvestros" userId="27dd4baea24166a6" providerId="LiveId" clId="{E4A9A71E-97C1-4E27-8939-834D350299B6}" dt="2026-10-31T13:56:34.626" v="61"/>
        <pc:sldMkLst>
          <pc:docMk/>
          <pc:sldMk cId="0" sldId="269"/>
        </pc:sldMkLst>
        <pc:picChg chg="add mod">
          <ac:chgData name="Theodore Silvestros" userId="27dd4baea24166a6" providerId="LiveId" clId="{E4A9A71E-97C1-4E27-8939-834D350299B6}" dt="2026-10-31T13:56:30.078" v="59" actId="1076"/>
          <ac:picMkLst>
            <pc:docMk/>
            <pc:sldMk cId="0" sldId="269"/>
            <ac:picMk id="12" creationId="{EFFEFEFC-BB3A-AF64-4B27-7266CA7F78CE}"/>
          </ac:picMkLst>
        </pc:picChg>
      </pc:sldChg>
      <pc:sldChg chg="addSp modSp mod modAnim">
        <pc:chgData name="Theodore Silvestros" userId="27dd4baea24166a6" providerId="LiveId" clId="{E4A9A71E-97C1-4E27-8939-834D350299B6}" dt="2026-10-31T13:56:55.709" v="65"/>
        <pc:sldMkLst>
          <pc:docMk/>
          <pc:sldMk cId="0" sldId="270"/>
        </pc:sldMkLst>
        <pc:picChg chg="add mod">
          <ac:chgData name="Theodore Silvestros" userId="27dd4baea24166a6" providerId="LiveId" clId="{E4A9A71E-97C1-4E27-8939-834D350299B6}" dt="2026-10-31T13:56:51.712" v="63" actId="1076"/>
          <ac:picMkLst>
            <pc:docMk/>
            <pc:sldMk cId="0" sldId="270"/>
            <ac:picMk id="12" creationId="{776940A5-BAEC-B1DE-13C0-7AD51E25FACF}"/>
          </ac:picMkLst>
        </pc:picChg>
      </pc:sldChg>
      <pc:sldChg chg="addSp modSp mod modAnim">
        <pc:chgData name="Theodore Silvestros" userId="27dd4baea24166a6" providerId="LiveId" clId="{E4A9A71E-97C1-4E27-8939-834D350299B6}" dt="2026-10-31T13:57:29.380" v="69"/>
        <pc:sldMkLst>
          <pc:docMk/>
          <pc:sldMk cId="0" sldId="271"/>
        </pc:sldMkLst>
        <pc:picChg chg="add mod">
          <ac:chgData name="Theodore Silvestros" userId="27dd4baea24166a6" providerId="LiveId" clId="{E4A9A71E-97C1-4E27-8939-834D350299B6}" dt="2026-10-31T13:57:23.280" v="67" actId="1076"/>
          <ac:picMkLst>
            <pc:docMk/>
            <pc:sldMk cId="0" sldId="271"/>
            <ac:picMk id="10" creationId="{120C632D-DED1-AE15-67A5-7E0388B37AE0}"/>
          </ac:picMkLst>
        </pc:picChg>
      </pc:sldChg>
      <pc:sldChg chg="addSp modSp mod modAnim">
        <pc:chgData name="Theodore Silvestros" userId="27dd4baea24166a6" providerId="LiveId" clId="{E4A9A71E-97C1-4E27-8939-834D350299B6}" dt="2026-10-31T13:58:02.488" v="73"/>
        <pc:sldMkLst>
          <pc:docMk/>
          <pc:sldMk cId="0" sldId="272"/>
        </pc:sldMkLst>
        <pc:picChg chg="add mod">
          <ac:chgData name="Theodore Silvestros" userId="27dd4baea24166a6" providerId="LiveId" clId="{E4A9A71E-97C1-4E27-8939-834D350299B6}" dt="2026-10-31T13:57:58.862" v="71" actId="1076"/>
          <ac:picMkLst>
            <pc:docMk/>
            <pc:sldMk cId="0" sldId="272"/>
            <ac:picMk id="24" creationId="{6133D2A5-2CD1-4C66-E2C7-91CDCA5C4A3C}"/>
          </ac:picMkLst>
        </pc:picChg>
      </pc:sldChg>
      <pc:sldChg chg="addSp modSp mod modAnim">
        <pc:chgData name="Theodore Silvestros" userId="27dd4baea24166a6" providerId="LiveId" clId="{E4A9A71E-97C1-4E27-8939-834D350299B6}" dt="2026-10-31T13:58:22.906" v="77"/>
        <pc:sldMkLst>
          <pc:docMk/>
          <pc:sldMk cId="0" sldId="273"/>
        </pc:sldMkLst>
        <pc:picChg chg="add mod">
          <ac:chgData name="Theodore Silvestros" userId="27dd4baea24166a6" providerId="LiveId" clId="{E4A9A71E-97C1-4E27-8939-834D350299B6}" dt="2026-10-31T13:58:17.806" v="75" actId="1076"/>
          <ac:picMkLst>
            <pc:docMk/>
            <pc:sldMk cId="0" sldId="273"/>
            <ac:picMk id="14" creationId="{1F6448A3-CAE6-2600-DEDB-82F2EBB12ACC}"/>
          </ac:picMkLst>
        </pc:picChg>
      </pc:sldChg>
      <pc:sldChg chg="addSp modSp mod modAnim">
        <pc:chgData name="Theodore Silvestros" userId="27dd4baea24166a6" providerId="LiveId" clId="{E4A9A71E-97C1-4E27-8939-834D350299B6}" dt="2026-10-31T13:58:44.502" v="82"/>
        <pc:sldMkLst>
          <pc:docMk/>
          <pc:sldMk cId="0" sldId="274"/>
        </pc:sldMkLst>
        <pc:picChg chg="add mod">
          <ac:chgData name="Theodore Silvestros" userId="27dd4baea24166a6" providerId="LiveId" clId="{E4A9A71E-97C1-4E27-8939-834D350299B6}" dt="2026-10-31T13:58:41.104" v="80" actId="1076"/>
          <ac:picMkLst>
            <pc:docMk/>
            <pc:sldMk cId="0" sldId="274"/>
            <ac:picMk id="29" creationId="{89A42ADE-F6F9-8C69-029E-8A09E603CBB6}"/>
          </ac:picMkLst>
        </pc:picChg>
      </pc:sldChg>
      <pc:sldChg chg="addSp modSp mod modAnim">
        <pc:chgData name="Theodore Silvestros" userId="27dd4baea24166a6" providerId="LiveId" clId="{E4A9A71E-97C1-4E27-8939-834D350299B6}" dt="2026-10-31T13:59:02.066" v="86"/>
        <pc:sldMkLst>
          <pc:docMk/>
          <pc:sldMk cId="0" sldId="275"/>
        </pc:sldMkLst>
        <pc:picChg chg="add mod">
          <ac:chgData name="Theodore Silvestros" userId="27dd4baea24166a6" providerId="LiveId" clId="{E4A9A71E-97C1-4E27-8939-834D350299B6}" dt="2026-10-31T13:58:59.559" v="84" actId="1076"/>
          <ac:picMkLst>
            <pc:docMk/>
            <pc:sldMk cId="0" sldId="275"/>
            <ac:picMk id="26" creationId="{6EC180D6-5292-2427-37C1-1BB8D21E99B9}"/>
          </ac:picMkLst>
        </pc:picChg>
      </pc:sldChg>
      <pc:sldChg chg="addSp modSp mod modAnim">
        <pc:chgData name="Theodore Silvestros" userId="27dd4baea24166a6" providerId="LiveId" clId="{E4A9A71E-97C1-4E27-8939-834D350299B6}" dt="2026-10-31T13:59:22.976" v="90"/>
        <pc:sldMkLst>
          <pc:docMk/>
          <pc:sldMk cId="0" sldId="276"/>
        </pc:sldMkLst>
        <pc:picChg chg="add mod">
          <ac:chgData name="Theodore Silvestros" userId="27dd4baea24166a6" providerId="LiveId" clId="{E4A9A71E-97C1-4E27-8939-834D350299B6}" dt="2026-10-31T13:59:19.813" v="88" actId="1076"/>
          <ac:picMkLst>
            <pc:docMk/>
            <pc:sldMk cId="0" sldId="276"/>
            <ac:picMk id="18" creationId="{E5A24454-6B0D-81F8-DB46-046042E36EF6}"/>
          </ac:picMkLst>
        </pc:picChg>
      </pc:sldChg>
      <pc:sldChg chg="addSp modSp mod modAnim">
        <pc:chgData name="Theodore Silvestros" userId="27dd4baea24166a6" providerId="LiveId" clId="{E4A9A71E-97C1-4E27-8939-834D350299B6}" dt="2026-10-31T13:59:58.018" v="94"/>
        <pc:sldMkLst>
          <pc:docMk/>
          <pc:sldMk cId="0" sldId="277"/>
        </pc:sldMkLst>
        <pc:picChg chg="add mod">
          <ac:chgData name="Theodore Silvestros" userId="27dd4baea24166a6" providerId="LiveId" clId="{E4A9A71E-97C1-4E27-8939-834D350299B6}" dt="2026-10-31T13:59:54.674" v="92" actId="1076"/>
          <ac:picMkLst>
            <pc:docMk/>
            <pc:sldMk cId="0" sldId="277"/>
            <ac:picMk id="15" creationId="{DE5342CB-A3D8-BA73-AFC7-8E4AAA459C1E}"/>
          </ac:picMkLst>
        </pc:picChg>
      </pc:sldChg>
      <pc:sldChg chg="addSp modSp mod modAnim">
        <pc:chgData name="Theodore Silvestros" userId="27dd4baea24166a6" providerId="LiveId" clId="{E4A9A71E-97C1-4E27-8939-834D350299B6}" dt="2026-10-31T14:00:20.951" v="98"/>
        <pc:sldMkLst>
          <pc:docMk/>
          <pc:sldMk cId="0" sldId="278"/>
        </pc:sldMkLst>
        <pc:picChg chg="add mod">
          <ac:chgData name="Theodore Silvestros" userId="27dd4baea24166a6" providerId="LiveId" clId="{E4A9A71E-97C1-4E27-8939-834D350299B6}" dt="2026-10-31T14:00:17.759" v="96" actId="1076"/>
          <ac:picMkLst>
            <pc:docMk/>
            <pc:sldMk cId="0" sldId="278"/>
            <ac:picMk id="10" creationId="{D6177241-9EA0-26C4-062B-16154D6D85A7}"/>
          </ac:picMkLst>
        </pc:picChg>
      </pc:sldChg>
      <pc:sldChg chg="addSp modSp mod modAnim">
        <pc:chgData name="Theodore Silvestros" userId="27dd4baea24166a6" providerId="LiveId" clId="{E4A9A71E-97C1-4E27-8939-834D350299B6}" dt="2026-10-31T14:00:43.412" v="102"/>
        <pc:sldMkLst>
          <pc:docMk/>
          <pc:sldMk cId="0" sldId="279"/>
        </pc:sldMkLst>
        <pc:picChg chg="add mod">
          <ac:chgData name="Theodore Silvestros" userId="27dd4baea24166a6" providerId="LiveId" clId="{E4A9A71E-97C1-4E27-8939-834D350299B6}" dt="2026-10-31T14:00:38.561" v="100" actId="1076"/>
          <ac:picMkLst>
            <pc:docMk/>
            <pc:sldMk cId="0" sldId="279"/>
            <ac:picMk id="17" creationId="{A420C16F-7FC3-72C2-C241-A9784A6EFD0D}"/>
          </ac:picMkLst>
        </pc:picChg>
      </pc:sldChg>
      <pc:sldChg chg="addSp modSp mod modAnim">
        <pc:chgData name="Theodore Silvestros" userId="27dd4baea24166a6" providerId="LiveId" clId="{E4A9A71E-97C1-4E27-8939-834D350299B6}" dt="2026-10-31T14:01:02.014" v="106"/>
        <pc:sldMkLst>
          <pc:docMk/>
          <pc:sldMk cId="0" sldId="280"/>
        </pc:sldMkLst>
        <pc:picChg chg="add mod">
          <ac:chgData name="Theodore Silvestros" userId="27dd4baea24166a6" providerId="LiveId" clId="{E4A9A71E-97C1-4E27-8939-834D350299B6}" dt="2026-10-31T14:00:58.456" v="104" actId="1076"/>
          <ac:picMkLst>
            <pc:docMk/>
            <pc:sldMk cId="0" sldId="280"/>
            <ac:picMk id="18" creationId="{4629C60E-4FA1-C717-5524-EBA2ACD00B7C}"/>
          </ac:picMkLst>
        </pc:picChg>
      </pc:sldChg>
      <pc:sldChg chg="addSp modSp mod modAnim">
        <pc:chgData name="Theodore Silvestros" userId="27dd4baea24166a6" providerId="LiveId" clId="{E4A9A71E-97C1-4E27-8939-834D350299B6}" dt="2026-10-31T14:01:25.719" v="110"/>
        <pc:sldMkLst>
          <pc:docMk/>
          <pc:sldMk cId="0" sldId="281"/>
        </pc:sldMkLst>
        <pc:picChg chg="add mod">
          <ac:chgData name="Theodore Silvestros" userId="27dd4baea24166a6" providerId="LiveId" clId="{E4A9A71E-97C1-4E27-8939-834D350299B6}" dt="2026-10-31T14:01:22.612" v="108" actId="1076"/>
          <ac:picMkLst>
            <pc:docMk/>
            <pc:sldMk cId="0" sldId="281"/>
            <ac:picMk id="12" creationId="{C55FB77C-267C-7607-751E-77D3156C6BD4}"/>
          </ac:picMkLst>
        </pc:picChg>
      </pc:sldChg>
      <pc:sldChg chg="addSp modSp mod modAnim">
        <pc:chgData name="Theodore Silvestros" userId="27dd4baea24166a6" providerId="LiveId" clId="{E4A9A71E-97C1-4E27-8939-834D350299B6}" dt="2026-10-31T14:02:06.096" v="114"/>
        <pc:sldMkLst>
          <pc:docMk/>
          <pc:sldMk cId="0" sldId="282"/>
        </pc:sldMkLst>
        <pc:picChg chg="add mod">
          <ac:chgData name="Theodore Silvestros" userId="27dd4baea24166a6" providerId="LiveId" clId="{E4A9A71E-97C1-4E27-8939-834D350299B6}" dt="2026-10-31T14:02:02.126" v="112" actId="1076"/>
          <ac:picMkLst>
            <pc:docMk/>
            <pc:sldMk cId="0" sldId="282"/>
            <ac:picMk id="23" creationId="{26D94593-F200-E98F-DBD0-3D32E995FFFB}"/>
          </ac:picMkLst>
        </pc:picChg>
      </pc:sldChg>
      <pc:sldChg chg="addSp modSp mod modAnim">
        <pc:chgData name="Theodore Silvestros" userId="27dd4baea24166a6" providerId="LiveId" clId="{E4A9A71E-97C1-4E27-8939-834D350299B6}" dt="2026-10-31T14:02:29.196" v="118"/>
        <pc:sldMkLst>
          <pc:docMk/>
          <pc:sldMk cId="0" sldId="283"/>
        </pc:sldMkLst>
        <pc:picChg chg="add mod">
          <ac:chgData name="Theodore Silvestros" userId="27dd4baea24166a6" providerId="LiveId" clId="{E4A9A71E-97C1-4E27-8939-834D350299B6}" dt="2026-10-31T14:02:25.899" v="116" actId="1076"/>
          <ac:picMkLst>
            <pc:docMk/>
            <pc:sldMk cId="0" sldId="283"/>
            <ac:picMk id="22" creationId="{A614A338-93BC-0420-F1FB-7273172C5FA7}"/>
          </ac:picMkLst>
        </pc:picChg>
      </pc:sldChg>
      <pc:sldChg chg="addSp modSp mod modAnim">
        <pc:chgData name="Theodore Silvestros" userId="27dd4baea24166a6" providerId="LiveId" clId="{E4A9A71E-97C1-4E27-8939-834D350299B6}" dt="2026-10-31T14:02:48.295" v="122"/>
        <pc:sldMkLst>
          <pc:docMk/>
          <pc:sldMk cId="0" sldId="284"/>
        </pc:sldMkLst>
        <pc:picChg chg="add mod">
          <ac:chgData name="Theodore Silvestros" userId="27dd4baea24166a6" providerId="LiveId" clId="{E4A9A71E-97C1-4E27-8939-834D350299B6}" dt="2026-10-31T14:02:44.310" v="120" actId="1076"/>
          <ac:picMkLst>
            <pc:docMk/>
            <pc:sldMk cId="0" sldId="284"/>
            <ac:picMk id="30" creationId="{75BF8FC7-870E-0B51-F32D-11C4B4A74B9C}"/>
          </ac:picMkLst>
        </pc:picChg>
      </pc:sldChg>
      <pc:sldChg chg="addSp modSp mod modAnim">
        <pc:chgData name="Theodore Silvestros" userId="27dd4baea24166a6" providerId="LiveId" clId="{E4A9A71E-97C1-4E27-8939-834D350299B6}" dt="2026-10-31T14:03:14.056" v="126"/>
        <pc:sldMkLst>
          <pc:docMk/>
          <pc:sldMk cId="0" sldId="285"/>
        </pc:sldMkLst>
        <pc:picChg chg="add mod">
          <ac:chgData name="Theodore Silvestros" userId="27dd4baea24166a6" providerId="LiveId" clId="{E4A9A71E-97C1-4E27-8939-834D350299B6}" dt="2026-10-31T14:03:10.633" v="124" actId="1076"/>
          <ac:picMkLst>
            <pc:docMk/>
            <pc:sldMk cId="0" sldId="285"/>
            <ac:picMk id="17" creationId="{BAD4D6E6-BC19-33AC-9B9B-04D40A022CD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5500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MITOCHONDRIA, our astronaut health intelligence platform for the NASA Space Apps Challenge 2026. It is an open-source research prototype that keeps the crew health loop working when Earth is far away: offline first, explainable, and always supervised by people. Everything we show uses synthetic data. MITOCHONDRIA is not clinically validated and is not endorsed by NASA.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Spaceflight stresses the body on five interacting fronts: space radiation, isolation and confinement, distance from Earth, altered gravity, and a closed, hostile environment. Together they change bone, the heart and circulation, immunity, sleep and the mind. A useful monitoring tool must see these systems together, not one at a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 missions move farther from Earth, real-time medical support can no longer be assumed. Communication delays and blackouts mean the crew must capture, review and understand health evidence locally. That turns health monitoring into an autonomy problem: the system has to keep working, safely and transparently, without a ground link.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health evidence is fragmented. Wearables, laboratory reports, questionnaires and habitat sensors arrive in different formats, units and quality. It is easy to over-interpret a single number. MITOCHONDRIA keeps every value with its source, unit, time and quality, and labels research-only or synthetic evidence so that it is never mistaken for a clinical finding.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answer is one continuous loop: monitor, personalise, correlate, detect, explain, act and learn. Signals are captured through governed adapters, compared with each astronaut's own baseline, placed on one mission timeline, and explained with their evidence and uncertainty. Actions remain human decisions, guided by approved protocols.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role gets what it needs. Crew Self members see their own data, even offline. Mission Operators run missions, crews and invitations, with every action audited. Ground Medical reviewers inspect synthetic batches read-only. Researchers receive only privacy-protected aggregates. And integrators can add new devices through an open adapter contract.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Science leads the software. The canonical catalogue is derived from the team's Astronaut Biomarker Matrix, version 1.1, and every scientific source carries its review state. The bone and cardiovascular handbooks are displayed with their original Greek text preserved. Nikolas' immune and behavioural research is integrated as research-only proposals. Nothing scientific is activated without independent review.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is organised into the four domains highlighted by the challenge: bone; cardiovascular; immune and microbiome; and behavioural, sleep and cognitive health. Each domain has reference content, governed measurement entry and a shared evidence panel. All four share one mission timeline: a common research context, never a diagnosis.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astronaut is compared with themselves. The personal baseline engine keeps the pre-flight reference fixed, so adaptation in flight cannot silently normalise a deterioration. A single measurement is never a baseline. Personal baselines, clinical reference intervals and mission limits remain three separate layers, and a missing baseline is shown as missing.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Biomarkers are matched exactly, by catalogue name and original unit. Nothing is guessed or converted. Relationships between domains, such as sleep, fatigue and vigilance, are shown with their evidence level, and research-only links, such as microbiome and immunity, never become operational rules.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Nikolas' immune and behavioural handbooks entered the platform as 216 source records. Reconciled with the catalogue, they became 54 provisional proposals, each with its rationale, searchable in the Research Explorer. The owner reports a verbal scientific review, but no signed per-entry record exists yet, so all 54 remain unapproved and inactive.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claim traces back to a file, a hash or a ledger. Scientific sources keep byte-identical originals and recorded fingerprints. Evidence records carry submitter and reviewer snapshots. Validation, scientific review and submission ledgers are versioned in the repository, and automated verifiers check that they stay consistent.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keeps the cloud out of the sensor-to-astronaut path. In the browser sit the adapters, the canonical model and an encrypted local store. The cloud database, with forced row-level security and governed functions, is reached only through authorised synchronisation. The whole system is open source under the Apache 2.0 licence.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mission-scoped roles are enforced inside the database: Crew Self, Mission Operator, Ground Medical and Researcher. Separation of duties is explicit. A reviewer can never decide their own submission, there is no platform super-user, and a deactivated membership is refused on every new request.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Mission Operators create missions, register crews, issue one-time invitations and manage mission settings. Every action is written to an append-only audit log that operators can review, with sensitive fields redacted. New health records are accepted only while a mission is open.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Device integration is honest about what each browser can provide. The phone camera gives a pulse estimate, motion sensors give movement context, and Bluetooth heart-rate sensors work where the browser supports them. Unconnected sources stay disconnected; the platform never fabricates a reading. Native health platforms are defined as adapter contracts.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Live monitoring separates four questions: who is signed in, whether a device is connected, when the last physical sample arrived, and whether it was stored encrypted. Each card shows freshness and quality. If something is missing, the screen says so, instead of showing a reassuring number.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Offline first means every record is encrypted on the device before anything else happens. A store-and-forward queue synchronises later, only for a signed-in, authorised member, with idempotent writes and explicit conflict states. Nothing is silently overwritten while the crew is out of contact.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Laboratory evidence is reviewed in the browser. In Mission Documents and the Unified Data Intake, synthetic reports are parsed on the device, and only exact catalogue matches become candidates. A person checks each value, unit and date before anything is stored. Where enabled, reviewed synthetic batches can be submitted for independent research review. Original documents never leave the device.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ground, a Ground Medical reviewer opens the Ground Medical Workspace. A pending synthetic batch holds eight biomarker values, shown read-only with their units and source excerpts. That batch stays pending; we never decide it in a demonstration. After a tab switch, the batch is restored once authorisation is checked again. A mission switch or revoked access clears every private row.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Daily Health Companion supports the astronaut's day. Five mission environments provide context without changing interpretation. A short routine and optional reminders count participation, never health. A signed-in crew member sees only their own trends, with source, unit and data quality. Public visitors can open a clearly labelled synthetic example that is never stored.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private view must never outlive its authorisation. When a tab is hidden or the session changes, private data is hidden first, then access is checked again. Values return only for the same user and scope, and late responses are discarded. One limit remains: a page left continuously visible notices a revocation at the next interaction, while the database still blocks every new read.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Health intelligence explains; it never diagnoses. Six reviewed pattern definitions describe evidence requirements and guardrails. Confidence is broken down into completeness and data quality, not the probability of disease. Operational alerts are disabled, and protocol guidance offers review categories, while escalation stays a human decision.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platform can import public study metadata from NASA's Open Science Data Repository through a bounded server route. Every package is labelled research-only, with no link to any crew member, and the example study is animal research. This is real public research metadata, clearly separated from astronaut data, and it implies no NASA endorsement.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Privacy and governance are enforced where the data lives. Records are encrypted in the browser, evidence tables are reachable only through narrow functions, and audit rows never contain values. Researchers receive aggregate-only exports, suppressed below three crew or ten events. Every migration and publication requires explicit owner approval.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live demonstration takes fifteen to twenty minutes and needs no administrator access. The public path shows the Companion, live monitoring, the Research Explorer and the Ground Medical console before sign-in. With synthetic role accounts, evaluators see personal trends, the eight-value review with safe tab and mission switching, and an aggregate research export.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report engineering evidence as it is. On the release commit, the GitHub Quality workflow and the Security Scan both pass. The development environment reports 864 passing tests, and a separate database integration suite covers 305 assertions. The Medical v3 release gate stays blocked by design, until owner evidence for restore, risk acceptance and the official rules exists.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are equally clear about limits. MITOCHONDRIA is not clinically validated, not a medical device, not flight-qualified and not endorsed by NASA. Independent scientific approval, signed-in revocation tests, offline text recognition on a real device and two-account isolation tests remain open. Synthetic intake and research AI stay switched off in production.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we demonstrate will matter for future crews: a health loop that works without Earth, interprets each astronaut against their own history, explains its reasoning, and leaves decisions to qualified people. Because it is open and vendor-neutral, it can serve analogue missions, research teams and education.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MITOCHONDRIA. Healthy people, farther together. Try the live application at mitochondria.edocinfo.com, and review the open-source code on GitHub. Thank you from team The Mitochondria.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C_CONTENT">
    <p:bg>
      <p:bgPr>
        <a:solidFill>
          <a:srgbClr val="07121F"/>
        </a:solidFill>
        <a:effectLst/>
      </p:bgPr>
    </p:bg>
    <p:spTree>
      <p:nvGrpSpPr>
        <p:cNvPr id="1" name=""/>
        <p:cNvGrpSpPr/>
        <p:nvPr/>
      </p:nvGrpSpPr>
      <p:grpSpPr>
        <a:xfrm>
          <a:off x="0" y="0"/>
          <a:ext cx="0" cy="0"/>
          <a:chOff x="0" y="0"/>
          <a:chExt cx="0" cy="0"/>
        </a:xfrm>
      </p:grpSpPr>
      <p:sp>
        <p:nvSpPr>
          <p:cNvPr id="2" name="Text 0"/>
          <p:cNvSpPr/>
          <p:nvPr/>
        </p:nvSpPr>
        <p:spPr>
          <a:xfrm>
            <a:off x="548640" y="6446520"/>
            <a:ext cx="9875520" cy="274320"/>
          </a:xfrm>
          <a:prstGeom prst="rect">
            <a:avLst/>
          </a:prstGeom>
          <a:noFill/>
          <a:ln/>
        </p:spPr>
        <p:txBody>
          <a:bodyPr wrap="square" rtlCol="0" anchor="ctr"/>
          <a:lstStyle/>
          <a:p>
            <a:pPr marL="0" indent="0">
              <a:buNone/>
            </a:pPr>
            <a:r>
              <a:rPr lang="en-US" sz="900" dirty="0">
                <a:solidFill>
                  <a:srgbClr val="93A7BC"/>
                </a:solidFill>
              </a:rPr>
              <a:t>MITOCHONDRIA · NASA Space Apps Challenge 2026 · Research prototype — synthetic data only · not NASA-endorsed · not clinically validated</a:t>
            </a:r>
            <a:endParaRPr lang="en-US" sz="900" dirty="0"/>
          </a:p>
        </p:txBody>
      </p:sp>
      <p:sp>
        <p:nvSpPr>
          <p:cNvPr id="3" name="Text 1"/>
          <p:cNvSpPr>
            <a:spLocks noGrp="1"/>
          </p:cNvSpPr>
          <p:nvPr>
            <p:ph type="title" idx="101" hasCustomPrompt="1"/>
          </p:nvPr>
        </p:nvSpPr>
        <p:spPr>
          <a:xfrm>
            <a:off x="548640" y="566928"/>
            <a:ext cx="11064240" cy="777240"/>
          </a:xfrm>
          <a:prstGeom prst="rect">
            <a:avLst/>
          </a:prstGeom>
          <a:noFill/>
          <a:ln/>
        </p:spPr>
        <p:txBody>
          <a:bodyPr wrap="square" rtlCol="0"/>
          <a:lstStyle>
            <a:lvl1pPr marL="0" indent="0" algn="l">
              <a:buNone/>
              <a:defRPr lang="en-US" sz="2800" b="1" dirty="0">
                <a:solidFill>
                  <a:srgbClr val="E8EEF5"/>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C_COVER">
    <p:bg>
      <p:bgPr>
        <a:solidFill>
          <a:srgbClr val="07121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2.xml"/><Relationship Id="rId7" Type="http://schemas.openxmlformats.org/officeDocument/2006/relationships/image" Target="../media/image5.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2.png"/><Relationship Id="rId4" Type="http://schemas.openxmlformats.org/officeDocument/2006/relationships/notesSlide" Target="../notesSlides/notesSlide2.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2.xml"/><Relationship Id="rId7" Type="http://schemas.openxmlformats.org/officeDocument/2006/relationships/image" Target="../media/image11.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2.png"/><Relationship Id="rId4" Type="http://schemas.openxmlformats.org/officeDocument/2006/relationships/notesSlide" Target="../notesSlides/notesSlide6.xml"/><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2.xml"/><Relationship Id="rId7" Type="http://schemas.openxmlformats.org/officeDocument/2006/relationships/image" Target="../media/image16.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5.png"/><Relationship Id="rId5" Type="http://schemas.openxmlformats.org/officeDocument/2006/relationships/image" Target="../media/image6.png"/><Relationship Id="rId4" Type="http://schemas.openxmlformats.org/officeDocument/2006/relationships/notesSlide" Target="../notesSlides/notesSlide8.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2.png"/><Relationship Id="rId5" Type="http://schemas.openxmlformats.org/officeDocument/2006/relationships/image" Target="../media/image1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1.jpg"/><Relationship Id="rId5" Type="http://schemas.openxmlformats.org/officeDocument/2006/relationships/image" Target="../media/image2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24.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3.png"/><Relationship Id="rId5" Type="http://schemas.openxmlformats.org/officeDocument/2006/relationships/image" Target="../media/image25.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2.png"/><Relationship Id="rId5" Type="http://schemas.openxmlformats.org/officeDocument/2006/relationships/image" Target="../media/image29.jp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2.png"/><Relationship Id="rId5" Type="http://schemas.openxmlformats.org/officeDocument/2006/relationships/image" Target="../media/image30.jp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34.jpg"/><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6.jpg"/><Relationship Id="rId5" Type="http://schemas.openxmlformats.org/officeDocument/2006/relationships/image" Target="../media/image3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37.jpg"/><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3.png"/><Relationship Id="rId5" Type="http://schemas.openxmlformats.org/officeDocument/2006/relationships/image" Target="../media/image9.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33.png"/><Relationship Id="rId5" Type="http://schemas.openxmlformats.org/officeDocument/2006/relationships/image" Target="../media/image3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2.png"/><Relationship Id="rId5" Type="http://schemas.openxmlformats.org/officeDocument/2006/relationships/image" Target="../media/image39.jp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41.jpg"/><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5.png"/><Relationship Id="rId5" Type="http://schemas.openxmlformats.org/officeDocument/2006/relationships/image" Target="../media/image4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4.png"/><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8.png"/><Relationship Id="rId5" Type="http://schemas.openxmlformats.org/officeDocument/2006/relationships/image" Target="../media/image3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2.png"/><Relationship Id="rId5" Type="http://schemas.openxmlformats.org/officeDocument/2006/relationships/image" Target="../media/image42.jp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2.png"/><Relationship Id="rId5" Type="http://schemas.openxmlformats.org/officeDocument/2006/relationships/image" Target="../media/image1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2.xml"/><Relationship Id="rId7" Type="http://schemas.openxmlformats.org/officeDocument/2006/relationships/image" Target="../media/image18.png"/><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9.png"/><Relationship Id="rId11" Type="http://schemas.openxmlformats.org/officeDocument/2006/relationships/image" Target="../media/image2.png"/><Relationship Id="rId5" Type="http://schemas.openxmlformats.org/officeDocument/2006/relationships/image" Target="../media/image43.png"/><Relationship Id="rId10" Type="http://schemas.openxmlformats.org/officeDocument/2006/relationships/image" Target="../media/image35.png"/><Relationship Id="rId4" Type="http://schemas.openxmlformats.org/officeDocument/2006/relationships/notesSlide" Target="../notesSlides/notesSlide29.xml"/><Relationship Id="rId9" Type="http://schemas.openxmlformats.org/officeDocument/2006/relationships/image" Target="../media/image44.png"/></Relationships>
</file>

<file path=ppt/slides/_rels/slide3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45.jpg"/><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22.png"/><Relationship Id="rId5" Type="http://schemas.openxmlformats.org/officeDocument/2006/relationships/image" Target="../media/image43.png"/><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v2/repo/src/assets/astronaut-earthrise.jpg"/>
          <p:cNvPicPr>
            <a:picLocks noChangeAspect="1"/>
          </p:cNvPicPr>
          <p:nvPr/>
        </p:nvPicPr>
        <p:blipFill>
          <a:blip r:embed="rId5"/>
          <a:srcRect/>
          <a:stretch/>
        </p:blipFill>
        <p:spPr>
          <a:xfrm>
            <a:off x="0" y="0"/>
            <a:ext cx="12191695" cy="6858000"/>
          </a:xfrm>
          <a:prstGeom prst="rect">
            <a:avLst/>
          </a:prstGeom>
        </p:spPr>
      </p:pic>
      <p:sp>
        <p:nvSpPr>
          <p:cNvPr id="3" name="Shape 0"/>
          <p:cNvSpPr/>
          <p:nvPr/>
        </p:nvSpPr>
        <p:spPr>
          <a:xfrm>
            <a:off x="0" y="0"/>
            <a:ext cx="7589520" cy="6858000"/>
          </a:xfrm>
          <a:prstGeom prst="rect">
            <a:avLst/>
          </a:prstGeom>
          <a:solidFill>
            <a:srgbClr val="07121F">
              <a:alpha val="85000"/>
            </a:srgbClr>
          </a:solidFill>
          <a:ln w="12700">
            <a:solidFill>
              <a:srgbClr val="07121F">
                <a:alpha val="0"/>
              </a:srgbClr>
            </a:solidFill>
            <a:prstDash val="solid"/>
          </a:ln>
        </p:spPr>
        <p:txBody>
          <a:bodyPr/>
          <a:lstStyle/>
          <a:p>
            <a:endParaRPr lang="en-US"/>
          </a:p>
        </p:txBody>
      </p:sp>
      <p:sp>
        <p:nvSpPr>
          <p:cNvPr id="4" name="Text 1"/>
          <p:cNvSpPr txBox="1"/>
          <p:nvPr/>
        </p:nvSpPr>
        <p:spPr>
          <a:xfrm>
            <a:off x="640080" y="1051560"/>
            <a:ext cx="6766560" cy="365760"/>
          </a:xfrm>
          <a:prstGeom prst="rect">
            <a:avLst/>
          </a:prstGeom>
          <a:noFill/>
          <a:ln/>
        </p:spPr>
        <p:txBody>
          <a:bodyPr wrap="square" lIns="0" tIns="0" rIns="0" bIns="0" rtlCol="0" anchor="ctr"/>
          <a:lstStyle/>
          <a:p>
            <a:pPr marL="0" indent="0">
              <a:buNone/>
            </a:pPr>
            <a:r>
              <a:rPr lang="en-US" sz="1300" b="1" kern="0" spc="300" dirty="0">
                <a:solidFill>
                  <a:srgbClr val="19B5C9"/>
                </a:solidFill>
              </a:rPr>
              <a:t>NASA SPACE APPS CHALLENGE 2026</a:t>
            </a:r>
            <a:endParaRPr lang="en-US" sz="1300" dirty="0"/>
          </a:p>
        </p:txBody>
      </p:sp>
      <p:sp>
        <p:nvSpPr>
          <p:cNvPr id="5" name="Text 2"/>
          <p:cNvSpPr txBox="1"/>
          <p:nvPr/>
        </p:nvSpPr>
        <p:spPr>
          <a:xfrm>
            <a:off x="640080" y="1554480"/>
            <a:ext cx="6766560" cy="1005840"/>
          </a:xfrm>
          <a:prstGeom prst="rect">
            <a:avLst/>
          </a:prstGeom>
          <a:noFill/>
          <a:ln/>
        </p:spPr>
        <p:txBody>
          <a:bodyPr wrap="square" lIns="0" tIns="0" rIns="0" bIns="0" rtlCol="0" anchor="ctr"/>
          <a:lstStyle/>
          <a:p>
            <a:pPr marL="0" indent="0">
              <a:buNone/>
            </a:pPr>
            <a:r>
              <a:rPr lang="en-US" sz="6000" b="1" dirty="0">
                <a:solidFill>
                  <a:srgbClr val="FFFFFF"/>
                </a:solidFill>
              </a:rPr>
              <a:t>MITOCHONDRIA</a:t>
            </a:r>
            <a:endParaRPr lang="en-US" sz="6000" dirty="0"/>
          </a:p>
        </p:txBody>
      </p:sp>
      <p:sp>
        <p:nvSpPr>
          <p:cNvPr id="6" name="Text 3"/>
          <p:cNvSpPr txBox="1"/>
          <p:nvPr/>
        </p:nvSpPr>
        <p:spPr>
          <a:xfrm>
            <a:off x="640080" y="2560320"/>
            <a:ext cx="6766560" cy="548640"/>
          </a:xfrm>
          <a:prstGeom prst="rect">
            <a:avLst/>
          </a:prstGeom>
          <a:noFill/>
          <a:ln/>
        </p:spPr>
        <p:txBody>
          <a:bodyPr wrap="square" lIns="0" tIns="0" rIns="0" bIns="0" rtlCol="0" anchor="ctr"/>
          <a:lstStyle/>
          <a:p>
            <a:pPr marL="0" indent="0">
              <a:buNone/>
            </a:pPr>
            <a:r>
              <a:rPr lang="en-US" sz="2600" dirty="0">
                <a:solidFill>
                  <a:srgbClr val="E8EEF5"/>
                </a:solidFill>
              </a:rPr>
              <a:t>Astronaut Health Intelligence Platform</a:t>
            </a:r>
            <a:endParaRPr lang="en-US" sz="2600" dirty="0"/>
          </a:p>
        </p:txBody>
      </p:sp>
      <p:sp>
        <p:nvSpPr>
          <p:cNvPr id="7" name="Text 4"/>
          <p:cNvSpPr txBox="1"/>
          <p:nvPr/>
        </p:nvSpPr>
        <p:spPr>
          <a:xfrm>
            <a:off x="640080" y="3291840"/>
            <a:ext cx="6309360" cy="1005840"/>
          </a:xfrm>
          <a:prstGeom prst="rect">
            <a:avLst/>
          </a:prstGeom>
          <a:noFill/>
          <a:ln/>
        </p:spPr>
        <p:txBody>
          <a:bodyPr wrap="square" lIns="0" tIns="0" rIns="0" bIns="0" rtlCol="0" anchor="ctr"/>
          <a:lstStyle/>
          <a:p>
            <a:pPr marL="0" indent="0">
              <a:buNone/>
            </a:pPr>
            <a:r>
              <a:rPr lang="en-US" sz="1600" dirty="0">
                <a:solidFill>
                  <a:srgbClr val="93A7BC"/>
                </a:solidFill>
              </a:rPr>
              <a:t>An open-source research prototype that keeps the crew health loop working when Earth is far away — offline-first, explainable and human-supervised.</a:t>
            </a:r>
            <a:endParaRPr lang="en-US" sz="1600" dirty="0"/>
          </a:p>
        </p:txBody>
      </p:sp>
      <p:sp>
        <p:nvSpPr>
          <p:cNvPr id="8" name="Shape 5"/>
          <p:cNvSpPr/>
          <p:nvPr/>
        </p:nvSpPr>
        <p:spPr>
          <a:xfrm>
            <a:off x="640080" y="4480560"/>
            <a:ext cx="1920240" cy="310896"/>
          </a:xfrm>
          <a:prstGeom prst="roundRect">
            <a:avLst>
              <a:gd name="adj" fmla="val 50000"/>
            </a:avLst>
          </a:prstGeom>
          <a:solidFill>
            <a:srgbClr val="19B5C9">
              <a:alpha val="22000"/>
            </a:srgbClr>
          </a:solidFill>
          <a:ln w="12700">
            <a:solidFill>
              <a:srgbClr val="19B5C9"/>
            </a:solidFill>
            <a:prstDash val="solid"/>
          </a:ln>
        </p:spPr>
        <p:txBody>
          <a:bodyPr/>
          <a:lstStyle/>
          <a:p>
            <a:endParaRPr lang="en-US"/>
          </a:p>
        </p:txBody>
      </p:sp>
      <p:sp>
        <p:nvSpPr>
          <p:cNvPr id="9" name="Text 6"/>
          <p:cNvSpPr txBox="1"/>
          <p:nvPr/>
        </p:nvSpPr>
        <p:spPr>
          <a:xfrm>
            <a:off x="640080" y="4480560"/>
            <a:ext cx="1920240" cy="310896"/>
          </a:xfrm>
          <a:prstGeom prst="rect">
            <a:avLst/>
          </a:prstGeom>
          <a:noFill/>
          <a:ln/>
        </p:spPr>
        <p:txBody>
          <a:bodyPr wrap="square" lIns="0" tIns="0" rIns="0" bIns="0" rtlCol="0" anchor="ctr"/>
          <a:lstStyle/>
          <a:p>
            <a:pPr marL="0" indent="0" algn="ctr">
              <a:buNone/>
            </a:pPr>
            <a:r>
              <a:rPr lang="en-US" sz="1100" b="1" dirty="0">
                <a:solidFill>
                  <a:srgbClr val="19B5C9"/>
                </a:solidFill>
              </a:rPr>
              <a:t>OPEN SOURCE</a:t>
            </a:r>
            <a:endParaRPr lang="en-US" sz="1100" dirty="0"/>
          </a:p>
        </p:txBody>
      </p:sp>
      <p:sp>
        <p:nvSpPr>
          <p:cNvPr id="10" name="Shape 7"/>
          <p:cNvSpPr/>
          <p:nvPr/>
        </p:nvSpPr>
        <p:spPr>
          <a:xfrm>
            <a:off x="2697480" y="4480560"/>
            <a:ext cx="1920240" cy="310896"/>
          </a:xfrm>
          <a:prstGeom prst="roundRect">
            <a:avLst>
              <a:gd name="adj" fmla="val 50000"/>
            </a:avLst>
          </a:prstGeom>
          <a:solidFill>
            <a:srgbClr val="19B5C9">
              <a:alpha val="22000"/>
            </a:srgbClr>
          </a:solidFill>
          <a:ln w="12700">
            <a:solidFill>
              <a:srgbClr val="19B5C9"/>
            </a:solidFill>
            <a:prstDash val="solid"/>
          </a:ln>
        </p:spPr>
        <p:txBody>
          <a:bodyPr/>
          <a:lstStyle/>
          <a:p>
            <a:endParaRPr lang="en-US"/>
          </a:p>
        </p:txBody>
      </p:sp>
      <p:sp>
        <p:nvSpPr>
          <p:cNvPr id="11" name="Text 8"/>
          <p:cNvSpPr txBox="1"/>
          <p:nvPr/>
        </p:nvSpPr>
        <p:spPr>
          <a:xfrm>
            <a:off x="2697480" y="4480560"/>
            <a:ext cx="1920240" cy="310896"/>
          </a:xfrm>
          <a:prstGeom prst="rect">
            <a:avLst/>
          </a:prstGeom>
          <a:noFill/>
          <a:ln/>
        </p:spPr>
        <p:txBody>
          <a:bodyPr wrap="square" lIns="0" tIns="0" rIns="0" bIns="0" rtlCol="0" anchor="ctr"/>
          <a:lstStyle/>
          <a:p>
            <a:pPr marL="0" indent="0" algn="ctr">
              <a:buNone/>
            </a:pPr>
            <a:r>
              <a:rPr lang="en-US" sz="1100" b="1" dirty="0">
                <a:solidFill>
                  <a:srgbClr val="19B5C9"/>
                </a:solidFill>
              </a:rPr>
              <a:t>OFFLINE FIRST</a:t>
            </a:r>
            <a:endParaRPr lang="en-US" sz="1100" dirty="0"/>
          </a:p>
        </p:txBody>
      </p:sp>
      <p:sp>
        <p:nvSpPr>
          <p:cNvPr id="12" name="Shape 9"/>
          <p:cNvSpPr/>
          <p:nvPr/>
        </p:nvSpPr>
        <p:spPr>
          <a:xfrm>
            <a:off x="4754880" y="4480560"/>
            <a:ext cx="2377440" cy="310896"/>
          </a:xfrm>
          <a:prstGeom prst="roundRect">
            <a:avLst>
              <a:gd name="adj" fmla="val 50000"/>
            </a:avLst>
          </a:prstGeom>
          <a:solidFill>
            <a:srgbClr val="19B5C9">
              <a:alpha val="22000"/>
            </a:srgbClr>
          </a:solidFill>
          <a:ln w="12700">
            <a:solidFill>
              <a:srgbClr val="19B5C9"/>
            </a:solidFill>
            <a:prstDash val="solid"/>
          </a:ln>
        </p:spPr>
        <p:txBody>
          <a:bodyPr/>
          <a:lstStyle/>
          <a:p>
            <a:endParaRPr lang="en-US"/>
          </a:p>
        </p:txBody>
      </p:sp>
      <p:sp>
        <p:nvSpPr>
          <p:cNvPr id="13" name="Text 10"/>
          <p:cNvSpPr txBox="1"/>
          <p:nvPr/>
        </p:nvSpPr>
        <p:spPr>
          <a:xfrm>
            <a:off x="4754880" y="4480560"/>
            <a:ext cx="2377440" cy="310896"/>
          </a:xfrm>
          <a:prstGeom prst="rect">
            <a:avLst/>
          </a:prstGeom>
          <a:noFill/>
          <a:ln/>
        </p:spPr>
        <p:txBody>
          <a:bodyPr wrap="square" lIns="0" tIns="0" rIns="0" bIns="0" rtlCol="0" anchor="ctr"/>
          <a:lstStyle/>
          <a:p>
            <a:pPr marL="0" indent="0" algn="ctr">
              <a:buNone/>
            </a:pPr>
            <a:r>
              <a:rPr lang="en-US" sz="1100" b="1" dirty="0">
                <a:solidFill>
                  <a:srgbClr val="19B5C9"/>
                </a:solidFill>
              </a:rPr>
              <a:t>HUMAN OVERSIGHT</a:t>
            </a:r>
            <a:endParaRPr lang="en-US" sz="1100" dirty="0"/>
          </a:p>
        </p:txBody>
      </p:sp>
      <p:sp>
        <p:nvSpPr>
          <p:cNvPr id="14" name="Text 11"/>
          <p:cNvSpPr txBox="1"/>
          <p:nvPr/>
        </p:nvSpPr>
        <p:spPr>
          <a:xfrm>
            <a:off x="640080" y="4983480"/>
            <a:ext cx="6675120" cy="320040"/>
          </a:xfrm>
          <a:prstGeom prst="rect">
            <a:avLst/>
          </a:prstGeom>
          <a:noFill/>
          <a:ln/>
        </p:spPr>
        <p:txBody>
          <a:bodyPr wrap="square" lIns="0" tIns="0" rIns="0" bIns="0" rtlCol="0" anchor="ctr"/>
          <a:lstStyle/>
          <a:p>
            <a:pPr marL="0" indent="0">
              <a:buNone/>
            </a:pPr>
            <a:r>
              <a:rPr lang="en-US" sz="1400" b="1" dirty="0">
                <a:solidFill>
                  <a:srgbClr val="FFFFFF"/>
                </a:solidFill>
              </a:rPr>
              <a:t>https://mitochondria.edocinfo.com</a:t>
            </a:r>
            <a:endParaRPr lang="en-US" sz="1400" dirty="0"/>
          </a:p>
        </p:txBody>
      </p:sp>
      <p:sp>
        <p:nvSpPr>
          <p:cNvPr id="15" name="Text 12"/>
          <p:cNvSpPr txBox="1"/>
          <p:nvPr/>
        </p:nvSpPr>
        <p:spPr>
          <a:xfrm>
            <a:off x="640080" y="5577840"/>
            <a:ext cx="6766560" cy="320040"/>
          </a:xfrm>
          <a:prstGeom prst="rect">
            <a:avLst/>
          </a:prstGeom>
          <a:noFill/>
          <a:ln/>
        </p:spPr>
        <p:txBody>
          <a:bodyPr wrap="square" lIns="0" tIns="0" rIns="0" bIns="0" rtlCol="0" anchor="ctr"/>
          <a:lstStyle/>
          <a:p>
            <a:pPr marL="0" indent="0">
              <a:buNone/>
            </a:pPr>
            <a:r>
              <a:rPr lang="en-US" sz="1200" b="1" dirty="0">
                <a:solidFill>
                  <a:srgbClr val="F2A93B"/>
                </a:solidFill>
              </a:rPr>
              <a:t>Research prototype · synthetic data · not NASA-endorsed · not clinically validated</a:t>
            </a:r>
            <a:endParaRPr lang="en-US" sz="1200" dirty="0"/>
          </a:p>
        </p:txBody>
      </p:sp>
      <p:sp>
        <p:nvSpPr>
          <p:cNvPr id="16" name="Text 13"/>
          <p:cNvSpPr txBox="1"/>
          <p:nvPr/>
        </p:nvSpPr>
        <p:spPr>
          <a:xfrm>
            <a:off x="640080" y="5943600"/>
            <a:ext cx="6766560" cy="274320"/>
          </a:xfrm>
          <a:prstGeom prst="rect">
            <a:avLst/>
          </a:prstGeom>
          <a:noFill/>
          <a:ln/>
        </p:spPr>
        <p:txBody>
          <a:bodyPr wrap="square" lIns="0" tIns="0" rIns="0" bIns="0" rtlCol="0" anchor="ctr"/>
          <a:lstStyle/>
          <a:p>
            <a:pPr marL="0" indent="0">
              <a:buNone/>
            </a:pPr>
            <a:r>
              <a:rPr lang="en-US" sz="1000" dirty="0">
                <a:solidFill>
                  <a:srgbClr val="93A7BC"/>
                </a:solidFill>
              </a:rPr>
              <a:t>Final Competition Edition · 14 November 2026 · Background: illustrative artwork from the project site</a:t>
            </a:r>
            <a:endParaRPr lang="en-US" sz="1000" dirty="0"/>
          </a:p>
        </p:txBody>
      </p:sp>
      <p:pic>
        <p:nvPicPr>
          <p:cNvPr id="17" name="narration01">
            <a:hlinkClick r:id="" action="ppaction://media"/>
            <a:extLst>
              <a:ext uri="{FF2B5EF4-FFF2-40B4-BE49-F238E27FC236}">
                <a16:creationId xmlns:a16="http://schemas.microsoft.com/office/drawing/2014/main" id="{FCC7F48D-1EE7-BD5A-C978-33776D60517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765925" y="381317"/>
            <a:ext cx="487363" cy="487363"/>
          </a:xfrm>
          <a:prstGeom prst="rect">
            <a:avLst/>
          </a:prstGeom>
        </p:spPr>
      </p:pic>
    </p:spTree>
  </p:cSld>
  <p:clrMapOvr>
    <a:masterClrMapping/>
  </p:clrMapOvr>
  <p:transition spd="slow" advClick="0" advTm="30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309"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Spaceflight stresses the body on five interacting fronts</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THE ASTRONAUT HEALTH MONITORING CHALLENGE</a:t>
            </a:r>
            <a:endParaRPr lang="en-US" sz="1100" dirty="0"/>
          </a:p>
        </p:txBody>
      </p:sp>
      <p:sp>
        <p:nvSpPr>
          <p:cNvPr id="4" name="card"/>
          <p:cNvSpPr/>
          <p:nvPr/>
        </p:nvSpPr>
        <p:spPr>
          <a:xfrm>
            <a:off x="548640" y="1737360"/>
            <a:ext cx="2103120" cy="35661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Space radiation</a:t>
            </a:r>
            <a:endParaRPr lang="en-US" sz="1600" dirty="0"/>
          </a:p>
        </p:txBody>
      </p:sp>
      <p:sp>
        <p:nvSpPr>
          <p:cNvPr id="7" name="Text 4"/>
          <p:cNvSpPr txBox="1"/>
          <p:nvPr/>
        </p:nvSpPr>
        <p:spPr>
          <a:xfrm>
            <a:off x="749808" y="2450592"/>
            <a:ext cx="1737360" cy="2743200"/>
          </a:xfrm>
          <a:prstGeom prst="rect">
            <a:avLst/>
          </a:prstGeom>
          <a:noFill/>
          <a:ln/>
        </p:spPr>
        <p:txBody>
          <a:bodyPr wrap="square" lIns="0" tIns="0" rIns="0" bIns="0" rtlCol="0" anchor="t"/>
          <a:lstStyle/>
          <a:p>
            <a:pPr marL="0" indent="0">
              <a:buNone/>
            </a:pPr>
            <a:r>
              <a:rPr lang="en-US" sz="1600" dirty="0">
                <a:solidFill>
                  <a:srgbClr val="E8EEF5"/>
                </a:solidFill>
              </a:rPr>
              <a:t>Dose and dose rate kept as separate quantities</a:t>
            </a:r>
            <a:endParaRPr lang="en-US" sz="1600" dirty="0"/>
          </a:p>
        </p:txBody>
      </p:sp>
      <p:sp>
        <p:nvSpPr>
          <p:cNvPr id="8" name="card"/>
          <p:cNvSpPr/>
          <p:nvPr/>
        </p:nvSpPr>
        <p:spPr>
          <a:xfrm>
            <a:off x="2798064" y="1737360"/>
            <a:ext cx="2103120" cy="35661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2999232" y="1938528"/>
            <a:ext cx="384048" cy="384048"/>
          </a:xfrm>
          <a:prstGeom prst="rect">
            <a:avLst/>
          </a:prstGeom>
        </p:spPr>
      </p:pic>
      <p:sp>
        <p:nvSpPr>
          <p:cNvPr id="10" name="Text 6"/>
          <p:cNvSpPr txBox="1"/>
          <p:nvPr/>
        </p:nvSpPr>
        <p:spPr>
          <a:xfrm>
            <a:off x="3511296"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Isolation &amp; confinement</a:t>
            </a:r>
            <a:endParaRPr lang="en-US" sz="1600" dirty="0"/>
          </a:p>
        </p:txBody>
      </p:sp>
      <p:sp>
        <p:nvSpPr>
          <p:cNvPr id="11" name="Text 7"/>
          <p:cNvSpPr txBox="1"/>
          <p:nvPr/>
        </p:nvSpPr>
        <p:spPr>
          <a:xfrm>
            <a:off x="2999232" y="2450592"/>
            <a:ext cx="1737360" cy="2743200"/>
          </a:xfrm>
          <a:prstGeom prst="rect">
            <a:avLst/>
          </a:prstGeom>
          <a:noFill/>
          <a:ln/>
        </p:spPr>
        <p:txBody>
          <a:bodyPr wrap="square" lIns="0" tIns="0" rIns="0" bIns="0" rtlCol="0" anchor="t"/>
          <a:lstStyle/>
          <a:p>
            <a:pPr marL="0" indent="0">
              <a:buNone/>
            </a:pPr>
            <a:r>
              <a:rPr lang="en-US" sz="1600" dirty="0">
                <a:solidFill>
                  <a:srgbClr val="E8EEF5"/>
                </a:solidFill>
              </a:rPr>
              <a:t>Fatigue, sleepiness, stress and workload as private context</a:t>
            </a:r>
            <a:endParaRPr lang="en-US" sz="1600" dirty="0"/>
          </a:p>
        </p:txBody>
      </p:sp>
      <p:sp>
        <p:nvSpPr>
          <p:cNvPr id="12" name="card"/>
          <p:cNvSpPr/>
          <p:nvPr/>
        </p:nvSpPr>
        <p:spPr>
          <a:xfrm>
            <a:off x="5047488" y="1737360"/>
            <a:ext cx="2103120" cy="35661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13" name="Image 2" descr="preencoded.png"/>
          <p:cNvPicPr>
            <a:picLocks noChangeAspect="1"/>
          </p:cNvPicPr>
          <p:nvPr/>
        </p:nvPicPr>
        <p:blipFill>
          <a:blip r:embed="rId7"/>
          <a:stretch>
            <a:fillRect/>
          </a:stretch>
        </p:blipFill>
        <p:spPr>
          <a:xfrm>
            <a:off x="5248656" y="1938528"/>
            <a:ext cx="384048" cy="384048"/>
          </a:xfrm>
          <a:prstGeom prst="rect">
            <a:avLst/>
          </a:prstGeom>
        </p:spPr>
      </p:pic>
      <p:sp>
        <p:nvSpPr>
          <p:cNvPr id="14" name="Text 9"/>
          <p:cNvSpPr txBox="1"/>
          <p:nvPr/>
        </p:nvSpPr>
        <p:spPr>
          <a:xfrm>
            <a:off x="5760720"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Distance from Earth</a:t>
            </a:r>
            <a:endParaRPr lang="en-US" sz="1600" dirty="0"/>
          </a:p>
        </p:txBody>
      </p:sp>
      <p:sp>
        <p:nvSpPr>
          <p:cNvPr id="15" name="Text 10"/>
          <p:cNvSpPr txBox="1"/>
          <p:nvPr/>
        </p:nvSpPr>
        <p:spPr>
          <a:xfrm>
            <a:off x="5248656" y="2450592"/>
            <a:ext cx="1737360" cy="2743200"/>
          </a:xfrm>
          <a:prstGeom prst="rect">
            <a:avLst/>
          </a:prstGeom>
          <a:noFill/>
          <a:ln/>
        </p:spPr>
        <p:txBody>
          <a:bodyPr wrap="square" lIns="0" tIns="0" rIns="0" bIns="0" rtlCol="0" anchor="t"/>
          <a:lstStyle/>
          <a:p>
            <a:pPr marL="0" indent="0">
              <a:buNone/>
            </a:pPr>
            <a:r>
              <a:rPr lang="en-US" sz="1600" dirty="0">
                <a:solidFill>
                  <a:srgbClr val="E8EEF5"/>
                </a:solidFill>
              </a:rPr>
              <a:t>Delayed or absent ground support</a:t>
            </a:r>
            <a:endParaRPr lang="en-US" sz="1600" dirty="0"/>
          </a:p>
        </p:txBody>
      </p:sp>
      <p:sp>
        <p:nvSpPr>
          <p:cNvPr id="16" name="card"/>
          <p:cNvSpPr/>
          <p:nvPr/>
        </p:nvSpPr>
        <p:spPr>
          <a:xfrm>
            <a:off x="7296912" y="1737360"/>
            <a:ext cx="2103120" cy="35661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17" name="Image 3" descr="preencoded.png"/>
          <p:cNvPicPr>
            <a:picLocks noChangeAspect="1"/>
          </p:cNvPicPr>
          <p:nvPr/>
        </p:nvPicPr>
        <p:blipFill>
          <a:blip r:embed="rId8"/>
          <a:stretch>
            <a:fillRect/>
          </a:stretch>
        </p:blipFill>
        <p:spPr>
          <a:xfrm>
            <a:off x="7498080" y="1938528"/>
            <a:ext cx="384048" cy="384048"/>
          </a:xfrm>
          <a:prstGeom prst="rect">
            <a:avLst/>
          </a:prstGeom>
        </p:spPr>
      </p:pic>
      <p:sp>
        <p:nvSpPr>
          <p:cNvPr id="18" name="Text 12"/>
          <p:cNvSpPr txBox="1"/>
          <p:nvPr/>
        </p:nvSpPr>
        <p:spPr>
          <a:xfrm>
            <a:off x="8010144"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Altered gravity</a:t>
            </a:r>
            <a:endParaRPr lang="en-US" sz="1600" dirty="0"/>
          </a:p>
        </p:txBody>
      </p:sp>
      <p:sp>
        <p:nvSpPr>
          <p:cNvPr id="19" name="Text 13"/>
          <p:cNvSpPr txBox="1"/>
          <p:nvPr/>
        </p:nvSpPr>
        <p:spPr>
          <a:xfrm>
            <a:off x="7498080" y="2450592"/>
            <a:ext cx="1737360" cy="2743200"/>
          </a:xfrm>
          <a:prstGeom prst="rect">
            <a:avLst/>
          </a:prstGeom>
          <a:noFill/>
          <a:ln/>
        </p:spPr>
        <p:txBody>
          <a:bodyPr wrap="square" lIns="0" tIns="0" rIns="0" bIns="0" rtlCol="0" anchor="t"/>
          <a:lstStyle/>
          <a:p>
            <a:pPr marL="0" indent="0">
              <a:buNone/>
            </a:pPr>
            <a:r>
              <a:rPr lang="en-US" sz="1600" dirty="0">
                <a:solidFill>
                  <a:srgbClr val="E8EEF5"/>
                </a:solidFill>
              </a:rPr>
              <a:t>Bone, muscle and cardiovascular adaptation</a:t>
            </a:r>
            <a:endParaRPr lang="en-US" sz="1600" dirty="0"/>
          </a:p>
        </p:txBody>
      </p:sp>
      <p:sp>
        <p:nvSpPr>
          <p:cNvPr id="20" name="card"/>
          <p:cNvSpPr/>
          <p:nvPr/>
        </p:nvSpPr>
        <p:spPr>
          <a:xfrm>
            <a:off x="9546336" y="1737360"/>
            <a:ext cx="2103120" cy="35661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21" name="Image 4" descr="preencoded.png"/>
          <p:cNvPicPr>
            <a:picLocks noChangeAspect="1"/>
          </p:cNvPicPr>
          <p:nvPr/>
        </p:nvPicPr>
        <p:blipFill>
          <a:blip r:embed="rId9"/>
          <a:stretch>
            <a:fillRect/>
          </a:stretch>
        </p:blipFill>
        <p:spPr>
          <a:xfrm>
            <a:off x="9747504" y="1938528"/>
            <a:ext cx="384048" cy="384048"/>
          </a:xfrm>
          <a:prstGeom prst="rect">
            <a:avLst/>
          </a:prstGeom>
        </p:spPr>
      </p:pic>
      <p:sp>
        <p:nvSpPr>
          <p:cNvPr id="22" name="Text 15"/>
          <p:cNvSpPr txBox="1"/>
          <p:nvPr/>
        </p:nvSpPr>
        <p:spPr>
          <a:xfrm>
            <a:off x="10259568"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Closed environment</a:t>
            </a:r>
            <a:endParaRPr lang="en-US" sz="1600" dirty="0"/>
          </a:p>
        </p:txBody>
      </p:sp>
      <p:sp>
        <p:nvSpPr>
          <p:cNvPr id="23" name="Text 16"/>
          <p:cNvSpPr txBox="1"/>
          <p:nvPr/>
        </p:nvSpPr>
        <p:spPr>
          <a:xfrm>
            <a:off x="9747504" y="2450592"/>
            <a:ext cx="1737360" cy="2743200"/>
          </a:xfrm>
          <a:prstGeom prst="rect">
            <a:avLst/>
          </a:prstGeom>
          <a:noFill/>
          <a:ln/>
        </p:spPr>
        <p:txBody>
          <a:bodyPr wrap="square" lIns="0" tIns="0" rIns="0" bIns="0" rtlCol="0" anchor="t"/>
          <a:lstStyle/>
          <a:p>
            <a:pPr marL="0" indent="0">
              <a:buNone/>
            </a:pPr>
            <a:r>
              <a:rPr lang="en-US" sz="1600" dirty="0">
                <a:solidFill>
                  <a:srgbClr val="E8EEF5"/>
                </a:solidFill>
              </a:rPr>
              <a:t>CO₂, O₂, pressure, temperature, noise, light</a:t>
            </a:r>
            <a:endParaRPr lang="en-US" sz="1600" dirty="0"/>
          </a:p>
        </p:txBody>
      </p:sp>
      <p:sp>
        <p:nvSpPr>
          <p:cNvPr id="24" name="Text 17"/>
          <p:cNvSpPr txBox="1"/>
          <p:nvPr/>
        </p:nvSpPr>
        <p:spPr>
          <a:xfrm>
            <a:off x="548640" y="5532120"/>
            <a:ext cx="11064240" cy="411480"/>
          </a:xfrm>
          <a:prstGeom prst="rect">
            <a:avLst/>
          </a:prstGeom>
          <a:noFill/>
          <a:ln/>
        </p:spPr>
        <p:txBody>
          <a:bodyPr wrap="square" lIns="0" tIns="0" rIns="0" bIns="0" rtlCol="0" anchor="ctr"/>
          <a:lstStyle/>
          <a:p>
            <a:pPr marL="0" indent="0">
              <a:buNone/>
            </a:pPr>
            <a:r>
              <a:rPr lang="en-US" sz="1600" i="1" dirty="0">
                <a:solidFill>
                  <a:srgbClr val="19B5C9"/>
                </a:solidFill>
              </a:rPr>
              <a:t>The challenge: gather health indicators so crews can evaluate and act — far from Earth.</a:t>
            </a:r>
            <a:endParaRPr lang="en-US" sz="1600" dirty="0"/>
          </a:p>
        </p:txBody>
      </p:sp>
      <p:sp>
        <p:nvSpPr>
          <p:cNvPr id="25" name="Text 18"/>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NASA Human Research Program — hazards of human spaceflight; NASA Space Apps Challenge 2026</a:t>
            </a:r>
            <a:endParaRPr lang="en-US" sz="1000" dirty="0"/>
          </a:p>
        </p:txBody>
      </p:sp>
      <p:sp>
        <p:nvSpPr>
          <p:cNvPr id="26"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a:t>
            </a:fld>
            <a:endParaRPr lang="en-US"/>
          </a:p>
        </p:txBody>
      </p:sp>
      <p:pic>
        <p:nvPicPr>
          <p:cNvPr id="27" name="narration02">
            <a:hlinkClick r:id="" action="ppaction://media"/>
            <a:extLst>
              <a:ext uri="{FF2B5EF4-FFF2-40B4-BE49-F238E27FC236}">
                <a16:creationId xmlns:a16="http://schemas.microsoft.com/office/drawing/2014/main" id="{FBD46D7E-2CB2-EEE7-3112-90B04030BE31}"/>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9503822" y="501555"/>
            <a:ext cx="487363" cy="487363"/>
          </a:xfrm>
          <a:prstGeom prst="rect">
            <a:avLst/>
          </a:prstGeom>
        </p:spPr>
      </p:pic>
    </p:spTree>
  </p:cSld>
  <p:clrMapOvr>
    <a:masterClrMapping/>
  </p:clrMapOvr>
  <p:transition spd="slow" advClick="0" advTm="257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50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Distance turns health monitoring into an autonomy problem</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WHY THE PROBLEM MATTERS</a:t>
            </a:r>
            <a:endParaRPr lang="en-US" sz="1100" dirty="0"/>
          </a:p>
        </p:txBody>
      </p:sp>
      <p:sp>
        <p:nvSpPr>
          <p:cNvPr id="4" name="card"/>
          <p:cNvSpPr/>
          <p:nvPr/>
        </p:nvSpPr>
        <p:spPr>
          <a:xfrm>
            <a:off x="548640" y="1737360"/>
            <a:ext cx="5486400" cy="4023360"/>
          </a:xfrm>
          <a:prstGeom prst="roundRect">
            <a:avLst>
              <a:gd name="adj" fmla="val 1818"/>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4636008" cy="457200"/>
          </a:xfrm>
          <a:prstGeom prst="rect">
            <a:avLst/>
          </a:prstGeom>
          <a:noFill/>
          <a:ln/>
        </p:spPr>
        <p:txBody>
          <a:bodyPr wrap="square" lIns="0" tIns="0" rIns="0" bIns="0" rtlCol="0" anchor="ctr"/>
          <a:lstStyle/>
          <a:p>
            <a:pPr marL="0" indent="0">
              <a:buNone/>
            </a:pPr>
            <a:r>
              <a:rPr lang="en-US" sz="1600" b="1" dirty="0">
                <a:solidFill>
                  <a:srgbClr val="E8EEF5"/>
                </a:solidFill>
              </a:rPr>
              <a:t>Mission constraints → design</a:t>
            </a:r>
            <a:endParaRPr lang="en-US" sz="1600" dirty="0"/>
          </a:p>
        </p:txBody>
      </p:sp>
      <p:sp>
        <p:nvSpPr>
          <p:cNvPr id="7" name="Text 4"/>
          <p:cNvSpPr txBox="1"/>
          <p:nvPr/>
        </p:nvSpPr>
        <p:spPr>
          <a:xfrm>
            <a:off x="749808" y="2450592"/>
            <a:ext cx="5120640" cy="32004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8EEF5"/>
                </a:solidFill>
              </a:rPr>
              <a:t>Distance → local monitoring and protocol access</a:t>
            </a:r>
            <a:endParaRPr lang="en-US" sz="1500" dirty="0"/>
          </a:p>
          <a:p>
            <a:pPr marL="342900" indent="-342900">
              <a:spcAft>
                <a:spcPts val="400"/>
              </a:spcAft>
              <a:buSzPct val="100000"/>
              <a:buChar char="▪"/>
            </a:pPr>
            <a:r>
              <a:rPr lang="en-US" sz="1500" dirty="0">
                <a:solidFill>
                  <a:srgbClr val="E8EEF5"/>
                </a:solidFill>
              </a:rPr>
              <a:t>Intermittent links → store-and-forward with idempotency</a:t>
            </a:r>
            <a:endParaRPr lang="en-US" sz="1500" dirty="0"/>
          </a:p>
          <a:p>
            <a:pPr marL="342900" indent="-342900">
              <a:spcAft>
                <a:spcPts val="400"/>
              </a:spcAft>
              <a:buSzPct val="100000"/>
              <a:buChar char="▪"/>
            </a:pPr>
            <a:r>
              <a:rPr lang="en-US" sz="1500" dirty="0">
                <a:solidFill>
                  <a:srgbClr val="E8EEF5"/>
                </a:solidFill>
              </a:rPr>
              <a:t>Many devices → adapter contract + canonical model</a:t>
            </a:r>
            <a:endParaRPr lang="en-US" sz="1500" dirty="0"/>
          </a:p>
          <a:p>
            <a:pPr marL="342900" indent="-342900">
              <a:spcAft>
                <a:spcPts val="400"/>
              </a:spcAft>
              <a:buSzPct val="100000"/>
              <a:buChar char="▪"/>
            </a:pPr>
            <a:r>
              <a:rPr lang="en-US" sz="1500" dirty="0">
                <a:solidFill>
                  <a:srgbClr val="E8EEF5"/>
                </a:solidFill>
              </a:rPr>
              <a:t>Artifacts → quality states, no silent imputation</a:t>
            </a:r>
            <a:endParaRPr lang="en-US" sz="1500" dirty="0"/>
          </a:p>
          <a:p>
            <a:pPr marL="342900" indent="-342900">
              <a:spcAft>
                <a:spcPts val="400"/>
              </a:spcAft>
              <a:buSzPct val="100000"/>
              <a:buChar char="▪"/>
            </a:pPr>
            <a:r>
              <a:rPr lang="en-US" sz="1500" dirty="0">
                <a:solidFill>
                  <a:srgbClr val="E8EEF5"/>
                </a:solidFill>
              </a:rPr>
              <a:t>Adaptation → personal, phase-aware baselines</a:t>
            </a:r>
            <a:endParaRPr lang="en-US" sz="1500" dirty="0"/>
          </a:p>
          <a:p>
            <a:pPr marL="342900" indent="-342900">
              <a:spcAft>
                <a:spcPts val="400"/>
              </a:spcAft>
              <a:buSzPct val="100000"/>
              <a:buChar char="▪"/>
            </a:pPr>
            <a:r>
              <a:rPr lang="en-US" sz="1500" dirty="0">
                <a:solidFill>
                  <a:srgbClr val="E8EEF5"/>
                </a:solidFill>
              </a:rPr>
              <a:t>High stakes → explainability, audit, human authority</a:t>
            </a:r>
            <a:endParaRPr lang="en-US" sz="1500" dirty="0"/>
          </a:p>
        </p:txBody>
      </p:sp>
      <p:sp>
        <p:nvSpPr>
          <p:cNvPr id="8" name="card"/>
          <p:cNvSpPr/>
          <p:nvPr/>
        </p:nvSpPr>
        <p:spPr>
          <a:xfrm>
            <a:off x="6309360" y="1737360"/>
            <a:ext cx="530352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9" name="Text 6"/>
          <p:cNvSpPr txBox="1"/>
          <p:nvPr/>
        </p:nvSpPr>
        <p:spPr>
          <a:xfrm>
            <a:off x="6510528" y="1901952"/>
            <a:ext cx="4965192" cy="457200"/>
          </a:xfrm>
          <a:prstGeom prst="rect">
            <a:avLst/>
          </a:prstGeom>
          <a:noFill/>
          <a:ln/>
        </p:spPr>
        <p:txBody>
          <a:bodyPr wrap="square" lIns="0" tIns="0" rIns="0" bIns="0" rtlCol="0" anchor="ctr"/>
          <a:lstStyle/>
          <a:p>
            <a:pPr marL="0" indent="0">
              <a:buNone/>
            </a:pPr>
            <a:r>
              <a:rPr lang="en-US" sz="2200" b="1" dirty="0">
                <a:solidFill>
                  <a:srgbClr val="F2A93B"/>
                </a:solidFill>
              </a:rPr>
              <a:t>Delayed / absent ground link</a:t>
            </a:r>
            <a:endParaRPr lang="en-US" sz="2200" dirty="0"/>
          </a:p>
        </p:txBody>
      </p:sp>
      <p:sp>
        <p:nvSpPr>
          <p:cNvPr id="10" name="Text 7"/>
          <p:cNvSpPr txBox="1"/>
          <p:nvPr/>
        </p:nvSpPr>
        <p:spPr>
          <a:xfrm>
            <a:off x="6510528" y="2450592"/>
            <a:ext cx="4937760" cy="411480"/>
          </a:xfrm>
          <a:prstGeom prst="rect">
            <a:avLst/>
          </a:prstGeom>
          <a:noFill/>
          <a:ln/>
        </p:spPr>
        <p:txBody>
          <a:bodyPr wrap="square" lIns="0" tIns="0" rIns="0" bIns="0" rtlCol="0" anchor="t"/>
          <a:lstStyle/>
          <a:p>
            <a:pPr marL="0" indent="0">
              <a:buNone/>
            </a:pPr>
            <a:r>
              <a:rPr lang="en-US" sz="1400" dirty="0">
                <a:solidFill>
                  <a:srgbClr val="E8EEF5"/>
                </a:solidFill>
              </a:rPr>
              <a:t>Real-time ground medicine cannot be assumed</a:t>
            </a:r>
            <a:endParaRPr lang="en-US" sz="1400" dirty="0"/>
          </a:p>
        </p:txBody>
      </p:sp>
      <p:sp>
        <p:nvSpPr>
          <p:cNvPr id="11" name="card"/>
          <p:cNvSpPr/>
          <p:nvPr/>
        </p:nvSpPr>
        <p:spPr>
          <a:xfrm>
            <a:off x="6309360" y="3108960"/>
            <a:ext cx="530352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12" name="Text 9"/>
          <p:cNvSpPr txBox="1"/>
          <p:nvPr/>
        </p:nvSpPr>
        <p:spPr>
          <a:xfrm>
            <a:off x="6510528" y="3273552"/>
            <a:ext cx="4965192" cy="457200"/>
          </a:xfrm>
          <a:prstGeom prst="rect">
            <a:avLst/>
          </a:prstGeom>
          <a:noFill/>
          <a:ln/>
        </p:spPr>
        <p:txBody>
          <a:bodyPr wrap="square" lIns="0" tIns="0" rIns="0" bIns="0" rtlCol="0" anchor="ctr"/>
          <a:lstStyle/>
          <a:p>
            <a:pPr marL="0" indent="0">
              <a:buNone/>
            </a:pPr>
            <a:r>
              <a:rPr lang="en-US" sz="2200" b="1" dirty="0">
                <a:solidFill>
                  <a:srgbClr val="3CB371"/>
                </a:solidFill>
              </a:rPr>
              <a:t>≈ 98 ms median, 0 backend calls</a:t>
            </a:r>
            <a:endParaRPr lang="en-US" sz="2200" dirty="0"/>
          </a:p>
        </p:txBody>
      </p:sp>
      <p:sp>
        <p:nvSpPr>
          <p:cNvPr id="13" name="Text 10"/>
          <p:cNvSpPr txBox="1"/>
          <p:nvPr/>
        </p:nvSpPr>
        <p:spPr>
          <a:xfrm>
            <a:off x="6510528" y="3822192"/>
            <a:ext cx="4937760" cy="411480"/>
          </a:xfrm>
          <a:prstGeom prst="rect">
            <a:avLst/>
          </a:prstGeom>
          <a:noFill/>
          <a:ln/>
        </p:spPr>
        <p:txBody>
          <a:bodyPr wrap="square" lIns="0" tIns="0" rIns="0" bIns="0" rtlCol="0" anchor="t"/>
          <a:lstStyle/>
          <a:p>
            <a:pPr marL="0" indent="0">
              <a:buNone/>
            </a:pPr>
            <a:r>
              <a:rPr lang="en-US" sz="1400" dirty="0">
                <a:solidFill>
                  <a:srgbClr val="E8EEF5"/>
                </a:solidFill>
              </a:rPr>
              <a:t>Local action → visible update (validation ledger, self-check path)</a:t>
            </a:r>
            <a:endParaRPr lang="en-US" sz="1400" dirty="0"/>
          </a:p>
        </p:txBody>
      </p:sp>
      <p:sp>
        <p:nvSpPr>
          <p:cNvPr id="14" name="card"/>
          <p:cNvSpPr/>
          <p:nvPr/>
        </p:nvSpPr>
        <p:spPr>
          <a:xfrm>
            <a:off x="6309360" y="4480560"/>
            <a:ext cx="5303520" cy="1280160"/>
          </a:xfrm>
          <a:prstGeom prst="roundRect">
            <a:avLst>
              <a:gd name="adj" fmla="val 5714"/>
            </a:avLst>
          </a:prstGeom>
          <a:solidFill>
            <a:srgbClr val="0F2236"/>
          </a:solidFill>
          <a:ln w="12700">
            <a:solidFill>
              <a:srgbClr val="24496B"/>
            </a:solidFill>
            <a:prstDash val="solid"/>
          </a:ln>
        </p:spPr>
        <p:txBody>
          <a:bodyPr/>
          <a:lstStyle/>
          <a:p>
            <a:endParaRPr lang="en-US"/>
          </a:p>
        </p:txBody>
      </p:sp>
      <p:sp>
        <p:nvSpPr>
          <p:cNvPr id="15" name="Text 12"/>
          <p:cNvSpPr txBox="1"/>
          <p:nvPr/>
        </p:nvSpPr>
        <p:spPr>
          <a:xfrm>
            <a:off x="6510528" y="4645152"/>
            <a:ext cx="4965192" cy="457200"/>
          </a:xfrm>
          <a:prstGeom prst="rect">
            <a:avLst/>
          </a:prstGeom>
          <a:noFill/>
          <a:ln/>
        </p:spPr>
        <p:txBody>
          <a:bodyPr wrap="square" lIns="0" tIns="0" rIns="0" bIns="0" rtlCol="0" anchor="ctr"/>
          <a:lstStyle/>
          <a:p>
            <a:pPr marL="0" indent="0">
              <a:buNone/>
            </a:pPr>
            <a:r>
              <a:rPr lang="en-US" sz="2200" b="1" dirty="0">
                <a:solidFill>
                  <a:srgbClr val="E8EEF5"/>
                </a:solidFill>
              </a:rPr>
              <a:t>Encrypt first, sync later</a:t>
            </a:r>
            <a:endParaRPr lang="en-US" sz="2200" dirty="0"/>
          </a:p>
        </p:txBody>
      </p:sp>
      <p:sp>
        <p:nvSpPr>
          <p:cNvPr id="16" name="Text 13"/>
          <p:cNvSpPr txBox="1"/>
          <p:nvPr/>
        </p:nvSpPr>
        <p:spPr>
          <a:xfrm>
            <a:off x="6510528" y="5193792"/>
            <a:ext cx="4937760" cy="457200"/>
          </a:xfrm>
          <a:prstGeom prst="rect">
            <a:avLst/>
          </a:prstGeom>
          <a:noFill/>
          <a:ln/>
        </p:spPr>
        <p:txBody>
          <a:bodyPr wrap="square" lIns="0" tIns="0" rIns="0" bIns="0" rtlCol="0" anchor="t"/>
          <a:lstStyle/>
          <a:p>
            <a:pPr marL="0" indent="0">
              <a:buNone/>
            </a:pPr>
            <a:r>
              <a:rPr lang="en-US" sz="1400" dirty="0">
                <a:solidFill>
                  <a:srgbClr val="E8EEF5"/>
                </a:solidFill>
              </a:rPr>
              <a:t>AES-GCM local store; authorised synchronisation</a:t>
            </a:r>
            <a:endParaRPr lang="en-US" sz="1400" dirty="0"/>
          </a:p>
        </p:txBody>
      </p:sp>
      <p:sp>
        <p:nvSpPr>
          <p:cNvPr id="17" name="Text 14"/>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Product thesis; data/validation (latency criterion)</a:t>
            </a:r>
            <a:endParaRPr lang="en-US" sz="1000" dirty="0"/>
          </a:p>
        </p:txBody>
      </p:sp>
      <p:sp>
        <p:nvSpPr>
          <p:cNvPr id="18"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3</a:t>
            </a:fld>
            <a:endParaRPr lang="en-US"/>
          </a:p>
        </p:txBody>
      </p:sp>
      <p:pic>
        <p:nvPicPr>
          <p:cNvPr id="19" name="narration03">
            <a:hlinkClick r:id="" action="ppaction://media"/>
            <a:extLst>
              <a:ext uri="{FF2B5EF4-FFF2-40B4-BE49-F238E27FC236}">
                <a16:creationId xmlns:a16="http://schemas.microsoft.com/office/drawing/2014/main" id="{7E1AD257-0FA4-4F79-B7B5-AD3672403AB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0149987" y="515232"/>
            <a:ext cx="487363" cy="487363"/>
          </a:xfrm>
          <a:prstGeom prst="rect">
            <a:avLst/>
          </a:prstGeom>
        </p:spPr>
      </p:pic>
    </p:spTree>
  </p:cSld>
  <p:clrMapOvr>
    <a:masterClrMapping/>
  </p:clrMapOvr>
  <p:transition spd="slow" advClick="0" advTm="249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93"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Today’s health evidence is fragmented — and easy to over-interpret</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CURRENT FRAGMENTATION AND LIMITATIONS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3401568"/>
        </p:xfrm>
        <a:graphic>
          <a:graphicData uri="http://schemas.openxmlformats.org/drawingml/2006/table">
            <a:tbl>
              <a:tblPr/>
              <a:tblGrid>
                <a:gridCol w="27432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66928">
                <a:tc>
                  <a:txBody>
                    <a:bodyPr/>
                    <a:lstStyle/>
                    <a:p>
                      <a:pPr marL="0" indent="0">
                        <a:buNone/>
                      </a:pPr>
                      <a:r>
                        <a:rPr lang="en-US" sz="1500" b="1" dirty="0">
                          <a:solidFill>
                            <a:srgbClr val="19B5C9"/>
                          </a:solidFill>
                        </a:rPr>
                        <a:t>Source</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500" b="1" dirty="0">
                          <a:solidFill>
                            <a:srgbClr val="19B5C9"/>
                          </a:solidFill>
                        </a:rPr>
                        <a:t>Typical problem</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500" b="1" dirty="0">
                          <a:solidFill>
                            <a:srgbClr val="19B5C9"/>
                          </a:solidFill>
                        </a:rPr>
                        <a:t>MITOCHONDRIA response</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rgbClr val="E8EEF5"/>
                          </a:solidFill>
                        </a:rPr>
                        <a:t>Wearables / phone sensors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500" dirty="0">
                          <a:solidFill>
                            <a:srgbClr val="E8EEF5"/>
                          </a:solidFill>
                        </a:rPr>
                        <a:t>Vendor algorithms, artifacts, missing samples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500" dirty="0">
                          <a:solidFill>
                            <a:srgbClr val="E8EEF5"/>
                          </a:solidFill>
                        </a:rPr>
                        <a:t>Quality levels; freshness; transport ≠ sample ≠ stored</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66928">
                <a:tc>
                  <a:txBody>
                    <a:bodyPr/>
                    <a:lstStyle/>
                    <a:p>
                      <a:pPr marL="0" indent="0">
                        <a:buNone/>
                      </a:pPr>
                      <a:r>
                        <a:rPr lang="en-US" sz="1500" dirty="0">
                          <a:solidFill>
                            <a:srgbClr val="E8EEF5"/>
                          </a:solidFill>
                        </a:rPr>
                        <a:t>Laboratory reports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500" dirty="0">
                          <a:solidFill>
                            <a:srgbClr val="E8EEF5"/>
                          </a:solidFill>
                        </a:rPr>
                        <a:t>Unstructured PDFs; units; reference ranges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500" dirty="0">
                          <a:solidFill>
                            <a:srgbClr val="E8EEF5"/>
                          </a:solidFill>
                        </a:rPr>
                        <a:t>Exact name + unit matching; ranges never imported</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66928">
                <a:tc>
                  <a:txBody>
                    <a:bodyPr/>
                    <a:lstStyle/>
                    <a:p>
                      <a:pPr marL="0" indent="0">
                        <a:buNone/>
                      </a:pPr>
                      <a:r>
                        <a:rPr lang="en-US" sz="1500" dirty="0">
                          <a:solidFill>
                            <a:srgbClr val="E8EEF5"/>
                          </a:solidFill>
                        </a:rPr>
                        <a:t>Questionnaires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500" dirty="0">
                          <a:solidFill>
                            <a:srgbClr val="E8EEF5"/>
                          </a:solidFill>
                        </a:rPr>
                        <a:t>Treated as diagnoses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500" dirty="0">
                          <a:solidFill>
                            <a:srgbClr val="E8EEF5"/>
                          </a:solidFill>
                        </a:rPr>
                        <a:t>Labelled self-report; not clinical instruments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566928">
                <a:tc>
                  <a:txBody>
                    <a:bodyPr/>
                    <a:lstStyle/>
                    <a:p>
                      <a:pPr marL="0" indent="0">
                        <a:buNone/>
                      </a:pPr>
                      <a:r>
                        <a:rPr lang="en-US" sz="1500" dirty="0">
                          <a:solidFill>
                            <a:srgbClr val="E8EEF5"/>
                          </a:solidFill>
                        </a:rPr>
                        <a:t>Habitat telemetry</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500" dirty="0">
                          <a:solidFill>
                            <a:srgbClr val="E8EEF5"/>
                          </a:solidFill>
                        </a:rPr>
                        <a:t>Implied causality</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500" dirty="0">
                          <a:solidFill>
                            <a:srgbClr val="E8EEF5"/>
                          </a:solidFill>
                        </a:rPr>
                        <a:t>Shared timeline, explicitly non-causal</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566928">
                <a:tc>
                  <a:txBody>
                    <a:bodyPr/>
                    <a:lstStyle/>
                    <a:p>
                      <a:pPr marL="0" indent="0">
                        <a:buNone/>
                      </a:pPr>
                      <a:r>
                        <a:rPr lang="en-US" sz="1500" dirty="0">
                          <a:solidFill>
                            <a:srgbClr val="E8EEF5"/>
                          </a:solidFill>
                        </a:rPr>
                        <a:t>Research datasets</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500" dirty="0">
                          <a:solidFill>
                            <a:srgbClr val="E8EEF5"/>
                          </a:solidFill>
                        </a:rPr>
                        <a:t>Mistaken for crew data</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500" dirty="0">
                          <a:solidFill>
                            <a:srgbClr val="E8EEF5"/>
                          </a:solidFill>
                        </a:rPr>
                        <a:t>Research-only labels; no crew binding</a:t>
                      </a:r>
                      <a:endParaRPr lang="en-US" sz="15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docs/CANONICAL_HEALTH_DATA.md; src/domain/biomarkers</a:t>
            </a:r>
            <a:endParaRPr lang="en-US" sz="1000" dirty="0"/>
          </a:p>
        </p:txBody>
      </p:sp>
      <p:sp>
        <p:nvSpPr>
          <p:cNvPr id="6"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4</a:t>
            </a:fld>
            <a:endParaRPr lang="en-US"/>
          </a:p>
        </p:txBody>
      </p:sp>
      <p:pic>
        <p:nvPicPr>
          <p:cNvPr id="7" name="narration04">
            <a:hlinkClick r:id="" action="ppaction://media"/>
            <a:extLst>
              <a:ext uri="{FF2B5EF4-FFF2-40B4-BE49-F238E27FC236}">
                <a16:creationId xmlns:a16="http://schemas.microsoft.com/office/drawing/2014/main" id="{EC2339A2-F9AD-F370-CE89-F677D7CA2D0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032755" y="1009047"/>
            <a:ext cx="487363" cy="487363"/>
          </a:xfrm>
          <a:prstGeom prst="rect">
            <a:avLst/>
          </a:prstGeom>
        </p:spPr>
      </p:pic>
    </p:spTree>
  </p:cSld>
  <p:clrMapOvr>
    <a:masterClrMapping/>
  </p:clrMapOvr>
  <p:transition spd="slow" advClick="0" advTm="287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50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One loop: Monitor → Personalize → Correlate → Detect → Explain → Act → Learn</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THE MITOCHONDRIA SOLUTION</a:t>
            </a:r>
            <a:endParaRPr lang="en-US" sz="1100" dirty="0"/>
          </a:p>
        </p:txBody>
      </p:sp>
      <p:sp>
        <p:nvSpPr>
          <p:cNvPr id="4" name="card"/>
          <p:cNvSpPr/>
          <p:nvPr/>
        </p:nvSpPr>
        <p:spPr>
          <a:xfrm>
            <a:off x="5486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01</a:t>
            </a:r>
            <a:endParaRPr lang="en-US" sz="2400" dirty="0"/>
          </a:p>
        </p:txBody>
      </p:sp>
      <p:sp>
        <p:nvSpPr>
          <p:cNvPr id="6" name="Text 4"/>
          <p:cNvSpPr txBox="1"/>
          <p:nvPr/>
        </p:nvSpPr>
        <p:spPr>
          <a:xfrm>
            <a:off x="7498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Monitor</a:t>
            </a:r>
            <a:endParaRPr lang="en-US" sz="1400" dirty="0"/>
          </a:p>
          <a:p>
            <a:pPr marL="0" indent="0">
              <a:spcAft>
                <a:spcPts val="400"/>
              </a:spcAft>
              <a:buNone/>
            </a:pPr>
            <a:r>
              <a:rPr lang="en-US" sz="1400" dirty="0">
                <a:solidFill>
                  <a:srgbClr val="E8EEF5"/>
                </a:solidFill>
              </a:rPr>
              <a:t>Governed adapters</a:t>
            </a:r>
            <a:endParaRPr lang="en-US" sz="1400" dirty="0"/>
          </a:p>
        </p:txBody>
      </p:sp>
      <p:sp>
        <p:nvSpPr>
          <p:cNvPr id="7" name="card"/>
          <p:cNvSpPr/>
          <p:nvPr/>
        </p:nvSpPr>
        <p:spPr>
          <a:xfrm>
            <a:off x="21488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8" name="Text 6"/>
          <p:cNvSpPr txBox="1"/>
          <p:nvPr/>
        </p:nvSpPr>
        <p:spPr>
          <a:xfrm>
            <a:off x="23500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02</a:t>
            </a:r>
            <a:endParaRPr lang="en-US" sz="2400" dirty="0"/>
          </a:p>
        </p:txBody>
      </p:sp>
      <p:sp>
        <p:nvSpPr>
          <p:cNvPr id="9" name="Text 7"/>
          <p:cNvSpPr txBox="1"/>
          <p:nvPr/>
        </p:nvSpPr>
        <p:spPr>
          <a:xfrm>
            <a:off x="23500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Personalize</a:t>
            </a:r>
            <a:endParaRPr lang="en-US" sz="1400" dirty="0"/>
          </a:p>
          <a:p>
            <a:pPr marL="0" indent="0">
              <a:spcAft>
                <a:spcPts val="400"/>
              </a:spcAft>
              <a:buNone/>
            </a:pPr>
            <a:r>
              <a:rPr lang="en-US" sz="1400" dirty="0">
                <a:solidFill>
                  <a:srgbClr val="E8EEF5"/>
                </a:solidFill>
              </a:rPr>
              <a:t>Phase-aware baselines</a:t>
            </a:r>
            <a:endParaRPr lang="en-US" sz="1400" dirty="0"/>
          </a:p>
        </p:txBody>
      </p:sp>
      <p:sp>
        <p:nvSpPr>
          <p:cNvPr id="10" name="card"/>
          <p:cNvSpPr/>
          <p:nvPr/>
        </p:nvSpPr>
        <p:spPr>
          <a:xfrm>
            <a:off x="37490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39502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03</a:t>
            </a:r>
            <a:endParaRPr lang="en-US" sz="2400" dirty="0"/>
          </a:p>
        </p:txBody>
      </p:sp>
      <p:sp>
        <p:nvSpPr>
          <p:cNvPr id="12" name="Text 10"/>
          <p:cNvSpPr txBox="1"/>
          <p:nvPr/>
        </p:nvSpPr>
        <p:spPr>
          <a:xfrm>
            <a:off x="39502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Correlate</a:t>
            </a:r>
            <a:endParaRPr lang="en-US" sz="1400" dirty="0"/>
          </a:p>
          <a:p>
            <a:pPr marL="0" indent="0">
              <a:spcAft>
                <a:spcPts val="400"/>
              </a:spcAft>
              <a:buNone/>
            </a:pPr>
            <a:r>
              <a:rPr lang="en-US" sz="1400" dirty="0">
                <a:solidFill>
                  <a:srgbClr val="E8EEF5"/>
                </a:solidFill>
              </a:rPr>
              <a:t>One timeline, non-causal</a:t>
            </a:r>
            <a:endParaRPr lang="en-US" sz="1400" dirty="0"/>
          </a:p>
        </p:txBody>
      </p:sp>
      <p:sp>
        <p:nvSpPr>
          <p:cNvPr id="13" name="card"/>
          <p:cNvSpPr/>
          <p:nvPr/>
        </p:nvSpPr>
        <p:spPr>
          <a:xfrm>
            <a:off x="53492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14" name="Text 12"/>
          <p:cNvSpPr txBox="1"/>
          <p:nvPr/>
        </p:nvSpPr>
        <p:spPr>
          <a:xfrm>
            <a:off x="55504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04</a:t>
            </a:r>
            <a:endParaRPr lang="en-US" sz="2400" dirty="0"/>
          </a:p>
        </p:txBody>
      </p:sp>
      <p:sp>
        <p:nvSpPr>
          <p:cNvPr id="15" name="Text 13"/>
          <p:cNvSpPr txBox="1"/>
          <p:nvPr/>
        </p:nvSpPr>
        <p:spPr>
          <a:xfrm>
            <a:off x="55504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Detect</a:t>
            </a:r>
            <a:endParaRPr lang="en-US" sz="1400" dirty="0"/>
          </a:p>
          <a:p>
            <a:pPr marL="0" indent="0">
              <a:spcAft>
                <a:spcPts val="400"/>
              </a:spcAft>
              <a:buNone/>
            </a:pPr>
            <a:r>
              <a:rPr lang="en-US" sz="1400" dirty="0">
                <a:solidFill>
                  <a:srgbClr val="E8EEF5"/>
                </a:solidFill>
              </a:rPr>
              <a:t>Reviewed patterns only</a:t>
            </a:r>
            <a:endParaRPr lang="en-US" sz="1400" dirty="0"/>
          </a:p>
        </p:txBody>
      </p:sp>
      <p:sp>
        <p:nvSpPr>
          <p:cNvPr id="16" name="card"/>
          <p:cNvSpPr/>
          <p:nvPr/>
        </p:nvSpPr>
        <p:spPr>
          <a:xfrm>
            <a:off x="69494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17" name="Text 15"/>
          <p:cNvSpPr txBox="1"/>
          <p:nvPr/>
        </p:nvSpPr>
        <p:spPr>
          <a:xfrm>
            <a:off x="71506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05</a:t>
            </a:r>
            <a:endParaRPr lang="en-US" sz="2400" dirty="0"/>
          </a:p>
        </p:txBody>
      </p:sp>
      <p:sp>
        <p:nvSpPr>
          <p:cNvPr id="18" name="Text 16"/>
          <p:cNvSpPr txBox="1"/>
          <p:nvPr/>
        </p:nvSpPr>
        <p:spPr>
          <a:xfrm>
            <a:off x="71506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Explain</a:t>
            </a:r>
            <a:endParaRPr lang="en-US" sz="1400" dirty="0"/>
          </a:p>
          <a:p>
            <a:pPr marL="0" indent="0">
              <a:spcAft>
                <a:spcPts val="400"/>
              </a:spcAft>
              <a:buNone/>
            </a:pPr>
            <a:r>
              <a:rPr lang="en-US" sz="1400" dirty="0">
                <a:solidFill>
                  <a:srgbClr val="E8EEF5"/>
                </a:solidFill>
              </a:rPr>
              <a:t>Evidence, gaps, uncertainty</a:t>
            </a:r>
            <a:endParaRPr lang="en-US" sz="1400" dirty="0"/>
          </a:p>
        </p:txBody>
      </p:sp>
      <p:sp>
        <p:nvSpPr>
          <p:cNvPr id="19" name="card"/>
          <p:cNvSpPr/>
          <p:nvPr/>
        </p:nvSpPr>
        <p:spPr>
          <a:xfrm>
            <a:off x="85496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20" name="Text 18"/>
          <p:cNvSpPr txBox="1"/>
          <p:nvPr/>
        </p:nvSpPr>
        <p:spPr>
          <a:xfrm>
            <a:off x="87508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06</a:t>
            </a:r>
            <a:endParaRPr lang="en-US" sz="2400" dirty="0"/>
          </a:p>
        </p:txBody>
      </p:sp>
      <p:sp>
        <p:nvSpPr>
          <p:cNvPr id="21" name="Text 19"/>
          <p:cNvSpPr txBox="1"/>
          <p:nvPr/>
        </p:nvSpPr>
        <p:spPr>
          <a:xfrm>
            <a:off x="87508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Act</a:t>
            </a:r>
            <a:endParaRPr lang="en-US" sz="1400" dirty="0"/>
          </a:p>
          <a:p>
            <a:pPr marL="0" indent="0">
              <a:spcAft>
                <a:spcPts val="400"/>
              </a:spcAft>
              <a:buNone/>
            </a:pPr>
            <a:r>
              <a:rPr lang="en-US" sz="1400" dirty="0">
                <a:solidFill>
                  <a:srgbClr val="E8EEF5"/>
                </a:solidFill>
              </a:rPr>
              <a:t>Protocol categories</a:t>
            </a:r>
            <a:endParaRPr lang="en-US" sz="1400" dirty="0"/>
          </a:p>
        </p:txBody>
      </p:sp>
      <p:sp>
        <p:nvSpPr>
          <p:cNvPr id="22" name="card"/>
          <p:cNvSpPr/>
          <p:nvPr/>
        </p:nvSpPr>
        <p:spPr>
          <a:xfrm>
            <a:off x="10149840" y="1828800"/>
            <a:ext cx="1463040" cy="292608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23" name="Text 21"/>
          <p:cNvSpPr txBox="1"/>
          <p:nvPr/>
        </p:nvSpPr>
        <p:spPr>
          <a:xfrm>
            <a:off x="10351008" y="1993392"/>
            <a:ext cx="1124712" cy="457200"/>
          </a:xfrm>
          <a:prstGeom prst="rect">
            <a:avLst/>
          </a:prstGeom>
          <a:noFill/>
          <a:ln/>
        </p:spPr>
        <p:txBody>
          <a:bodyPr wrap="square" lIns="0" tIns="0" rIns="0" bIns="0" rtlCol="0" anchor="ctr"/>
          <a:lstStyle/>
          <a:p>
            <a:pPr marL="0" indent="0">
              <a:buNone/>
            </a:pPr>
            <a:r>
              <a:rPr lang="en-US" sz="2400" b="1" dirty="0">
                <a:solidFill>
                  <a:srgbClr val="19B5C9"/>
                </a:solidFill>
              </a:rPr>
              <a:t>07</a:t>
            </a:r>
            <a:endParaRPr lang="en-US" sz="2400" dirty="0"/>
          </a:p>
        </p:txBody>
      </p:sp>
      <p:sp>
        <p:nvSpPr>
          <p:cNvPr id="24" name="Text 22"/>
          <p:cNvSpPr txBox="1"/>
          <p:nvPr/>
        </p:nvSpPr>
        <p:spPr>
          <a:xfrm>
            <a:off x="10351008" y="2542032"/>
            <a:ext cx="1097280" cy="2103120"/>
          </a:xfrm>
          <a:prstGeom prst="rect">
            <a:avLst/>
          </a:prstGeom>
          <a:noFill/>
          <a:ln/>
        </p:spPr>
        <p:txBody>
          <a:bodyPr wrap="square" lIns="0" tIns="0" rIns="0" bIns="0" rtlCol="0" anchor="t"/>
          <a:lstStyle/>
          <a:p>
            <a:pPr marL="0" indent="0">
              <a:spcAft>
                <a:spcPts val="400"/>
              </a:spcAft>
              <a:buNone/>
            </a:pPr>
            <a:r>
              <a:rPr lang="en-US" sz="1400" dirty="0">
                <a:solidFill>
                  <a:srgbClr val="E8EEF5"/>
                </a:solidFill>
              </a:rPr>
              <a:t>Learn</a:t>
            </a:r>
            <a:endParaRPr lang="en-US" sz="1400" dirty="0"/>
          </a:p>
          <a:p>
            <a:pPr marL="0" indent="0">
              <a:spcAft>
                <a:spcPts val="400"/>
              </a:spcAft>
              <a:buNone/>
            </a:pPr>
            <a:r>
              <a:rPr lang="en-US" sz="1400" dirty="0">
                <a:solidFill>
                  <a:srgbClr val="E8EEF5"/>
                </a:solidFill>
              </a:rPr>
              <a:t>Provenance + audit</a:t>
            </a:r>
            <a:endParaRPr lang="en-US" sz="1400" dirty="0"/>
          </a:p>
        </p:txBody>
      </p:sp>
      <p:sp>
        <p:nvSpPr>
          <p:cNvPr id="25" name="Shape 23"/>
          <p:cNvSpPr/>
          <p:nvPr/>
        </p:nvSpPr>
        <p:spPr>
          <a:xfrm>
            <a:off x="548640" y="5074920"/>
            <a:ext cx="3383280" cy="310896"/>
          </a:xfrm>
          <a:prstGeom prst="roundRect">
            <a:avLst>
              <a:gd name="adj" fmla="val 50000"/>
            </a:avLst>
          </a:prstGeom>
          <a:solidFill>
            <a:srgbClr val="3CB371">
              <a:alpha val="22000"/>
            </a:srgbClr>
          </a:solidFill>
          <a:ln w="12700">
            <a:solidFill>
              <a:srgbClr val="3CB371"/>
            </a:solidFill>
            <a:prstDash val="solid"/>
          </a:ln>
        </p:spPr>
        <p:txBody>
          <a:bodyPr/>
          <a:lstStyle/>
          <a:p>
            <a:endParaRPr lang="en-US"/>
          </a:p>
        </p:txBody>
      </p:sp>
      <p:sp>
        <p:nvSpPr>
          <p:cNvPr id="26" name="Text 24"/>
          <p:cNvSpPr txBox="1"/>
          <p:nvPr/>
        </p:nvSpPr>
        <p:spPr>
          <a:xfrm>
            <a:off x="548640" y="5074920"/>
            <a:ext cx="3383280" cy="310896"/>
          </a:xfrm>
          <a:prstGeom prst="rect">
            <a:avLst/>
          </a:prstGeom>
          <a:noFill/>
          <a:ln/>
        </p:spPr>
        <p:txBody>
          <a:bodyPr wrap="square" lIns="0" tIns="0" rIns="0" bIns="0" rtlCol="0" anchor="ctr"/>
          <a:lstStyle/>
          <a:p>
            <a:pPr marL="0" indent="0" algn="ctr">
              <a:buNone/>
            </a:pPr>
            <a:r>
              <a:rPr lang="en-US" sz="1100" b="1" dirty="0">
                <a:solidFill>
                  <a:srgbClr val="3CB371"/>
                </a:solidFill>
              </a:rPr>
              <a:t>OFFLINE-FIRST OPERATION</a:t>
            </a:r>
            <a:endParaRPr lang="en-US" sz="1100" dirty="0"/>
          </a:p>
        </p:txBody>
      </p:sp>
      <p:sp>
        <p:nvSpPr>
          <p:cNvPr id="27" name="Shape 25"/>
          <p:cNvSpPr/>
          <p:nvPr/>
        </p:nvSpPr>
        <p:spPr>
          <a:xfrm>
            <a:off x="4114800" y="5074920"/>
            <a:ext cx="3566160" cy="310896"/>
          </a:xfrm>
          <a:prstGeom prst="roundRect">
            <a:avLst>
              <a:gd name="adj" fmla="val 50000"/>
            </a:avLst>
          </a:prstGeom>
          <a:solidFill>
            <a:srgbClr val="19B5C9">
              <a:alpha val="22000"/>
            </a:srgbClr>
          </a:solidFill>
          <a:ln w="12700">
            <a:solidFill>
              <a:srgbClr val="19B5C9"/>
            </a:solidFill>
            <a:prstDash val="solid"/>
          </a:ln>
        </p:spPr>
        <p:txBody>
          <a:bodyPr/>
          <a:lstStyle/>
          <a:p>
            <a:endParaRPr lang="en-US"/>
          </a:p>
        </p:txBody>
      </p:sp>
      <p:sp>
        <p:nvSpPr>
          <p:cNvPr id="28" name="Text 26"/>
          <p:cNvSpPr txBox="1"/>
          <p:nvPr/>
        </p:nvSpPr>
        <p:spPr>
          <a:xfrm>
            <a:off x="4114800" y="5074920"/>
            <a:ext cx="3566160" cy="310896"/>
          </a:xfrm>
          <a:prstGeom prst="rect">
            <a:avLst/>
          </a:prstGeom>
          <a:noFill/>
          <a:ln/>
        </p:spPr>
        <p:txBody>
          <a:bodyPr wrap="square" lIns="0" tIns="0" rIns="0" bIns="0" rtlCol="0" anchor="ctr"/>
          <a:lstStyle/>
          <a:p>
            <a:pPr marL="0" indent="0" algn="ctr">
              <a:buNone/>
            </a:pPr>
            <a:r>
              <a:rPr lang="en-US" sz="1100" b="1" dirty="0">
                <a:solidFill>
                  <a:srgbClr val="19B5C9"/>
                </a:solidFill>
              </a:rPr>
              <a:t>MISSION-SCOPED GOVERNANCE</a:t>
            </a:r>
            <a:endParaRPr lang="en-US" sz="1100" dirty="0"/>
          </a:p>
        </p:txBody>
      </p:sp>
      <p:sp>
        <p:nvSpPr>
          <p:cNvPr id="29" name="Shape 27"/>
          <p:cNvSpPr/>
          <p:nvPr/>
        </p:nvSpPr>
        <p:spPr>
          <a:xfrm>
            <a:off x="7863840" y="5074920"/>
            <a:ext cx="3749040" cy="310896"/>
          </a:xfrm>
          <a:prstGeom prst="roundRect">
            <a:avLst>
              <a:gd name="adj" fmla="val 50000"/>
            </a:avLst>
          </a:prstGeom>
          <a:solidFill>
            <a:srgbClr val="F2A93B">
              <a:alpha val="22000"/>
            </a:srgbClr>
          </a:solidFill>
          <a:ln w="12700">
            <a:solidFill>
              <a:srgbClr val="F2A93B"/>
            </a:solidFill>
            <a:prstDash val="solid"/>
          </a:ln>
        </p:spPr>
        <p:txBody>
          <a:bodyPr/>
          <a:lstStyle/>
          <a:p>
            <a:endParaRPr lang="en-US"/>
          </a:p>
        </p:txBody>
      </p:sp>
      <p:sp>
        <p:nvSpPr>
          <p:cNvPr id="30" name="Text 28"/>
          <p:cNvSpPr txBox="1"/>
          <p:nvPr/>
        </p:nvSpPr>
        <p:spPr>
          <a:xfrm>
            <a:off x="7863840" y="5074920"/>
            <a:ext cx="3749040" cy="310896"/>
          </a:xfrm>
          <a:prstGeom prst="rect">
            <a:avLst/>
          </a:prstGeom>
          <a:noFill/>
          <a:ln/>
        </p:spPr>
        <p:txBody>
          <a:bodyPr wrap="square" lIns="0" tIns="0" rIns="0" bIns="0" rtlCol="0" anchor="ctr"/>
          <a:lstStyle/>
          <a:p>
            <a:pPr marL="0" indent="0" algn="ctr">
              <a:buNone/>
            </a:pPr>
            <a:r>
              <a:rPr lang="en-US" sz="1100" b="1" dirty="0">
                <a:solidFill>
                  <a:srgbClr val="F2A93B"/>
                </a:solidFill>
              </a:rPr>
              <a:t>EXPLAINABLE, RESEARCH-ONLY SCIENCE</a:t>
            </a:r>
            <a:endParaRPr lang="en-US" sz="1100" dirty="0"/>
          </a:p>
        </p:txBody>
      </p:sp>
      <p:sp>
        <p:nvSpPr>
          <p:cNvPr id="31" name="Text 29"/>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src/components/app-shell.tsx (health loop); docs/HEALTH_INTELLIGENCE_V1.md</a:t>
            </a:r>
            <a:endParaRPr lang="en-US" sz="1000" dirty="0"/>
          </a:p>
        </p:txBody>
      </p:sp>
      <p:sp>
        <p:nvSpPr>
          <p:cNvPr id="3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5</a:t>
            </a:fld>
            <a:endParaRPr lang="en-US"/>
          </a:p>
        </p:txBody>
      </p:sp>
      <p:pic>
        <p:nvPicPr>
          <p:cNvPr id="33" name="narration05">
            <a:hlinkClick r:id="" action="ppaction://media"/>
            <a:extLst>
              <a:ext uri="{FF2B5EF4-FFF2-40B4-BE49-F238E27FC236}">
                <a16:creationId xmlns:a16="http://schemas.microsoft.com/office/drawing/2014/main" id="{520EFC32-59E2-F35E-576C-38B6DA6AE4E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907341" y="1191926"/>
            <a:ext cx="487363" cy="487363"/>
          </a:xfrm>
          <a:prstGeom prst="rect">
            <a:avLst/>
          </a:prstGeom>
        </p:spPr>
      </p:pic>
    </p:spTree>
  </p:cSld>
  <p:clrMapOvr>
    <a:masterClrMapping/>
  </p:clrMapOvr>
  <p:transition spd="slow" advClick="0" advTm="256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424"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What the platform gives each stakeholder</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PLATFORM VALUE PROPOSITION</a:t>
            </a:r>
            <a:endParaRPr lang="en-US" sz="1100" dirty="0"/>
          </a:p>
        </p:txBody>
      </p:sp>
      <p:sp>
        <p:nvSpPr>
          <p:cNvPr id="4" name="card"/>
          <p:cNvSpPr/>
          <p:nvPr/>
        </p:nvSpPr>
        <p:spPr>
          <a:xfrm>
            <a:off x="548640" y="1737360"/>
            <a:ext cx="2103120" cy="40233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Crew Self</a:t>
            </a:r>
            <a:endParaRPr lang="en-US" sz="1600" dirty="0"/>
          </a:p>
        </p:txBody>
      </p:sp>
      <p:sp>
        <p:nvSpPr>
          <p:cNvPr id="7" name="Text 4"/>
          <p:cNvSpPr txBox="1"/>
          <p:nvPr/>
        </p:nvSpPr>
        <p:spPr>
          <a:xfrm>
            <a:off x="749808" y="2450592"/>
            <a:ext cx="173736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Local, encrypted, offline capture</a:t>
            </a:r>
            <a:endParaRPr lang="en-US" sz="1400" dirty="0"/>
          </a:p>
          <a:p>
            <a:pPr marL="342900" indent="-342900">
              <a:spcAft>
                <a:spcPts val="400"/>
              </a:spcAft>
              <a:buSzPct val="100000"/>
              <a:buChar char="▪"/>
            </a:pPr>
            <a:r>
              <a:rPr lang="en-US" sz="1400" dirty="0">
                <a:solidFill>
                  <a:srgbClr val="E8EEF5"/>
                </a:solidFill>
              </a:rPr>
              <a:t>Own evidence; self-assessment</a:t>
            </a:r>
            <a:endParaRPr lang="en-US" sz="1400" dirty="0"/>
          </a:p>
          <a:p>
            <a:pPr marL="342900" indent="-342900">
              <a:spcAft>
                <a:spcPts val="400"/>
              </a:spcAft>
              <a:buSzPct val="100000"/>
              <a:buChar char="▪"/>
            </a:pPr>
            <a:r>
              <a:rPr lang="en-US" sz="1400" dirty="0">
                <a:solidFill>
                  <a:srgbClr val="E8EEF5"/>
                </a:solidFill>
              </a:rPr>
              <a:t>Synthetic lab-report review</a:t>
            </a:r>
            <a:endParaRPr lang="en-US" sz="1400" dirty="0"/>
          </a:p>
        </p:txBody>
      </p:sp>
      <p:sp>
        <p:nvSpPr>
          <p:cNvPr id="8" name="card"/>
          <p:cNvSpPr/>
          <p:nvPr/>
        </p:nvSpPr>
        <p:spPr>
          <a:xfrm>
            <a:off x="2798064" y="1737360"/>
            <a:ext cx="2103120" cy="40233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2999232" y="1938528"/>
            <a:ext cx="384048" cy="384048"/>
          </a:xfrm>
          <a:prstGeom prst="rect">
            <a:avLst/>
          </a:prstGeom>
        </p:spPr>
      </p:pic>
      <p:sp>
        <p:nvSpPr>
          <p:cNvPr id="10" name="Text 6"/>
          <p:cNvSpPr txBox="1"/>
          <p:nvPr/>
        </p:nvSpPr>
        <p:spPr>
          <a:xfrm>
            <a:off x="3511296"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Mission Operator</a:t>
            </a:r>
            <a:endParaRPr lang="en-US" sz="1600" dirty="0"/>
          </a:p>
        </p:txBody>
      </p:sp>
      <p:sp>
        <p:nvSpPr>
          <p:cNvPr id="11" name="Text 7"/>
          <p:cNvSpPr txBox="1"/>
          <p:nvPr/>
        </p:nvSpPr>
        <p:spPr>
          <a:xfrm>
            <a:off x="2999232" y="2450592"/>
            <a:ext cx="173736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Missions, crew, invites</a:t>
            </a:r>
            <a:endParaRPr lang="en-US" sz="1400" dirty="0"/>
          </a:p>
          <a:p>
            <a:pPr marL="342900" indent="-342900">
              <a:spcAft>
                <a:spcPts val="400"/>
              </a:spcAft>
              <a:buSzPct val="100000"/>
              <a:buChar char="▪"/>
            </a:pPr>
            <a:r>
              <a:rPr lang="en-US" sz="1400" dirty="0">
                <a:solidFill>
                  <a:srgbClr val="E8EEF5"/>
                </a:solidFill>
              </a:rPr>
              <a:t>Settings + redacted audit log</a:t>
            </a:r>
            <a:endParaRPr lang="en-US" sz="1400" dirty="0"/>
          </a:p>
          <a:p>
            <a:pPr marL="342900" indent="-342900">
              <a:spcAft>
                <a:spcPts val="400"/>
              </a:spcAft>
              <a:buSzPct val="100000"/>
              <a:buChar char="▪"/>
            </a:pPr>
            <a:r>
              <a:rPr lang="en-US" sz="1400" dirty="0">
                <a:solidFill>
                  <a:srgbClr val="E8EEF5"/>
                </a:solidFill>
              </a:rPr>
              <a:t>Synthetic demo launchpad</a:t>
            </a:r>
            <a:endParaRPr lang="en-US" sz="1400" dirty="0"/>
          </a:p>
        </p:txBody>
      </p:sp>
      <p:sp>
        <p:nvSpPr>
          <p:cNvPr id="12" name="card"/>
          <p:cNvSpPr/>
          <p:nvPr/>
        </p:nvSpPr>
        <p:spPr>
          <a:xfrm>
            <a:off x="5047488" y="1737360"/>
            <a:ext cx="2103120" cy="40233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13" name="Image 2" descr="preencoded.png"/>
          <p:cNvPicPr>
            <a:picLocks noChangeAspect="1"/>
          </p:cNvPicPr>
          <p:nvPr/>
        </p:nvPicPr>
        <p:blipFill>
          <a:blip r:embed="rId7"/>
          <a:stretch>
            <a:fillRect/>
          </a:stretch>
        </p:blipFill>
        <p:spPr>
          <a:xfrm>
            <a:off x="5248656" y="1938528"/>
            <a:ext cx="384048" cy="384048"/>
          </a:xfrm>
          <a:prstGeom prst="rect">
            <a:avLst/>
          </a:prstGeom>
        </p:spPr>
      </p:pic>
      <p:sp>
        <p:nvSpPr>
          <p:cNvPr id="14" name="Text 9"/>
          <p:cNvSpPr txBox="1"/>
          <p:nvPr/>
        </p:nvSpPr>
        <p:spPr>
          <a:xfrm>
            <a:off x="5760720"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Ground Medical</a:t>
            </a:r>
            <a:endParaRPr lang="en-US" sz="1600" dirty="0"/>
          </a:p>
        </p:txBody>
      </p:sp>
      <p:sp>
        <p:nvSpPr>
          <p:cNvPr id="15" name="Text 10"/>
          <p:cNvSpPr txBox="1"/>
          <p:nvPr/>
        </p:nvSpPr>
        <p:spPr>
          <a:xfrm>
            <a:off x="5248656" y="2450592"/>
            <a:ext cx="173736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Mission snapshot</a:t>
            </a:r>
            <a:endParaRPr lang="en-US" sz="1400" dirty="0"/>
          </a:p>
          <a:p>
            <a:pPr marL="342900" indent="-342900">
              <a:spcAft>
                <a:spcPts val="400"/>
              </a:spcAft>
              <a:buSzPct val="100000"/>
              <a:buChar char="▪"/>
            </a:pPr>
            <a:r>
              <a:rPr lang="en-US" sz="1400" dirty="0">
                <a:solidFill>
                  <a:srgbClr val="E8EEF5"/>
                </a:solidFill>
              </a:rPr>
              <a:t>Independent synthetic review queue</a:t>
            </a:r>
            <a:endParaRPr lang="en-US" sz="1400" dirty="0"/>
          </a:p>
          <a:p>
            <a:pPr marL="342900" indent="-342900">
              <a:spcAft>
                <a:spcPts val="400"/>
              </a:spcAft>
              <a:buSzPct val="100000"/>
              <a:buChar char="▪"/>
            </a:pPr>
            <a:r>
              <a:rPr lang="en-US" sz="1400" dirty="0">
                <a:solidFill>
                  <a:srgbClr val="E8EEF5"/>
                </a:solidFill>
              </a:rPr>
              <a:t>Research-only decisions</a:t>
            </a:r>
            <a:endParaRPr lang="en-US" sz="1400" dirty="0"/>
          </a:p>
        </p:txBody>
      </p:sp>
      <p:sp>
        <p:nvSpPr>
          <p:cNvPr id="16" name="card"/>
          <p:cNvSpPr/>
          <p:nvPr/>
        </p:nvSpPr>
        <p:spPr>
          <a:xfrm>
            <a:off x="7296912" y="1737360"/>
            <a:ext cx="2103120" cy="40233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17" name="Image 3" descr="preencoded.png"/>
          <p:cNvPicPr>
            <a:picLocks noChangeAspect="1"/>
          </p:cNvPicPr>
          <p:nvPr/>
        </p:nvPicPr>
        <p:blipFill>
          <a:blip r:embed="rId8"/>
          <a:stretch>
            <a:fillRect/>
          </a:stretch>
        </p:blipFill>
        <p:spPr>
          <a:xfrm>
            <a:off x="7498080" y="1938528"/>
            <a:ext cx="384048" cy="384048"/>
          </a:xfrm>
          <a:prstGeom prst="rect">
            <a:avLst/>
          </a:prstGeom>
        </p:spPr>
      </p:pic>
      <p:sp>
        <p:nvSpPr>
          <p:cNvPr id="18" name="Text 12"/>
          <p:cNvSpPr txBox="1"/>
          <p:nvPr/>
        </p:nvSpPr>
        <p:spPr>
          <a:xfrm>
            <a:off x="8010144"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Researcher</a:t>
            </a:r>
            <a:endParaRPr lang="en-US" sz="1600" dirty="0"/>
          </a:p>
        </p:txBody>
      </p:sp>
      <p:sp>
        <p:nvSpPr>
          <p:cNvPr id="19" name="Text 13"/>
          <p:cNvSpPr txBox="1"/>
          <p:nvPr/>
        </p:nvSpPr>
        <p:spPr>
          <a:xfrm>
            <a:off x="7498080" y="2450592"/>
            <a:ext cx="173736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Aggregate-only export</a:t>
            </a:r>
            <a:endParaRPr lang="en-US" sz="1400" dirty="0"/>
          </a:p>
          <a:p>
            <a:pPr marL="342900" indent="-342900">
              <a:spcAft>
                <a:spcPts val="400"/>
              </a:spcAft>
              <a:buSzPct val="100000"/>
              <a:buChar char="▪"/>
            </a:pPr>
            <a:r>
              <a:rPr lang="en-US" sz="1400" dirty="0">
                <a:solidFill>
                  <a:srgbClr val="E8EEF5"/>
                </a:solidFill>
              </a:rPr>
              <a:t>54-proposal Research Explorer</a:t>
            </a:r>
            <a:endParaRPr lang="en-US" sz="1400" dirty="0"/>
          </a:p>
        </p:txBody>
      </p:sp>
      <p:sp>
        <p:nvSpPr>
          <p:cNvPr id="20" name="card"/>
          <p:cNvSpPr/>
          <p:nvPr/>
        </p:nvSpPr>
        <p:spPr>
          <a:xfrm>
            <a:off x="9546336" y="1737360"/>
            <a:ext cx="2103120" cy="4023360"/>
          </a:xfrm>
          <a:prstGeom prst="roundRect">
            <a:avLst>
              <a:gd name="adj" fmla="val 3478"/>
            </a:avLst>
          </a:prstGeom>
          <a:solidFill>
            <a:srgbClr val="0F2236"/>
          </a:solidFill>
          <a:ln w="12700">
            <a:solidFill>
              <a:srgbClr val="24496B"/>
            </a:solidFill>
            <a:prstDash val="solid"/>
          </a:ln>
        </p:spPr>
        <p:txBody>
          <a:bodyPr/>
          <a:lstStyle/>
          <a:p>
            <a:endParaRPr lang="en-US"/>
          </a:p>
        </p:txBody>
      </p:sp>
      <p:pic>
        <p:nvPicPr>
          <p:cNvPr id="21" name="Image 4" descr="preencoded.png"/>
          <p:cNvPicPr>
            <a:picLocks noChangeAspect="1"/>
          </p:cNvPicPr>
          <p:nvPr/>
        </p:nvPicPr>
        <p:blipFill>
          <a:blip r:embed="rId9"/>
          <a:stretch>
            <a:fillRect/>
          </a:stretch>
        </p:blipFill>
        <p:spPr>
          <a:xfrm>
            <a:off x="9747504" y="1938528"/>
            <a:ext cx="384048" cy="384048"/>
          </a:xfrm>
          <a:prstGeom prst="rect">
            <a:avLst/>
          </a:prstGeom>
        </p:spPr>
      </p:pic>
      <p:sp>
        <p:nvSpPr>
          <p:cNvPr id="22" name="Text 15"/>
          <p:cNvSpPr txBox="1"/>
          <p:nvPr/>
        </p:nvSpPr>
        <p:spPr>
          <a:xfrm>
            <a:off x="10259568" y="1901952"/>
            <a:ext cx="1252728" cy="457200"/>
          </a:xfrm>
          <a:prstGeom prst="rect">
            <a:avLst/>
          </a:prstGeom>
          <a:noFill/>
          <a:ln/>
        </p:spPr>
        <p:txBody>
          <a:bodyPr wrap="square" lIns="0" tIns="0" rIns="0" bIns="0" rtlCol="0" anchor="ctr"/>
          <a:lstStyle/>
          <a:p>
            <a:pPr marL="0" indent="0">
              <a:buNone/>
            </a:pPr>
            <a:r>
              <a:rPr lang="en-US" sz="1600" b="1" dirty="0">
                <a:solidFill>
                  <a:srgbClr val="E8EEF5"/>
                </a:solidFill>
              </a:rPr>
              <a:t>Integrators</a:t>
            </a:r>
            <a:endParaRPr lang="en-US" sz="1600" dirty="0"/>
          </a:p>
        </p:txBody>
      </p:sp>
      <p:sp>
        <p:nvSpPr>
          <p:cNvPr id="23" name="Text 16"/>
          <p:cNvSpPr txBox="1"/>
          <p:nvPr/>
        </p:nvSpPr>
        <p:spPr>
          <a:xfrm>
            <a:off x="9747504" y="2450592"/>
            <a:ext cx="173736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Adapter SDK, canonical model</a:t>
            </a:r>
            <a:endParaRPr lang="en-US" sz="1400" dirty="0"/>
          </a:p>
          <a:p>
            <a:pPr marL="342900" indent="-342900">
              <a:spcAft>
                <a:spcPts val="400"/>
              </a:spcAft>
              <a:buSzPct val="100000"/>
              <a:buChar char="▪"/>
            </a:pPr>
            <a:r>
              <a:rPr lang="en-US" sz="1400" dirty="0">
                <a:solidFill>
                  <a:srgbClr val="E8EEF5"/>
                </a:solidFill>
              </a:rPr>
              <a:t>Apache-2.0, self-host, CI</a:t>
            </a:r>
            <a:endParaRPr lang="en-US" sz="1400" dirty="0"/>
          </a:p>
        </p:txBody>
      </p:sp>
      <p:sp>
        <p:nvSpPr>
          <p:cNvPr id="24" name="Text 17"/>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Master Manual §09.5 (role-based access); research privacy workspace</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6</a:t>
            </a:fld>
            <a:endParaRPr lang="en-US"/>
          </a:p>
        </p:txBody>
      </p:sp>
      <p:pic>
        <p:nvPicPr>
          <p:cNvPr id="26" name="narration06">
            <a:hlinkClick r:id="" action="ppaction://media"/>
            <a:extLst>
              <a:ext uri="{FF2B5EF4-FFF2-40B4-BE49-F238E27FC236}">
                <a16:creationId xmlns:a16="http://schemas.microsoft.com/office/drawing/2014/main" id="{BBC18D8A-BFF3-E2BA-DE07-720B4AB80AF8}"/>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8775509" y="566928"/>
            <a:ext cx="487363" cy="487363"/>
          </a:xfrm>
          <a:prstGeom prst="rect">
            <a:avLst/>
          </a:prstGeom>
        </p:spPr>
      </p:pic>
    </p:spTree>
  </p:cSld>
  <p:clrMapOvr>
    <a:masterClrMapping/>
  </p:clrMapOvr>
  <p:transition spd="slow" advClick="0" advTm="289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76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Science leads — and every scientific claim carries its review state</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SCIENTIFIC FOUNDATION</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3291840"/>
        </p:xfrm>
        <a:graphic>
          <a:graphicData uri="http://schemas.openxmlformats.org/drawingml/2006/table">
            <a:tbl>
              <a:tblPr/>
              <a:tblGrid>
                <a:gridCol w="31089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548640">
                <a:tc>
                  <a:txBody>
                    <a:bodyPr/>
                    <a:lstStyle/>
                    <a:p>
                      <a:pPr marL="0" indent="0">
                        <a:buNone/>
                      </a:pPr>
                      <a:r>
                        <a:rPr lang="en-US" sz="1400" b="1" dirty="0">
                          <a:solidFill>
                            <a:srgbClr val="19B5C9"/>
                          </a:solidFill>
                        </a:rPr>
                        <a:t>Source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400" b="1" dirty="0">
                          <a:solidFill>
                            <a:srgbClr val="19B5C9"/>
                          </a:solidFill>
                        </a:rPr>
                        <a:t>Size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400" b="1" dirty="0">
                          <a:solidFill>
                            <a:srgbClr val="19B5C9"/>
                          </a:solidFill>
                        </a:rPr>
                        <a:t>Platform use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E8EEF5"/>
                          </a:solidFill>
                        </a:rPr>
                        <a:t>Biomarker Matrix v1.1</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70 metrics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Canonical catalogue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E8EEF5"/>
                          </a:solidFill>
                        </a:rPr>
                        <a:t>Bone Health Handbook v7 (GR → EN)</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63 variables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Reference + bone entry</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rgbClr val="E8EEF5"/>
                          </a:solidFill>
                        </a:rPr>
                        <a:t>Cardiovascular Handbook (GR → EN)</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96 + 8 examples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Reference + exact matching</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rgbClr val="E8EEF5"/>
                          </a:solidFill>
                        </a:rPr>
                        <a:t>Nikolas immune + behavioural</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117 + 99 records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Research-only intake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rgbClr val="E8EEF5"/>
                          </a:solidFill>
                        </a:rPr>
                        <a:t>Provisional semantic proposals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54</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Research Explorer</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bl>
          </a:graphicData>
        </a:graphic>
      </p:graphicFrame>
      <p:sp>
        <p:nvSpPr>
          <p:cNvPr id="5" name="card"/>
          <p:cNvSpPr/>
          <p:nvPr/>
        </p:nvSpPr>
        <p:spPr>
          <a:xfrm>
            <a:off x="7772400" y="1737360"/>
            <a:ext cx="3840480" cy="4023360"/>
          </a:xfrm>
          <a:prstGeom prst="roundRect">
            <a:avLst>
              <a:gd name="adj" fmla="val 1905"/>
            </a:avLst>
          </a:prstGeom>
          <a:solidFill>
            <a:srgbClr val="0F2236"/>
          </a:solidFill>
          <a:ln w="12700">
            <a:solidFill>
              <a:srgbClr val="24496B"/>
            </a:solidFill>
            <a:prstDash val="solid"/>
          </a:ln>
        </p:spPr>
        <p:txBody>
          <a:bodyPr/>
          <a:lstStyle/>
          <a:p>
            <a:endParaRPr lang="en-US"/>
          </a:p>
        </p:txBody>
      </p:sp>
      <p:pic>
        <p:nvPicPr>
          <p:cNvPr id="6" name="Image 0" descr="preencoded.png"/>
          <p:cNvPicPr>
            <a:picLocks noChangeAspect="1"/>
          </p:cNvPicPr>
          <p:nvPr/>
        </p:nvPicPr>
        <p:blipFill>
          <a:blip r:embed="rId5"/>
          <a:stretch>
            <a:fillRect/>
          </a:stretch>
        </p:blipFill>
        <p:spPr>
          <a:xfrm>
            <a:off x="7973568" y="1938528"/>
            <a:ext cx="384048" cy="384048"/>
          </a:xfrm>
          <a:prstGeom prst="rect">
            <a:avLst/>
          </a:prstGeom>
        </p:spPr>
      </p:pic>
      <p:sp>
        <p:nvSpPr>
          <p:cNvPr id="7" name="Text 3"/>
          <p:cNvSpPr txBox="1"/>
          <p:nvPr/>
        </p:nvSpPr>
        <p:spPr>
          <a:xfrm>
            <a:off x="8485632" y="1901952"/>
            <a:ext cx="2990088" cy="457200"/>
          </a:xfrm>
          <a:prstGeom prst="rect">
            <a:avLst/>
          </a:prstGeom>
          <a:noFill/>
          <a:ln/>
        </p:spPr>
        <p:txBody>
          <a:bodyPr wrap="square" lIns="0" tIns="0" rIns="0" bIns="0" rtlCol="0" anchor="ctr"/>
          <a:lstStyle/>
          <a:p>
            <a:pPr marL="0" indent="0">
              <a:buNone/>
            </a:pPr>
            <a:r>
              <a:rPr lang="en-US" sz="1600" b="1" dirty="0">
                <a:solidFill>
                  <a:srgbClr val="E8EEF5"/>
                </a:solidFill>
              </a:rPr>
              <a:t>Boundaries</a:t>
            </a:r>
            <a:endParaRPr lang="en-US" sz="1600" dirty="0"/>
          </a:p>
        </p:txBody>
      </p:sp>
      <p:sp>
        <p:nvSpPr>
          <p:cNvPr id="8" name="Text 4"/>
          <p:cNvSpPr txBox="1"/>
          <p:nvPr/>
        </p:nvSpPr>
        <p:spPr>
          <a:xfrm>
            <a:off x="7973568" y="2450592"/>
            <a:ext cx="347472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No diagnosis or risk score</a:t>
            </a:r>
            <a:endParaRPr lang="en-US" sz="1400" dirty="0"/>
          </a:p>
          <a:p>
            <a:pPr marL="342900" indent="-342900">
              <a:spcAft>
                <a:spcPts val="400"/>
              </a:spcAft>
              <a:buSzPct val="100000"/>
              <a:buChar char="▪"/>
            </a:pPr>
            <a:r>
              <a:rPr lang="en-US" sz="1400" dirty="0">
                <a:solidFill>
                  <a:srgbClr val="E8EEF5"/>
                </a:solidFill>
              </a:rPr>
              <a:t>No causation from association</a:t>
            </a:r>
            <a:endParaRPr lang="en-US" sz="1400" dirty="0"/>
          </a:p>
          <a:p>
            <a:pPr marL="342900" indent="-342900">
              <a:spcAft>
                <a:spcPts val="400"/>
              </a:spcAft>
              <a:buSzPct val="100000"/>
              <a:buChar char="▪"/>
            </a:pPr>
            <a:r>
              <a:rPr lang="en-US" sz="1400" dirty="0">
                <a:solidFill>
                  <a:srgbClr val="E8EEF5"/>
                </a:solidFill>
              </a:rPr>
              <a:t>No clinical thresholds</a:t>
            </a:r>
            <a:endParaRPr lang="en-US" sz="1400" dirty="0"/>
          </a:p>
          <a:p>
            <a:pPr marL="342900" indent="-342900">
              <a:spcAft>
                <a:spcPts val="400"/>
              </a:spcAft>
              <a:buSzPct val="100000"/>
              <a:buChar char="▪"/>
            </a:pPr>
            <a:r>
              <a:rPr lang="en-US" sz="1400" dirty="0">
                <a:solidFill>
                  <a:srgbClr val="E8EEF5"/>
                </a:solidFill>
              </a:rPr>
              <a:t>Baseline deviation ≠ diagnosis</a:t>
            </a:r>
            <a:endParaRPr lang="en-US" sz="1400" dirty="0"/>
          </a:p>
          <a:p>
            <a:pPr marL="342900" indent="-342900">
              <a:spcAft>
                <a:spcPts val="400"/>
              </a:spcAft>
              <a:buSzPct val="100000"/>
              <a:buChar char="▪"/>
            </a:pPr>
            <a:r>
              <a:rPr lang="en-US" sz="1400" dirty="0">
                <a:solidFill>
                  <a:srgbClr val="E8EEF5"/>
                </a:solidFill>
              </a:rPr>
              <a:t>Questionnaires ≠ clinical instruments</a:t>
            </a:r>
            <a:endParaRPr lang="en-US" sz="1400" dirty="0"/>
          </a:p>
          <a:p>
            <a:pPr marL="342900" indent="-342900">
              <a:spcAft>
                <a:spcPts val="400"/>
              </a:spcAft>
              <a:buSzPct val="100000"/>
              <a:buChar char="▪"/>
            </a:pPr>
            <a:r>
              <a:rPr lang="en-US" sz="1400" dirty="0">
                <a:solidFill>
                  <a:srgbClr val="E8EEF5"/>
                </a:solidFill>
              </a:rPr>
              <a:t>Synthetic ≠ astronaut evidence</a:t>
            </a:r>
            <a:endParaRPr lang="en-US" sz="1400" dirty="0"/>
          </a:p>
        </p:txBody>
      </p:sp>
      <p:sp>
        <p:nvSpPr>
          <p:cNvPr id="9" name="Text 5"/>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src/domain/catalog/reviewed-mvp-v1.1.ts; data/scientific/*</a:t>
            </a:r>
            <a:endParaRPr lang="en-US" sz="1000" dirty="0"/>
          </a:p>
        </p:txBody>
      </p:sp>
      <p:sp>
        <p:nvSpPr>
          <p:cNvPr id="10"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7</a:t>
            </a:fld>
            <a:endParaRPr lang="en-US"/>
          </a:p>
        </p:txBody>
      </p:sp>
      <p:pic>
        <p:nvPicPr>
          <p:cNvPr id="11" name="narration07">
            <a:hlinkClick r:id="" action="ppaction://media"/>
            <a:extLst>
              <a:ext uri="{FF2B5EF4-FFF2-40B4-BE49-F238E27FC236}">
                <a16:creationId xmlns:a16="http://schemas.microsoft.com/office/drawing/2014/main" id="{7E019EA9-915D-53D4-E959-E07C351EB31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223565" y="1140269"/>
            <a:ext cx="487363" cy="487363"/>
          </a:xfrm>
          <a:prstGeom prst="rect">
            <a:avLst/>
          </a:prstGeom>
        </p:spPr>
      </p:pic>
    </p:spTree>
  </p:cSld>
  <p:clrMapOvr>
    <a:masterClrMapping/>
  </p:clrMapOvr>
  <p:transition spd="slow" advTm="328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6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Four integrated health domains</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IMMUNE · BONE · CARDIOVASCULAR · BEHAVIOURAL</a:t>
            </a:r>
            <a:endParaRPr lang="en-US" sz="1100" dirty="0"/>
          </a:p>
        </p:txBody>
      </p:sp>
      <p:sp>
        <p:nvSpPr>
          <p:cNvPr id="4" name="card"/>
          <p:cNvSpPr/>
          <p:nvPr/>
        </p:nvSpPr>
        <p:spPr>
          <a:xfrm>
            <a:off x="548640" y="1737360"/>
            <a:ext cx="2651760" cy="4023360"/>
          </a:xfrm>
          <a:prstGeom prst="roundRect">
            <a:avLst>
              <a:gd name="adj" fmla="val 2759"/>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1801368" cy="457200"/>
          </a:xfrm>
          <a:prstGeom prst="rect">
            <a:avLst/>
          </a:prstGeom>
          <a:noFill/>
          <a:ln/>
        </p:spPr>
        <p:txBody>
          <a:bodyPr wrap="square" lIns="0" tIns="0" rIns="0" bIns="0" rtlCol="0" anchor="ctr"/>
          <a:lstStyle/>
          <a:p>
            <a:pPr marL="0" indent="0">
              <a:buNone/>
            </a:pPr>
            <a:r>
              <a:rPr lang="en-US" sz="1600" b="1" dirty="0">
                <a:solidFill>
                  <a:srgbClr val="E8EEF5"/>
                </a:solidFill>
              </a:rPr>
              <a:t>Bone</a:t>
            </a:r>
            <a:endParaRPr lang="en-US" sz="1600" dirty="0"/>
          </a:p>
        </p:txBody>
      </p:sp>
      <p:sp>
        <p:nvSpPr>
          <p:cNvPr id="7" name="Text 4"/>
          <p:cNvSpPr txBox="1"/>
          <p:nvPr/>
        </p:nvSpPr>
        <p:spPr>
          <a:xfrm>
            <a:off x="749808" y="2450592"/>
            <a:ext cx="22860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Entry, CSV, document extraction</a:t>
            </a:r>
            <a:endParaRPr lang="en-US" sz="1400" dirty="0"/>
          </a:p>
          <a:p>
            <a:pPr marL="342900" indent="-342900">
              <a:spcAft>
                <a:spcPts val="400"/>
              </a:spcAft>
              <a:buSzPct val="100000"/>
              <a:buChar char="▪"/>
            </a:pPr>
            <a:r>
              <a:rPr lang="en-US" sz="1400" dirty="0">
                <a:solidFill>
                  <a:srgbClr val="E8EEF5"/>
                </a:solidFill>
              </a:rPr>
              <a:t>Local evidence summary</a:t>
            </a:r>
            <a:endParaRPr lang="en-US" sz="1400" dirty="0"/>
          </a:p>
          <a:p>
            <a:pPr marL="342900" indent="-342900">
              <a:spcAft>
                <a:spcPts val="400"/>
              </a:spcAft>
              <a:buSzPct val="100000"/>
              <a:buChar char="▪"/>
            </a:pPr>
            <a:r>
              <a:rPr lang="en-US" sz="1400" dirty="0">
                <a:solidFill>
                  <a:srgbClr val="E8EEF5"/>
                </a:solidFill>
              </a:rPr>
              <a:t>Handbook v7: 63 variables (EN/GR)</a:t>
            </a:r>
            <a:endParaRPr lang="en-US" sz="1400" dirty="0"/>
          </a:p>
        </p:txBody>
      </p:sp>
      <p:sp>
        <p:nvSpPr>
          <p:cNvPr id="8" name="card"/>
          <p:cNvSpPr/>
          <p:nvPr/>
        </p:nvSpPr>
        <p:spPr>
          <a:xfrm>
            <a:off x="3364992" y="1737360"/>
            <a:ext cx="2651760" cy="4023360"/>
          </a:xfrm>
          <a:prstGeom prst="roundRect">
            <a:avLst>
              <a:gd name="adj" fmla="val 2759"/>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3566160" y="1938528"/>
            <a:ext cx="384048" cy="384048"/>
          </a:xfrm>
          <a:prstGeom prst="rect">
            <a:avLst/>
          </a:prstGeom>
        </p:spPr>
      </p:pic>
      <p:sp>
        <p:nvSpPr>
          <p:cNvPr id="10" name="Text 6"/>
          <p:cNvSpPr txBox="1"/>
          <p:nvPr/>
        </p:nvSpPr>
        <p:spPr>
          <a:xfrm>
            <a:off x="4078224" y="1901952"/>
            <a:ext cx="1801368" cy="457200"/>
          </a:xfrm>
          <a:prstGeom prst="rect">
            <a:avLst/>
          </a:prstGeom>
          <a:noFill/>
          <a:ln/>
        </p:spPr>
        <p:txBody>
          <a:bodyPr wrap="square" lIns="0" tIns="0" rIns="0" bIns="0" rtlCol="0" anchor="ctr"/>
          <a:lstStyle/>
          <a:p>
            <a:pPr marL="0" indent="0">
              <a:buNone/>
            </a:pPr>
            <a:r>
              <a:rPr lang="en-US" sz="1600" b="1" dirty="0">
                <a:solidFill>
                  <a:srgbClr val="E8EEF5"/>
                </a:solidFill>
              </a:rPr>
              <a:t>Cardiovascular</a:t>
            </a:r>
            <a:endParaRPr lang="en-US" sz="1600" dirty="0"/>
          </a:p>
        </p:txBody>
      </p:sp>
      <p:sp>
        <p:nvSpPr>
          <p:cNvPr id="11" name="Text 7"/>
          <p:cNvSpPr txBox="1"/>
          <p:nvPr/>
        </p:nvSpPr>
        <p:spPr>
          <a:xfrm>
            <a:off x="3566160" y="2450592"/>
            <a:ext cx="22860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Mission-scoped HR/HRV/BP context</a:t>
            </a:r>
            <a:endParaRPr lang="en-US" sz="1400" dirty="0"/>
          </a:p>
          <a:p>
            <a:pPr marL="342900" indent="-342900">
              <a:spcAft>
                <a:spcPts val="400"/>
              </a:spcAft>
              <a:buSzPct val="100000"/>
              <a:buChar char="▪"/>
            </a:pPr>
            <a:r>
              <a:rPr lang="en-US" sz="1400" dirty="0">
                <a:solidFill>
                  <a:srgbClr val="E8EEF5"/>
                </a:solidFill>
              </a:rPr>
              <a:t>Handbook: 96 measurements + 8 examples</a:t>
            </a:r>
            <a:endParaRPr lang="en-US" sz="1400" dirty="0"/>
          </a:p>
          <a:p>
            <a:pPr marL="342900" indent="-342900">
              <a:spcAft>
                <a:spcPts val="400"/>
              </a:spcAft>
              <a:buSzPct val="100000"/>
              <a:buChar char="▪"/>
            </a:pPr>
            <a:r>
              <a:rPr lang="en-US" sz="1400" dirty="0">
                <a:solidFill>
                  <a:srgbClr val="E8EEF5"/>
                </a:solidFill>
              </a:rPr>
              <a:t>No arrhythmia inference from PPG</a:t>
            </a:r>
            <a:endParaRPr lang="en-US" sz="1400" dirty="0"/>
          </a:p>
        </p:txBody>
      </p:sp>
      <p:sp>
        <p:nvSpPr>
          <p:cNvPr id="12" name="card"/>
          <p:cNvSpPr/>
          <p:nvPr/>
        </p:nvSpPr>
        <p:spPr>
          <a:xfrm>
            <a:off x="6181344" y="1737360"/>
            <a:ext cx="2651760" cy="4023360"/>
          </a:xfrm>
          <a:prstGeom prst="roundRect">
            <a:avLst>
              <a:gd name="adj" fmla="val 2759"/>
            </a:avLst>
          </a:prstGeom>
          <a:solidFill>
            <a:srgbClr val="0F2236"/>
          </a:solidFill>
          <a:ln w="12700">
            <a:solidFill>
              <a:srgbClr val="24496B"/>
            </a:solidFill>
            <a:prstDash val="solid"/>
          </a:ln>
        </p:spPr>
        <p:txBody>
          <a:bodyPr/>
          <a:lstStyle/>
          <a:p>
            <a:endParaRPr lang="en-US"/>
          </a:p>
        </p:txBody>
      </p:sp>
      <p:pic>
        <p:nvPicPr>
          <p:cNvPr id="13" name="Image 2" descr="preencoded.png"/>
          <p:cNvPicPr>
            <a:picLocks noChangeAspect="1"/>
          </p:cNvPicPr>
          <p:nvPr/>
        </p:nvPicPr>
        <p:blipFill>
          <a:blip r:embed="rId7"/>
          <a:stretch>
            <a:fillRect/>
          </a:stretch>
        </p:blipFill>
        <p:spPr>
          <a:xfrm>
            <a:off x="6382512" y="1938528"/>
            <a:ext cx="384048" cy="384048"/>
          </a:xfrm>
          <a:prstGeom prst="rect">
            <a:avLst/>
          </a:prstGeom>
        </p:spPr>
      </p:pic>
      <p:sp>
        <p:nvSpPr>
          <p:cNvPr id="14" name="Text 9"/>
          <p:cNvSpPr txBox="1"/>
          <p:nvPr/>
        </p:nvSpPr>
        <p:spPr>
          <a:xfrm>
            <a:off x="6894576" y="1901952"/>
            <a:ext cx="1801368" cy="457200"/>
          </a:xfrm>
          <a:prstGeom prst="rect">
            <a:avLst/>
          </a:prstGeom>
          <a:noFill/>
          <a:ln/>
        </p:spPr>
        <p:txBody>
          <a:bodyPr wrap="square" lIns="0" tIns="0" rIns="0" bIns="0" rtlCol="0" anchor="ctr"/>
          <a:lstStyle/>
          <a:p>
            <a:pPr marL="0" indent="0">
              <a:buNone/>
            </a:pPr>
            <a:r>
              <a:rPr lang="en-US" sz="1600" b="1" dirty="0">
                <a:solidFill>
                  <a:srgbClr val="E8EEF5"/>
                </a:solidFill>
              </a:rPr>
              <a:t>Immune &amp; microbiome</a:t>
            </a:r>
            <a:endParaRPr lang="en-US" sz="1600" dirty="0"/>
          </a:p>
        </p:txBody>
      </p:sp>
      <p:sp>
        <p:nvSpPr>
          <p:cNvPr id="15" name="Text 10"/>
          <p:cNvSpPr txBox="1"/>
          <p:nvPr/>
        </p:nvSpPr>
        <p:spPr>
          <a:xfrm>
            <a:off x="6382512" y="2450592"/>
            <a:ext cx="22860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Evidence summary + missing signals</a:t>
            </a:r>
            <a:endParaRPr lang="en-US" sz="1400" dirty="0"/>
          </a:p>
          <a:p>
            <a:pPr marL="342900" indent="-342900">
              <a:spcAft>
                <a:spcPts val="400"/>
              </a:spcAft>
              <a:buSzPct val="100000"/>
              <a:buChar char="▪"/>
            </a:pPr>
            <a:r>
              <a:rPr lang="en-US" sz="1400" dirty="0">
                <a:solidFill>
                  <a:srgbClr val="E8EEF5"/>
                </a:solidFill>
              </a:rPr>
              <a:t>117 handbook records (research)</a:t>
            </a:r>
            <a:endParaRPr lang="en-US" sz="1400" dirty="0"/>
          </a:p>
          <a:p>
            <a:pPr marL="342900" indent="-342900">
              <a:spcAft>
                <a:spcPts val="400"/>
              </a:spcAft>
              <a:buSzPct val="100000"/>
              <a:buChar char="▪"/>
            </a:pPr>
            <a:r>
              <a:rPr lang="en-US" sz="1400" dirty="0">
                <a:solidFill>
                  <a:srgbClr val="E8EEF5"/>
                </a:solidFill>
              </a:rPr>
              <a:t>Microbiome–immune: research only</a:t>
            </a:r>
            <a:endParaRPr lang="en-US" sz="1400" dirty="0"/>
          </a:p>
        </p:txBody>
      </p:sp>
      <p:sp>
        <p:nvSpPr>
          <p:cNvPr id="16" name="card"/>
          <p:cNvSpPr/>
          <p:nvPr/>
        </p:nvSpPr>
        <p:spPr>
          <a:xfrm>
            <a:off x="8997696" y="1737360"/>
            <a:ext cx="2651760" cy="4023360"/>
          </a:xfrm>
          <a:prstGeom prst="roundRect">
            <a:avLst>
              <a:gd name="adj" fmla="val 2759"/>
            </a:avLst>
          </a:prstGeom>
          <a:solidFill>
            <a:srgbClr val="0F2236"/>
          </a:solidFill>
          <a:ln w="12700">
            <a:solidFill>
              <a:srgbClr val="24496B"/>
            </a:solidFill>
            <a:prstDash val="solid"/>
          </a:ln>
        </p:spPr>
        <p:txBody>
          <a:bodyPr/>
          <a:lstStyle/>
          <a:p>
            <a:endParaRPr lang="en-US"/>
          </a:p>
        </p:txBody>
      </p:sp>
      <p:pic>
        <p:nvPicPr>
          <p:cNvPr id="17" name="Image 3" descr="preencoded.png"/>
          <p:cNvPicPr>
            <a:picLocks noChangeAspect="1"/>
          </p:cNvPicPr>
          <p:nvPr/>
        </p:nvPicPr>
        <p:blipFill>
          <a:blip r:embed="rId8"/>
          <a:stretch>
            <a:fillRect/>
          </a:stretch>
        </p:blipFill>
        <p:spPr>
          <a:xfrm>
            <a:off x="9198864" y="1938528"/>
            <a:ext cx="384048" cy="384048"/>
          </a:xfrm>
          <a:prstGeom prst="rect">
            <a:avLst/>
          </a:prstGeom>
        </p:spPr>
      </p:pic>
      <p:sp>
        <p:nvSpPr>
          <p:cNvPr id="18" name="Text 12"/>
          <p:cNvSpPr txBox="1"/>
          <p:nvPr/>
        </p:nvSpPr>
        <p:spPr>
          <a:xfrm>
            <a:off x="9710928" y="1901952"/>
            <a:ext cx="1801368" cy="457200"/>
          </a:xfrm>
          <a:prstGeom prst="rect">
            <a:avLst/>
          </a:prstGeom>
          <a:noFill/>
          <a:ln/>
        </p:spPr>
        <p:txBody>
          <a:bodyPr wrap="square" lIns="0" tIns="0" rIns="0" bIns="0" rtlCol="0" anchor="ctr"/>
          <a:lstStyle/>
          <a:p>
            <a:pPr marL="0" indent="0">
              <a:buNone/>
            </a:pPr>
            <a:r>
              <a:rPr lang="en-US" sz="1600" b="1" dirty="0">
                <a:solidFill>
                  <a:srgbClr val="E8EEF5"/>
                </a:solidFill>
              </a:rPr>
              <a:t>Behavioral, sleep &amp; cognitive</a:t>
            </a:r>
            <a:endParaRPr lang="en-US" sz="1600" dirty="0"/>
          </a:p>
        </p:txBody>
      </p:sp>
      <p:sp>
        <p:nvSpPr>
          <p:cNvPr id="19" name="Text 13"/>
          <p:cNvSpPr txBox="1"/>
          <p:nvPr/>
        </p:nvSpPr>
        <p:spPr>
          <a:xfrm>
            <a:off x="9198864" y="2450592"/>
            <a:ext cx="22860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Readiness check-in context</a:t>
            </a:r>
            <a:endParaRPr lang="en-US" sz="1400" dirty="0"/>
          </a:p>
          <a:p>
            <a:pPr marL="342900" indent="-342900">
              <a:spcAft>
                <a:spcPts val="400"/>
              </a:spcAft>
              <a:buSzPct val="100000"/>
              <a:buChar char="▪"/>
            </a:pPr>
            <a:r>
              <a:rPr lang="en-US" sz="1400" dirty="0">
                <a:solidFill>
                  <a:srgbClr val="E8EEF5"/>
                </a:solidFill>
              </a:rPr>
              <a:t>99 handbook records (research)</a:t>
            </a:r>
            <a:endParaRPr lang="en-US" sz="1400" dirty="0"/>
          </a:p>
          <a:p>
            <a:pPr marL="342900" indent="-342900">
              <a:spcAft>
                <a:spcPts val="400"/>
              </a:spcAft>
              <a:buSzPct val="100000"/>
              <a:buChar char="▪"/>
            </a:pPr>
            <a:r>
              <a:rPr lang="en-US" sz="1400" dirty="0">
                <a:solidFill>
                  <a:srgbClr val="E8EEF5"/>
                </a:solidFill>
              </a:rPr>
              <a:t>No mental-health diagnosis</a:t>
            </a:r>
            <a:endParaRPr lang="en-US" sz="1400" dirty="0"/>
          </a:p>
        </p:txBody>
      </p:sp>
      <p:sp>
        <p:nvSpPr>
          <p:cNvPr id="20" name="Text 14"/>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src/components/health-domain-workspace.tsx, bone-health-entry.tsx; data/scientific/nikolas-*-intake.v1.json</a:t>
            </a:r>
            <a:endParaRPr lang="en-US" sz="1000" dirty="0"/>
          </a:p>
        </p:txBody>
      </p:sp>
      <p:sp>
        <p:nvSpPr>
          <p:cNvPr id="21"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8</a:t>
            </a:fld>
            <a:endParaRPr lang="en-US"/>
          </a:p>
        </p:txBody>
      </p:sp>
      <p:pic>
        <p:nvPicPr>
          <p:cNvPr id="22" name="narration08">
            <a:hlinkClick r:id="" action="ppaction://media"/>
            <a:extLst>
              <a:ext uri="{FF2B5EF4-FFF2-40B4-BE49-F238E27FC236}">
                <a16:creationId xmlns:a16="http://schemas.microsoft.com/office/drawing/2014/main" id="{F3432D52-937E-8D1D-7C68-EEBFF07170DB}"/>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711501" y="475488"/>
            <a:ext cx="487363" cy="487363"/>
          </a:xfrm>
          <a:prstGeom prst="rect">
            <a:avLst/>
          </a:prstGeom>
        </p:spPr>
      </p:pic>
    </p:spTree>
  </p:cSld>
  <p:clrMapOvr>
    <a:masterClrMapping/>
  </p:clrMapOvr>
  <p:transition spd="slow" advTm="26700">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52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Explainability and personal baselines: compare each astronaut with themselves</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SCIENTIFIC EXPLAINABILITY</a:t>
            </a:r>
            <a:endParaRPr lang="en-US" sz="1100" dirty="0"/>
          </a:p>
        </p:txBody>
      </p:sp>
      <p:sp>
        <p:nvSpPr>
          <p:cNvPr id="4" name="card"/>
          <p:cNvSpPr/>
          <p:nvPr/>
        </p:nvSpPr>
        <p:spPr>
          <a:xfrm>
            <a:off x="548640" y="1737360"/>
            <a:ext cx="2103120" cy="822960"/>
          </a:xfrm>
          <a:prstGeom prst="roundRect">
            <a:avLst>
              <a:gd name="adj" fmla="val 8889"/>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01952"/>
            <a:ext cx="1764792" cy="457200"/>
          </a:xfrm>
          <a:prstGeom prst="rect">
            <a:avLst/>
          </a:prstGeom>
          <a:noFill/>
          <a:ln/>
        </p:spPr>
        <p:txBody>
          <a:bodyPr wrap="square" lIns="0" tIns="0" rIns="0" bIns="0" rtlCol="0" anchor="ctr"/>
          <a:lstStyle/>
          <a:p>
            <a:pPr marL="0" indent="0">
              <a:buNone/>
            </a:pPr>
            <a:r>
              <a:rPr lang="en-US" sz="1500" b="1" dirty="0">
                <a:solidFill>
                  <a:srgbClr val="19B5C9"/>
                </a:solidFill>
              </a:rPr>
              <a:t>Preflight</a:t>
            </a:r>
            <a:endParaRPr lang="en-US" sz="1500" dirty="0"/>
          </a:p>
        </p:txBody>
      </p:sp>
      <p:sp>
        <p:nvSpPr>
          <p:cNvPr id="6" name="card"/>
          <p:cNvSpPr/>
          <p:nvPr/>
        </p:nvSpPr>
        <p:spPr>
          <a:xfrm>
            <a:off x="2798064" y="1737360"/>
            <a:ext cx="2103120" cy="822960"/>
          </a:xfrm>
          <a:prstGeom prst="roundRect">
            <a:avLst>
              <a:gd name="adj" fmla="val 8889"/>
            </a:avLst>
          </a:prstGeom>
          <a:solidFill>
            <a:srgbClr val="0F2236"/>
          </a:solidFill>
          <a:ln w="12700">
            <a:solidFill>
              <a:srgbClr val="24496B"/>
            </a:solidFill>
            <a:prstDash val="solid"/>
          </a:ln>
        </p:spPr>
        <p:txBody>
          <a:bodyPr/>
          <a:lstStyle/>
          <a:p>
            <a:endParaRPr lang="en-US"/>
          </a:p>
        </p:txBody>
      </p:sp>
      <p:sp>
        <p:nvSpPr>
          <p:cNvPr id="7" name="Text 5"/>
          <p:cNvSpPr txBox="1"/>
          <p:nvPr/>
        </p:nvSpPr>
        <p:spPr>
          <a:xfrm>
            <a:off x="2999232" y="1901952"/>
            <a:ext cx="1764792" cy="457200"/>
          </a:xfrm>
          <a:prstGeom prst="rect">
            <a:avLst/>
          </a:prstGeom>
          <a:noFill/>
          <a:ln/>
        </p:spPr>
        <p:txBody>
          <a:bodyPr wrap="square" lIns="0" tIns="0" rIns="0" bIns="0" rtlCol="0" anchor="ctr"/>
          <a:lstStyle/>
          <a:p>
            <a:pPr marL="0" indent="0">
              <a:buNone/>
            </a:pPr>
            <a:r>
              <a:rPr lang="en-US" sz="1500" b="1" dirty="0">
                <a:solidFill>
                  <a:srgbClr val="19B5C9"/>
                </a:solidFill>
              </a:rPr>
              <a:t>Launch transition</a:t>
            </a:r>
            <a:endParaRPr lang="en-US" sz="1500" dirty="0"/>
          </a:p>
        </p:txBody>
      </p:sp>
      <p:sp>
        <p:nvSpPr>
          <p:cNvPr id="8" name="card"/>
          <p:cNvSpPr/>
          <p:nvPr/>
        </p:nvSpPr>
        <p:spPr>
          <a:xfrm>
            <a:off x="5047488" y="1737360"/>
            <a:ext cx="2103120" cy="822960"/>
          </a:xfrm>
          <a:prstGeom prst="roundRect">
            <a:avLst>
              <a:gd name="adj" fmla="val 8889"/>
            </a:avLst>
          </a:prstGeom>
          <a:solidFill>
            <a:srgbClr val="0F2236"/>
          </a:solidFill>
          <a:ln w="12700">
            <a:solidFill>
              <a:srgbClr val="24496B"/>
            </a:solidFill>
            <a:prstDash val="solid"/>
          </a:ln>
        </p:spPr>
        <p:txBody>
          <a:bodyPr/>
          <a:lstStyle/>
          <a:p>
            <a:endParaRPr lang="en-US"/>
          </a:p>
        </p:txBody>
      </p:sp>
      <p:sp>
        <p:nvSpPr>
          <p:cNvPr id="9" name="Text 7"/>
          <p:cNvSpPr txBox="1"/>
          <p:nvPr/>
        </p:nvSpPr>
        <p:spPr>
          <a:xfrm>
            <a:off x="5248656" y="1901952"/>
            <a:ext cx="1764792" cy="457200"/>
          </a:xfrm>
          <a:prstGeom prst="rect">
            <a:avLst/>
          </a:prstGeom>
          <a:noFill/>
          <a:ln/>
        </p:spPr>
        <p:txBody>
          <a:bodyPr wrap="square" lIns="0" tIns="0" rIns="0" bIns="0" rtlCol="0" anchor="ctr"/>
          <a:lstStyle/>
          <a:p>
            <a:pPr marL="0" indent="0">
              <a:buNone/>
            </a:pPr>
            <a:r>
              <a:rPr lang="en-US" sz="1500" b="1" dirty="0">
                <a:solidFill>
                  <a:srgbClr val="F2A93B"/>
                </a:solidFill>
              </a:rPr>
              <a:t>Early adaptation</a:t>
            </a:r>
            <a:endParaRPr lang="en-US" sz="1500" dirty="0"/>
          </a:p>
        </p:txBody>
      </p:sp>
      <p:sp>
        <p:nvSpPr>
          <p:cNvPr id="10" name="card"/>
          <p:cNvSpPr/>
          <p:nvPr/>
        </p:nvSpPr>
        <p:spPr>
          <a:xfrm>
            <a:off x="7296912" y="1737360"/>
            <a:ext cx="2103120" cy="822960"/>
          </a:xfrm>
          <a:prstGeom prst="roundRect">
            <a:avLst>
              <a:gd name="adj" fmla="val 8889"/>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7498080" y="1901952"/>
            <a:ext cx="1764792" cy="457200"/>
          </a:xfrm>
          <a:prstGeom prst="rect">
            <a:avLst/>
          </a:prstGeom>
          <a:noFill/>
          <a:ln/>
        </p:spPr>
        <p:txBody>
          <a:bodyPr wrap="square" lIns="0" tIns="0" rIns="0" bIns="0" rtlCol="0" anchor="ctr"/>
          <a:lstStyle/>
          <a:p>
            <a:pPr marL="0" indent="0">
              <a:buNone/>
            </a:pPr>
            <a:r>
              <a:rPr lang="en-US" sz="1500" b="1" dirty="0">
                <a:solidFill>
                  <a:srgbClr val="3CB371"/>
                </a:solidFill>
              </a:rPr>
              <a:t>Stable mission</a:t>
            </a:r>
            <a:endParaRPr lang="en-US" sz="1500" dirty="0"/>
          </a:p>
        </p:txBody>
      </p:sp>
      <p:sp>
        <p:nvSpPr>
          <p:cNvPr id="12" name="card"/>
          <p:cNvSpPr/>
          <p:nvPr/>
        </p:nvSpPr>
        <p:spPr>
          <a:xfrm>
            <a:off x="9546336" y="1737360"/>
            <a:ext cx="2103120" cy="822960"/>
          </a:xfrm>
          <a:prstGeom prst="roundRect">
            <a:avLst>
              <a:gd name="adj" fmla="val 8889"/>
            </a:avLst>
          </a:prstGeom>
          <a:solidFill>
            <a:srgbClr val="0F2236"/>
          </a:solidFill>
          <a:ln w="12700">
            <a:solidFill>
              <a:srgbClr val="24496B"/>
            </a:solidFill>
            <a:prstDash val="solid"/>
          </a:ln>
        </p:spPr>
        <p:txBody>
          <a:bodyPr/>
          <a:lstStyle/>
          <a:p>
            <a:endParaRPr lang="en-US"/>
          </a:p>
        </p:txBody>
      </p:sp>
      <p:sp>
        <p:nvSpPr>
          <p:cNvPr id="13" name="Text 11"/>
          <p:cNvSpPr txBox="1"/>
          <p:nvPr/>
        </p:nvSpPr>
        <p:spPr>
          <a:xfrm>
            <a:off x="9747504" y="1901952"/>
            <a:ext cx="1764792" cy="457200"/>
          </a:xfrm>
          <a:prstGeom prst="rect">
            <a:avLst/>
          </a:prstGeom>
          <a:noFill/>
          <a:ln/>
        </p:spPr>
        <p:txBody>
          <a:bodyPr wrap="square" lIns="0" tIns="0" rIns="0" bIns="0" rtlCol="0" anchor="ctr"/>
          <a:lstStyle/>
          <a:p>
            <a:pPr marL="0" indent="0">
              <a:buNone/>
            </a:pPr>
            <a:r>
              <a:rPr lang="en-US" sz="1500" b="1" dirty="0">
                <a:solidFill>
                  <a:srgbClr val="19B5C9"/>
                </a:solidFill>
              </a:rPr>
              <a:t>Return / recovery</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6766560" cy="2011680"/>
        </p:xfrm>
        <a:graphic>
          <a:graphicData uri="http://schemas.openxmlformats.org/drawingml/2006/table">
            <a:tbl>
              <a:tblPr/>
              <a:tblGrid>
                <a:gridCol w="18288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19B5C9"/>
                          </a:solidFill>
                        </a:rPr>
                        <a:t>Layer</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300" b="1" dirty="0">
                          <a:solidFill>
                            <a:srgbClr val="19B5C9"/>
                          </a:solidFill>
                        </a:rPr>
                        <a:t>Object</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300" b="1" dirty="0">
                          <a:solidFill>
                            <a:srgbClr val="19B5C9"/>
                          </a:solidFill>
                        </a:rPr>
                        <a:t>Rule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E8EEF5"/>
                          </a:solidFill>
                        </a:rPr>
                        <a:t>Personal baseline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PersonalBaselineComparison</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Deviation + uncertainty, never “abnormal”</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E8EEF5"/>
                          </a:solidFill>
                        </a:rPr>
                        <a:t>Clinical reference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8EEF5"/>
                          </a:solidFill>
                        </a:rPr>
                        <a:t>ClinicalReferenceInterval</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8EEF5"/>
                          </a:solidFill>
                        </a:rPr>
                        <a:t>Assay interval; context only</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E8EEF5"/>
                          </a:solidFill>
                        </a:rPr>
                        <a:t>Mission limit</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MissionOperationalLimit</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Programme rule with authority</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bl>
          </a:graphicData>
        </a:graphic>
      </p:graphicFrame>
      <p:sp>
        <p:nvSpPr>
          <p:cNvPr id="15" name="card"/>
          <p:cNvSpPr/>
          <p:nvPr/>
        </p:nvSpPr>
        <p:spPr>
          <a:xfrm>
            <a:off x="7589520" y="2788920"/>
            <a:ext cx="4023360" cy="2926080"/>
          </a:xfrm>
          <a:prstGeom prst="roundRect">
            <a:avLst>
              <a:gd name="adj" fmla="val 2500"/>
            </a:avLst>
          </a:prstGeom>
          <a:solidFill>
            <a:srgbClr val="0F2236"/>
          </a:solidFill>
          <a:ln w="12700">
            <a:solidFill>
              <a:srgbClr val="24496B"/>
            </a:solidFill>
            <a:prstDash val="solid"/>
          </a:ln>
        </p:spPr>
        <p:txBody>
          <a:bodyPr/>
          <a:lstStyle/>
          <a:p>
            <a:endParaRPr lang="en-US"/>
          </a:p>
        </p:txBody>
      </p:sp>
      <p:pic>
        <p:nvPicPr>
          <p:cNvPr id="16" name="Image 0" descr="preencoded.png"/>
          <p:cNvPicPr>
            <a:picLocks noChangeAspect="1"/>
          </p:cNvPicPr>
          <p:nvPr/>
        </p:nvPicPr>
        <p:blipFill>
          <a:blip r:embed="rId5"/>
          <a:stretch>
            <a:fillRect/>
          </a:stretch>
        </p:blipFill>
        <p:spPr>
          <a:xfrm>
            <a:off x="7790688" y="2990088"/>
            <a:ext cx="384048" cy="384048"/>
          </a:xfrm>
          <a:prstGeom prst="rect">
            <a:avLst/>
          </a:prstGeom>
        </p:spPr>
      </p:pic>
      <p:sp>
        <p:nvSpPr>
          <p:cNvPr id="17" name="Text 13"/>
          <p:cNvSpPr txBox="1"/>
          <p:nvPr/>
        </p:nvSpPr>
        <p:spPr>
          <a:xfrm>
            <a:off x="8302752" y="2953512"/>
            <a:ext cx="3172968" cy="457200"/>
          </a:xfrm>
          <a:prstGeom prst="rect">
            <a:avLst/>
          </a:prstGeom>
          <a:noFill/>
          <a:ln/>
        </p:spPr>
        <p:txBody>
          <a:bodyPr wrap="square" lIns="0" tIns="0" rIns="0" bIns="0" rtlCol="0" anchor="ctr"/>
          <a:lstStyle/>
          <a:p>
            <a:pPr marL="0" indent="0">
              <a:buNone/>
            </a:pPr>
            <a:r>
              <a:rPr lang="en-US" sz="1600" b="1" dirty="0">
                <a:solidFill>
                  <a:srgbClr val="E8EEF5"/>
                </a:solidFill>
              </a:rPr>
              <a:t>Every finding explains</a:t>
            </a:r>
            <a:endParaRPr lang="en-US" sz="1600" dirty="0"/>
          </a:p>
        </p:txBody>
      </p:sp>
      <p:sp>
        <p:nvSpPr>
          <p:cNvPr id="18" name="Text 14"/>
          <p:cNvSpPr txBox="1"/>
          <p:nvPr/>
        </p:nvSpPr>
        <p:spPr>
          <a:xfrm>
            <a:off x="7790688" y="3502152"/>
            <a:ext cx="3657600" cy="2103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What changed and why</a:t>
            </a:r>
            <a:endParaRPr lang="en-US" sz="1400" dirty="0"/>
          </a:p>
          <a:p>
            <a:pPr marL="342900" indent="-342900">
              <a:spcAft>
                <a:spcPts val="400"/>
              </a:spcAft>
              <a:buSzPct val="100000"/>
              <a:buChar char="▪"/>
            </a:pPr>
            <a:r>
              <a:rPr lang="en-US" sz="1400" dirty="0">
                <a:solidFill>
                  <a:srgbClr val="E8EEF5"/>
                </a:solidFill>
              </a:rPr>
              <a:t>Missing evidence, confounders</a:t>
            </a:r>
            <a:endParaRPr lang="en-US" sz="1400" dirty="0"/>
          </a:p>
          <a:p>
            <a:pPr marL="342900" indent="-342900">
              <a:spcAft>
                <a:spcPts val="400"/>
              </a:spcAft>
              <a:buSzPct val="100000"/>
              <a:buChar char="▪"/>
            </a:pPr>
            <a:r>
              <a:rPr lang="en-US" sz="1400" dirty="0">
                <a:solidFill>
                  <a:srgbClr val="E8EEF5"/>
                </a:solidFill>
              </a:rPr>
              <a:t>Confidence breakdown</a:t>
            </a:r>
            <a:endParaRPr lang="en-US" sz="1400" dirty="0"/>
          </a:p>
          <a:p>
            <a:pPr marL="342900" indent="-342900">
              <a:spcAft>
                <a:spcPts val="400"/>
              </a:spcAft>
              <a:buSzPct val="100000"/>
              <a:buChar char="▪"/>
            </a:pPr>
            <a:r>
              <a:rPr lang="en-US" sz="1400" dirty="0">
                <a:solidFill>
                  <a:srgbClr val="E8EEF5"/>
                </a:solidFill>
              </a:rPr>
              <a:t>Uncertainty + source IDs</a:t>
            </a:r>
            <a:endParaRPr lang="en-US" sz="1400" dirty="0"/>
          </a:p>
        </p:txBody>
      </p:sp>
      <p:sp>
        <p:nvSpPr>
          <p:cNvPr id="19" name="Text 15"/>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src/domain/baseline; docs/HEALTH_INTELLIGENCE_V1.md</a:t>
            </a:r>
            <a:endParaRPr lang="en-US" sz="1000" dirty="0"/>
          </a:p>
        </p:txBody>
      </p:sp>
      <p:sp>
        <p:nvSpPr>
          <p:cNvPr id="20"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9</a:t>
            </a:fld>
            <a:endParaRPr lang="en-US"/>
          </a:p>
        </p:txBody>
      </p:sp>
      <p:pic>
        <p:nvPicPr>
          <p:cNvPr id="21" name="narration09">
            <a:hlinkClick r:id="" action="ppaction://media"/>
            <a:extLst>
              <a:ext uri="{FF2B5EF4-FFF2-40B4-BE49-F238E27FC236}">
                <a16:creationId xmlns:a16="http://schemas.microsoft.com/office/drawing/2014/main" id="{703B5832-94A7-20D9-0ADD-565225BDB9D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425936" y="1027334"/>
            <a:ext cx="487363" cy="487363"/>
          </a:xfrm>
          <a:prstGeom prst="rect">
            <a:avLst/>
          </a:prstGeom>
        </p:spPr>
      </p:pic>
    </p:spTree>
  </p:cSld>
  <p:clrMapOvr>
    <a:masterClrMapping/>
  </p:clrMapOvr>
  <p:transition spd="slow" advTm="271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887"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Biomarkers are matched exactly — relationships are shown, never inferred</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BIOMARKERS AND CROSS-DOMAIN RELATIONSHIPS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3520440"/>
        </p:xfrm>
        <a:graphic>
          <a:graphicData uri="http://schemas.openxmlformats.org/drawingml/2006/table">
            <a:tbl>
              <a:tblPr/>
              <a:tblGrid>
                <a:gridCol w="29260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02920">
                <a:tc>
                  <a:txBody>
                    <a:bodyPr/>
                    <a:lstStyle/>
                    <a:p>
                      <a:pPr marL="0" indent="0">
                        <a:buNone/>
                      </a:pPr>
                      <a:r>
                        <a:rPr lang="en-US" sz="1400" b="1" dirty="0">
                          <a:solidFill>
                            <a:srgbClr val="19B5C9"/>
                          </a:solidFill>
                        </a:rPr>
                        <a:t>Relationship</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400" b="1" dirty="0">
                          <a:solidFill>
                            <a:srgbClr val="19B5C9"/>
                          </a:solidFill>
                        </a:rPr>
                        <a:t>Evidence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400" b="1" dirty="0">
                          <a:solidFill>
                            <a:srgbClr val="19B5C9"/>
                          </a:solidFill>
                        </a:rPr>
                        <a:t>Platform behaviour</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E8EEF5"/>
                          </a:solidFill>
                        </a:rPr>
                        <a:t>Sleep ↔ sleepiness ↔ vigilance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3CB371"/>
                          </a:solidFill>
                        </a:rPr>
                        <a:t>supported</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F2A93B"/>
                          </a:solidFill>
                        </a:rPr>
                        <a:t>Research display; DATA QUALITY prompts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E8EEF5"/>
                          </a:solidFill>
                        </a:rPr>
                        <a:t>Workload ↔ sleep ↔ HR/HRV</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3CB371"/>
                          </a:solidFill>
                        </a:rPr>
                        <a:t>supported / limited</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No stress label</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E8EEF5"/>
                          </a:solidFill>
                        </a:rPr>
                        <a:t>Bone unloading ↔ urine calcium</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3CB371"/>
                          </a:solidFill>
                        </a:rPr>
                        <a:t>supported</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No renal-stone score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rgbClr val="E8EEF5"/>
                          </a:solidFill>
                        </a:rPr>
                        <a:t>Bone ↔ vascular (CTX, PWV…)</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F2A93B"/>
                          </a:solidFill>
                        </a:rPr>
                        <a:t>exploratory</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Display only</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rgbClr val="E8EEF5"/>
                          </a:solidFill>
                        </a:rPr>
                        <a:t>Microbiome ↔ immune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05561"/>
                          </a:solidFill>
                        </a:rPr>
                        <a:t>research only</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Never operational</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r h="502920">
                <a:tc>
                  <a:txBody>
                    <a:bodyPr/>
                    <a:lstStyle/>
                    <a:p>
                      <a:pPr marL="0" indent="0">
                        <a:buNone/>
                      </a:pPr>
                      <a:r>
                        <a:rPr lang="en-US" sz="1400" dirty="0">
                          <a:solidFill>
                            <a:srgbClr val="E8EEF5"/>
                          </a:solidFill>
                        </a:rPr>
                        <a:t>CO₂ ↔ cognition</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05561"/>
                          </a:solidFill>
                        </a:rPr>
                        <a:t>conflicting</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No causal rule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6"/>
                  </a:ext>
                </a:extLst>
              </a:tr>
            </a:tbl>
          </a:graphicData>
        </a:graphic>
      </p:graphicFrame>
      <p:sp>
        <p:nvSpPr>
          <p:cNvPr id="5" name="card"/>
          <p:cNvSpPr/>
          <p:nvPr/>
        </p:nvSpPr>
        <p:spPr>
          <a:xfrm>
            <a:off x="8046720" y="1737360"/>
            <a:ext cx="3566160" cy="4023360"/>
          </a:xfrm>
          <a:prstGeom prst="roundRect">
            <a:avLst>
              <a:gd name="adj" fmla="val 2051"/>
            </a:avLst>
          </a:prstGeom>
          <a:solidFill>
            <a:srgbClr val="0F2236"/>
          </a:solidFill>
          <a:ln w="12700">
            <a:solidFill>
              <a:srgbClr val="24496B"/>
            </a:solidFill>
            <a:prstDash val="solid"/>
          </a:ln>
        </p:spPr>
        <p:txBody>
          <a:bodyPr/>
          <a:lstStyle/>
          <a:p>
            <a:endParaRPr lang="en-US"/>
          </a:p>
        </p:txBody>
      </p:sp>
      <p:pic>
        <p:nvPicPr>
          <p:cNvPr id="6" name="Image 0" descr="preencoded.png"/>
          <p:cNvPicPr>
            <a:picLocks noChangeAspect="1"/>
          </p:cNvPicPr>
          <p:nvPr/>
        </p:nvPicPr>
        <p:blipFill>
          <a:blip r:embed="rId5"/>
          <a:stretch>
            <a:fillRect/>
          </a:stretch>
        </p:blipFill>
        <p:spPr>
          <a:xfrm>
            <a:off x="8247888" y="1938528"/>
            <a:ext cx="384048" cy="384048"/>
          </a:xfrm>
          <a:prstGeom prst="rect">
            <a:avLst/>
          </a:prstGeom>
        </p:spPr>
      </p:pic>
      <p:sp>
        <p:nvSpPr>
          <p:cNvPr id="7" name="Text 3"/>
          <p:cNvSpPr txBox="1"/>
          <p:nvPr/>
        </p:nvSpPr>
        <p:spPr>
          <a:xfrm>
            <a:off x="875995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Exact matching</a:t>
            </a:r>
            <a:endParaRPr lang="en-US" sz="1600" dirty="0"/>
          </a:p>
        </p:txBody>
      </p:sp>
      <p:sp>
        <p:nvSpPr>
          <p:cNvPr id="8" name="Text 4"/>
          <p:cNvSpPr txBox="1"/>
          <p:nvPr/>
        </p:nvSpPr>
        <p:spPr>
          <a:xfrm>
            <a:off x="8247888" y="2450592"/>
            <a:ext cx="32004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159 registry entries</a:t>
            </a:r>
            <a:endParaRPr lang="en-US" sz="1400" dirty="0"/>
          </a:p>
          <a:p>
            <a:pPr marL="342900" indent="-342900">
              <a:spcAft>
                <a:spcPts val="400"/>
              </a:spcAft>
              <a:buSzPct val="100000"/>
              <a:buChar char="▪"/>
            </a:pPr>
            <a:r>
              <a:rPr lang="en-US" sz="1400" dirty="0">
                <a:solidFill>
                  <a:srgbClr val="E8EEF5"/>
                </a:solidFill>
              </a:rPr>
              <a:t>96 metric/unit pairs accepted</a:t>
            </a:r>
            <a:endParaRPr lang="en-US" sz="1400" dirty="0"/>
          </a:p>
          <a:p>
            <a:pPr marL="342900" indent="-342900">
              <a:spcAft>
                <a:spcPts val="400"/>
              </a:spcAft>
              <a:buSzPct val="100000"/>
              <a:buChar char="▪"/>
            </a:pPr>
            <a:r>
              <a:rPr lang="en-US" sz="1400" dirty="0">
                <a:solidFill>
                  <a:srgbClr val="E8EEF5"/>
                </a:solidFill>
              </a:rPr>
              <a:t>63 bone: advisory hints</a:t>
            </a:r>
            <a:endParaRPr lang="en-US" sz="1400" dirty="0"/>
          </a:p>
          <a:p>
            <a:pPr marL="342900" indent="-342900">
              <a:spcAft>
                <a:spcPts val="400"/>
              </a:spcAft>
              <a:buSzPct val="100000"/>
              <a:buChar char="▪"/>
            </a:pPr>
            <a:r>
              <a:rPr lang="en-US" sz="1400" dirty="0">
                <a:solidFill>
                  <a:srgbClr val="E8EEF5"/>
                </a:solidFill>
              </a:rPr>
              <a:t>Ranges never imported</a:t>
            </a:r>
            <a:endParaRPr lang="en-US" sz="1400" dirty="0"/>
          </a:p>
          <a:p>
            <a:pPr marL="342900" indent="-342900">
              <a:spcAft>
                <a:spcPts val="400"/>
              </a:spcAft>
              <a:buSzPct val="100000"/>
              <a:buChar char="▪"/>
            </a:pPr>
            <a:r>
              <a:rPr lang="en-US" sz="1400" dirty="0">
                <a:solidFill>
                  <a:srgbClr val="E8EEF5"/>
                </a:solidFill>
              </a:rPr>
              <a:t>No fuzzy or filename routing</a:t>
            </a:r>
            <a:endParaRPr lang="en-US" sz="1400" dirty="0"/>
          </a:p>
        </p:txBody>
      </p:sp>
      <p:sp>
        <p:nvSpPr>
          <p:cNvPr id="9" name="Text 5"/>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data/scientific (biomarker source registry); src/domain/health-intelligence/patterns.ts</a:t>
            </a:r>
            <a:endParaRPr lang="en-US" sz="1000" dirty="0"/>
          </a:p>
        </p:txBody>
      </p:sp>
      <p:sp>
        <p:nvSpPr>
          <p:cNvPr id="10"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10</a:t>
            </a:fld>
            <a:endParaRPr lang="en-US"/>
          </a:p>
        </p:txBody>
      </p:sp>
      <p:pic>
        <p:nvPicPr>
          <p:cNvPr id="11" name="narration10">
            <a:hlinkClick r:id="" action="ppaction://media"/>
            <a:extLst>
              <a:ext uri="{FF2B5EF4-FFF2-40B4-BE49-F238E27FC236}">
                <a16:creationId xmlns:a16="http://schemas.microsoft.com/office/drawing/2014/main" id="{A5877290-6D27-AF08-B4D1-784FE22387D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172241" y="1194652"/>
            <a:ext cx="487363" cy="487363"/>
          </a:xfrm>
          <a:prstGeom prst="rect">
            <a:avLst/>
          </a:prstGeom>
        </p:spPr>
      </p:pic>
    </p:spTree>
  </p:cSld>
  <p:clrMapOvr>
    <a:masterClrMapping/>
  </p:clrMapOvr>
  <p:transition spd="slow" advTm="232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047"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Nikolas’ biological research, integrated as a searchable Research Explorer</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RESEARCH-ONLY SCIENTIFIC INTELLIGENCE</a:t>
            </a:r>
            <a:endParaRPr lang="en-US" sz="1100" dirty="0"/>
          </a:p>
        </p:txBody>
      </p:sp>
      <p:sp>
        <p:nvSpPr>
          <p:cNvPr id="4" name="Shape 2"/>
          <p:cNvSpPr/>
          <p:nvPr/>
        </p:nvSpPr>
        <p:spPr>
          <a:xfrm>
            <a:off x="566928" y="1618488"/>
            <a:ext cx="6089904" cy="2386584"/>
          </a:xfrm>
          <a:prstGeom prst="roundRect">
            <a:avLst>
              <a:gd name="adj" fmla="val 2299"/>
            </a:avLst>
          </a:prstGeom>
          <a:solidFill>
            <a:srgbClr val="FFFFFF"/>
          </a:solidFill>
          <a:ln w="12700">
            <a:solidFill>
              <a:srgbClr val="24496B"/>
            </a:solidFill>
            <a:prstDash val="solid"/>
          </a:ln>
        </p:spPr>
        <p:txBody>
          <a:bodyPr/>
          <a:lstStyle/>
          <a:p>
            <a:endParaRPr lang="en-US"/>
          </a:p>
        </p:txBody>
      </p:sp>
      <p:pic>
        <p:nvPicPr>
          <p:cNvPr id="5" name="Image 0" descr="/home/claude/v5/diagrams/d14_science_intake.png"/>
          <p:cNvPicPr>
            <a:picLocks noChangeAspect="1"/>
          </p:cNvPicPr>
          <p:nvPr/>
        </p:nvPicPr>
        <p:blipFill>
          <a:blip r:embed="rId5"/>
          <a:srcRect/>
          <a:stretch/>
        </p:blipFill>
        <p:spPr>
          <a:xfrm>
            <a:off x="640080" y="1691640"/>
            <a:ext cx="5943600" cy="2240280"/>
          </a:xfrm>
          <a:prstGeom prst="rect">
            <a:avLst/>
          </a:prstGeom>
        </p:spPr>
      </p:pic>
      <p:sp>
        <p:nvSpPr>
          <p:cNvPr id="6" name="Shape 3"/>
          <p:cNvSpPr/>
          <p:nvPr/>
        </p:nvSpPr>
        <p:spPr>
          <a:xfrm>
            <a:off x="6848856" y="1636776"/>
            <a:ext cx="4773168" cy="3063045"/>
          </a:xfrm>
          <a:prstGeom prst="roundRect">
            <a:avLst>
              <a:gd name="adj" fmla="val 1493"/>
            </a:avLst>
          </a:prstGeom>
          <a:solidFill>
            <a:srgbClr val="0F2236"/>
          </a:solidFill>
          <a:ln w="12700">
            <a:solidFill>
              <a:srgbClr val="19B5C9"/>
            </a:solidFill>
            <a:prstDash val="solid"/>
          </a:ln>
        </p:spPr>
        <p:txBody>
          <a:bodyPr/>
          <a:lstStyle/>
          <a:p>
            <a:endParaRPr lang="en-US"/>
          </a:p>
        </p:txBody>
      </p:sp>
      <p:pic>
        <p:nvPicPr>
          <p:cNvPr id="7" name="Image 1" descr="/home/claude/v6/shots_doc/explorer_wbc.jpg"/>
          <p:cNvPicPr>
            <a:picLocks noChangeAspect="1"/>
          </p:cNvPicPr>
          <p:nvPr/>
        </p:nvPicPr>
        <p:blipFill>
          <a:blip r:embed="rId6"/>
          <a:stretch>
            <a:fillRect/>
          </a:stretch>
        </p:blipFill>
        <p:spPr>
          <a:xfrm>
            <a:off x="6903720" y="1691640"/>
            <a:ext cx="4663440" cy="2953317"/>
          </a:xfrm>
          <a:prstGeom prst="rect">
            <a:avLst/>
          </a:prstGeom>
        </p:spPr>
      </p:pic>
      <p:sp>
        <p:nvSpPr>
          <p:cNvPr id="8" name="Text 4"/>
          <p:cNvSpPr txBox="1"/>
          <p:nvPr/>
        </p:nvSpPr>
        <p:spPr>
          <a:xfrm>
            <a:off x="6903720" y="4736397"/>
            <a:ext cx="4663440" cy="256032"/>
          </a:xfrm>
          <a:prstGeom prst="rect">
            <a:avLst/>
          </a:prstGeom>
          <a:noFill/>
          <a:ln/>
        </p:spPr>
        <p:txBody>
          <a:bodyPr wrap="square" lIns="0" tIns="0" rIns="0" bIns="0" rtlCol="0" anchor="ctr"/>
          <a:lstStyle/>
          <a:p>
            <a:pPr marL="0" indent="0" algn="ctr">
              <a:buNone/>
            </a:pPr>
            <a:r>
              <a:rPr lang="en-US" sz="1000" dirty="0">
                <a:solidFill>
                  <a:srgbClr val="93A7BC"/>
                </a:solidFill>
              </a:rPr>
              <a:t>Research Explorer — search “WBC” (live site)</a:t>
            </a:r>
            <a:endParaRPr lang="en-US" sz="1000" dirty="0"/>
          </a:p>
        </p:txBody>
      </p:sp>
      <p:sp>
        <p:nvSpPr>
          <p:cNvPr id="9" name="card"/>
          <p:cNvSpPr/>
          <p:nvPr/>
        </p:nvSpPr>
        <p:spPr>
          <a:xfrm>
            <a:off x="548640" y="4160520"/>
            <a:ext cx="1463040" cy="1417320"/>
          </a:xfrm>
          <a:prstGeom prst="roundRect">
            <a:avLst>
              <a:gd name="adj" fmla="val 5161"/>
            </a:avLst>
          </a:prstGeom>
          <a:solidFill>
            <a:srgbClr val="0F2236"/>
          </a:solidFill>
          <a:ln w="12700">
            <a:solidFill>
              <a:srgbClr val="24496B"/>
            </a:solidFill>
            <a:prstDash val="solid"/>
          </a:ln>
        </p:spPr>
        <p:txBody>
          <a:bodyPr/>
          <a:lstStyle/>
          <a:p>
            <a:endParaRPr lang="en-US"/>
          </a:p>
        </p:txBody>
      </p:sp>
      <p:sp>
        <p:nvSpPr>
          <p:cNvPr id="10" name="Text 6"/>
          <p:cNvSpPr txBox="1"/>
          <p:nvPr/>
        </p:nvSpPr>
        <p:spPr>
          <a:xfrm>
            <a:off x="749808" y="4325112"/>
            <a:ext cx="1124712" cy="457200"/>
          </a:xfrm>
          <a:prstGeom prst="rect">
            <a:avLst/>
          </a:prstGeom>
          <a:noFill/>
          <a:ln/>
        </p:spPr>
        <p:txBody>
          <a:bodyPr wrap="square" lIns="0" tIns="0" rIns="0" bIns="0" rtlCol="0" anchor="ctr"/>
          <a:lstStyle/>
          <a:p>
            <a:pPr marL="0" indent="0">
              <a:buNone/>
            </a:pPr>
            <a:r>
              <a:rPr lang="en-US" sz="1800" b="1" dirty="0">
                <a:solidFill>
                  <a:srgbClr val="19B5C9"/>
                </a:solidFill>
              </a:rPr>
              <a:t>216</a:t>
            </a:r>
            <a:endParaRPr lang="en-US" sz="1800" dirty="0"/>
          </a:p>
        </p:txBody>
      </p:sp>
      <p:sp>
        <p:nvSpPr>
          <p:cNvPr id="11" name="Text 7"/>
          <p:cNvSpPr txBox="1"/>
          <p:nvPr/>
        </p:nvSpPr>
        <p:spPr>
          <a:xfrm>
            <a:off x="749808" y="4873752"/>
            <a:ext cx="1097280" cy="594360"/>
          </a:xfrm>
          <a:prstGeom prst="rect">
            <a:avLst/>
          </a:prstGeom>
          <a:noFill/>
          <a:ln/>
        </p:spPr>
        <p:txBody>
          <a:bodyPr wrap="square" lIns="0" tIns="0" rIns="0" bIns="0" rtlCol="0" anchor="t"/>
          <a:lstStyle/>
          <a:p>
            <a:pPr marL="0" indent="0">
              <a:buNone/>
            </a:pPr>
            <a:r>
              <a:rPr lang="en-US" sz="1100" dirty="0">
                <a:solidFill>
                  <a:srgbClr val="E8EEF5"/>
                </a:solidFill>
              </a:rPr>
              <a:t>source records</a:t>
            </a:r>
            <a:endParaRPr lang="en-US" sz="1100" dirty="0"/>
          </a:p>
        </p:txBody>
      </p:sp>
      <p:sp>
        <p:nvSpPr>
          <p:cNvPr id="12" name="card"/>
          <p:cNvSpPr/>
          <p:nvPr/>
        </p:nvSpPr>
        <p:spPr>
          <a:xfrm>
            <a:off x="2103120" y="4160520"/>
            <a:ext cx="1463040" cy="1417320"/>
          </a:xfrm>
          <a:prstGeom prst="roundRect">
            <a:avLst>
              <a:gd name="adj" fmla="val 5161"/>
            </a:avLst>
          </a:prstGeom>
          <a:solidFill>
            <a:srgbClr val="0F2236"/>
          </a:solidFill>
          <a:ln w="12700">
            <a:solidFill>
              <a:srgbClr val="24496B"/>
            </a:solidFill>
            <a:prstDash val="solid"/>
          </a:ln>
        </p:spPr>
        <p:txBody>
          <a:bodyPr/>
          <a:lstStyle/>
          <a:p>
            <a:endParaRPr lang="en-US"/>
          </a:p>
        </p:txBody>
      </p:sp>
      <p:sp>
        <p:nvSpPr>
          <p:cNvPr id="13" name="Text 9"/>
          <p:cNvSpPr txBox="1"/>
          <p:nvPr/>
        </p:nvSpPr>
        <p:spPr>
          <a:xfrm>
            <a:off x="2304288" y="4325112"/>
            <a:ext cx="1124712" cy="457200"/>
          </a:xfrm>
          <a:prstGeom prst="rect">
            <a:avLst/>
          </a:prstGeom>
          <a:noFill/>
          <a:ln/>
        </p:spPr>
        <p:txBody>
          <a:bodyPr wrap="square" lIns="0" tIns="0" rIns="0" bIns="0" rtlCol="0" anchor="ctr"/>
          <a:lstStyle/>
          <a:p>
            <a:pPr marL="0" indent="0">
              <a:buNone/>
            </a:pPr>
            <a:r>
              <a:rPr lang="en-US" sz="1800" b="1" dirty="0">
                <a:solidFill>
                  <a:srgbClr val="19B5C9"/>
                </a:solidFill>
              </a:rPr>
              <a:t>54</a:t>
            </a:r>
            <a:endParaRPr lang="en-US" sz="1800" dirty="0"/>
          </a:p>
        </p:txBody>
      </p:sp>
      <p:sp>
        <p:nvSpPr>
          <p:cNvPr id="14" name="Text 10"/>
          <p:cNvSpPr txBox="1"/>
          <p:nvPr/>
        </p:nvSpPr>
        <p:spPr>
          <a:xfrm>
            <a:off x="2304288" y="4873752"/>
            <a:ext cx="1097280" cy="594360"/>
          </a:xfrm>
          <a:prstGeom prst="rect">
            <a:avLst/>
          </a:prstGeom>
          <a:noFill/>
          <a:ln/>
        </p:spPr>
        <p:txBody>
          <a:bodyPr wrap="square" lIns="0" tIns="0" rIns="0" bIns="0" rtlCol="0" anchor="t"/>
          <a:lstStyle/>
          <a:p>
            <a:pPr marL="0" indent="0">
              <a:buNone/>
            </a:pPr>
            <a:r>
              <a:rPr lang="en-US" sz="1100" dirty="0">
                <a:solidFill>
                  <a:srgbClr val="E8EEF5"/>
                </a:solidFill>
              </a:rPr>
              <a:t>provisional proposals</a:t>
            </a:r>
            <a:endParaRPr lang="en-US" sz="1100" dirty="0"/>
          </a:p>
        </p:txBody>
      </p:sp>
      <p:sp>
        <p:nvSpPr>
          <p:cNvPr id="15" name="card"/>
          <p:cNvSpPr/>
          <p:nvPr/>
        </p:nvSpPr>
        <p:spPr>
          <a:xfrm>
            <a:off x="3657600" y="4160520"/>
            <a:ext cx="1463040" cy="1417320"/>
          </a:xfrm>
          <a:prstGeom prst="roundRect">
            <a:avLst>
              <a:gd name="adj" fmla="val 5161"/>
            </a:avLst>
          </a:prstGeom>
          <a:solidFill>
            <a:srgbClr val="0F2236"/>
          </a:solidFill>
          <a:ln w="12700">
            <a:solidFill>
              <a:srgbClr val="24496B"/>
            </a:solidFill>
            <a:prstDash val="solid"/>
          </a:ln>
        </p:spPr>
        <p:txBody>
          <a:bodyPr/>
          <a:lstStyle/>
          <a:p>
            <a:endParaRPr lang="en-US"/>
          </a:p>
        </p:txBody>
      </p:sp>
      <p:sp>
        <p:nvSpPr>
          <p:cNvPr id="16" name="Text 12"/>
          <p:cNvSpPr txBox="1"/>
          <p:nvPr/>
        </p:nvSpPr>
        <p:spPr>
          <a:xfrm>
            <a:off x="3858768" y="4325112"/>
            <a:ext cx="1124712" cy="457200"/>
          </a:xfrm>
          <a:prstGeom prst="rect">
            <a:avLst/>
          </a:prstGeom>
          <a:noFill/>
          <a:ln/>
        </p:spPr>
        <p:txBody>
          <a:bodyPr wrap="square" lIns="0" tIns="0" rIns="0" bIns="0" rtlCol="0" anchor="ctr"/>
          <a:lstStyle/>
          <a:p>
            <a:pPr marL="0" indent="0">
              <a:buNone/>
            </a:pPr>
            <a:r>
              <a:rPr lang="en-US" sz="1800" b="1" dirty="0">
                <a:solidFill>
                  <a:srgbClr val="19B5C9"/>
                </a:solidFill>
              </a:rPr>
              <a:t>11 · 42 · 1</a:t>
            </a:r>
            <a:endParaRPr lang="en-US" sz="1800" dirty="0"/>
          </a:p>
        </p:txBody>
      </p:sp>
      <p:sp>
        <p:nvSpPr>
          <p:cNvPr id="17" name="Text 13"/>
          <p:cNvSpPr txBox="1"/>
          <p:nvPr/>
        </p:nvSpPr>
        <p:spPr>
          <a:xfrm>
            <a:off x="3858768" y="4873752"/>
            <a:ext cx="1097280" cy="594360"/>
          </a:xfrm>
          <a:prstGeom prst="rect">
            <a:avLst/>
          </a:prstGeom>
          <a:noFill/>
          <a:ln/>
        </p:spPr>
        <p:txBody>
          <a:bodyPr wrap="square" lIns="0" tIns="0" rIns="0" bIns="0" rtlCol="0" anchor="t"/>
          <a:lstStyle/>
          <a:p>
            <a:pPr marL="0" indent="0">
              <a:buNone/>
            </a:pPr>
            <a:r>
              <a:rPr lang="en-US" sz="1100" dirty="0">
                <a:solidFill>
                  <a:srgbClr val="E8EEF5"/>
                </a:solidFill>
              </a:rPr>
              <a:t>equivalence · component · related</a:t>
            </a:r>
            <a:endParaRPr lang="en-US" sz="1100" dirty="0"/>
          </a:p>
        </p:txBody>
      </p:sp>
      <p:sp>
        <p:nvSpPr>
          <p:cNvPr id="18" name="card"/>
          <p:cNvSpPr/>
          <p:nvPr/>
        </p:nvSpPr>
        <p:spPr>
          <a:xfrm>
            <a:off x="5212080" y="4160520"/>
            <a:ext cx="1463040" cy="1417320"/>
          </a:xfrm>
          <a:prstGeom prst="roundRect">
            <a:avLst>
              <a:gd name="adj" fmla="val 5161"/>
            </a:avLst>
          </a:prstGeom>
          <a:solidFill>
            <a:srgbClr val="0F2236"/>
          </a:solidFill>
          <a:ln w="12700">
            <a:solidFill>
              <a:srgbClr val="24496B"/>
            </a:solidFill>
            <a:prstDash val="solid"/>
          </a:ln>
        </p:spPr>
        <p:txBody>
          <a:bodyPr/>
          <a:lstStyle/>
          <a:p>
            <a:endParaRPr lang="en-US"/>
          </a:p>
        </p:txBody>
      </p:sp>
      <p:sp>
        <p:nvSpPr>
          <p:cNvPr id="19" name="Text 15"/>
          <p:cNvSpPr txBox="1"/>
          <p:nvPr/>
        </p:nvSpPr>
        <p:spPr>
          <a:xfrm>
            <a:off x="5413248" y="4325112"/>
            <a:ext cx="1124712" cy="457200"/>
          </a:xfrm>
          <a:prstGeom prst="rect">
            <a:avLst/>
          </a:prstGeom>
          <a:noFill/>
          <a:ln/>
        </p:spPr>
        <p:txBody>
          <a:bodyPr wrap="square" lIns="0" tIns="0" rIns="0" bIns="0" rtlCol="0" anchor="ctr"/>
          <a:lstStyle/>
          <a:p>
            <a:pPr marL="0" indent="0">
              <a:buNone/>
            </a:pPr>
            <a:r>
              <a:rPr lang="en-US" sz="1800" b="1" dirty="0">
                <a:solidFill>
                  <a:srgbClr val="19B5C9"/>
                </a:solidFill>
              </a:rPr>
              <a:t>0 · 0</a:t>
            </a:r>
            <a:endParaRPr lang="en-US" sz="1800" dirty="0"/>
          </a:p>
        </p:txBody>
      </p:sp>
      <p:sp>
        <p:nvSpPr>
          <p:cNvPr id="20" name="Text 16"/>
          <p:cNvSpPr txBox="1"/>
          <p:nvPr/>
        </p:nvSpPr>
        <p:spPr>
          <a:xfrm>
            <a:off x="5413248" y="4873752"/>
            <a:ext cx="1097280" cy="594360"/>
          </a:xfrm>
          <a:prstGeom prst="rect">
            <a:avLst/>
          </a:prstGeom>
          <a:noFill/>
          <a:ln/>
        </p:spPr>
        <p:txBody>
          <a:bodyPr wrap="square" lIns="0" tIns="0" rIns="0" bIns="0" rtlCol="0" anchor="t"/>
          <a:lstStyle/>
          <a:p>
            <a:pPr marL="0" indent="0">
              <a:buNone/>
            </a:pPr>
            <a:r>
              <a:rPr lang="en-US" sz="1100" dirty="0">
                <a:solidFill>
                  <a:srgbClr val="E8EEF5"/>
                </a:solidFill>
              </a:rPr>
              <a:t>approvals · activations</a:t>
            </a:r>
            <a:endParaRPr lang="en-US" sz="1100" dirty="0"/>
          </a:p>
        </p:txBody>
      </p:sp>
      <p:sp>
        <p:nvSpPr>
          <p:cNvPr id="21" name="Text 17"/>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data/scientific/nikolas-*-intake.v1.json, p43-semantic-decision-proposals.v1.json; src/components/scientific-research-candidates.tsx</a:t>
            </a:r>
            <a:endParaRPr lang="en-US" sz="1000" dirty="0"/>
          </a:p>
        </p:txBody>
      </p:sp>
      <p:sp>
        <p:nvSpPr>
          <p:cNvPr id="2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11</a:t>
            </a:fld>
            <a:endParaRPr lang="en-US"/>
          </a:p>
        </p:txBody>
      </p:sp>
      <p:pic>
        <p:nvPicPr>
          <p:cNvPr id="23" name="narration11">
            <a:hlinkClick r:id="" action="ppaction://media"/>
            <a:extLst>
              <a:ext uri="{FF2B5EF4-FFF2-40B4-BE49-F238E27FC236}">
                <a16:creationId xmlns:a16="http://schemas.microsoft.com/office/drawing/2014/main" id="{ECB5D5F7-83F0-1371-4ED5-885E303B682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386178" y="1078992"/>
            <a:ext cx="487363" cy="487363"/>
          </a:xfrm>
          <a:prstGeom prst="rect">
            <a:avLst/>
          </a:prstGeom>
        </p:spPr>
      </p:pic>
    </p:spTree>
  </p:cSld>
  <p:clrMapOvr>
    <a:masterClrMapping/>
  </p:clrMapOvr>
  <p:transition spd="slow" advTm="28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115"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Every claim traces back to a file, a hash or a ledger</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SCIENTIFIC PROVENANCE</a:t>
            </a:r>
            <a:endParaRPr lang="en-US" sz="1100" dirty="0"/>
          </a:p>
        </p:txBody>
      </p:sp>
      <p:sp>
        <p:nvSpPr>
          <p:cNvPr id="4" name="card"/>
          <p:cNvSpPr/>
          <p:nvPr/>
        </p:nvSpPr>
        <p:spPr>
          <a:xfrm>
            <a:off x="548640" y="1737360"/>
            <a:ext cx="3566160" cy="4023360"/>
          </a:xfrm>
          <a:prstGeom prst="roundRect">
            <a:avLst>
              <a:gd name="adj" fmla="val 2051"/>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Scientific sources</a:t>
            </a:r>
            <a:endParaRPr lang="en-US" sz="1600" dirty="0"/>
          </a:p>
        </p:txBody>
      </p:sp>
      <p:sp>
        <p:nvSpPr>
          <p:cNvPr id="7" name="Text 4"/>
          <p:cNvSpPr txBox="1"/>
          <p:nvPr/>
        </p:nvSpPr>
        <p:spPr>
          <a:xfrm>
            <a:off x="749808" y="2450592"/>
            <a:ext cx="32004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Greek handbooks byte-identical (SHA-256 tests)</a:t>
            </a:r>
            <a:endParaRPr lang="en-US" sz="1400" dirty="0"/>
          </a:p>
          <a:p>
            <a:pPr marL="342900" indent="-342900">
              <a:spcAft>
                <a:spcPts val="400"/>
              </a:spcAft>
              <a:buSzPct val="100000"/>
              <a:buChar char="▪"/>
            </a:pPr>
            <a:r>
              <a:rPr lang="en-US" sz="1400" dirty="0">
                <a:solidFill>
                  <a:srgbClr val="E8EEF5"/>
                </a:solidFill>
              </a:rPr>
              <a:t>English layers joined by ID</a:t>
            </a:r>
            <a:endParaRPr lang="en-US" sz="1400" dirty="0"/>
          </a:p>
          <a:p>
            <a:pPr marL="342900" indent="-342900">
              <a:spcAft>
                <a:spcPts val="400"/>
              </a:spcAft>
              <a:buSzPct val="100000"/>
              <a:buChar char="▪"/>
            </a:pPr>
            <a:r>
              <a:rPr lang="en-US" sz="1400" dirty="0">
                <a:solidFill>
                  <a:srgbClr val="E8EEF5"/>
                </a:solidFill>
              </a:rPr>
              <a:t>Source evidence labels attributed, not endorsed</a:t>
            </a:r>
            <a:endParaRPr lang="en-US" sz="1400" dirty="0"/>
          </a:p>
        </p:txBody>
      </p:sp>
      <p:sp>
        <p:nvSpPr>
          <p:cNvPr id="8" name="card"/>
          <p:cNvSpPr/>
          <p:nvPr/>
        </p:nvSpPr>
        <p:spPr>
          <a:xfrm>
            <a:off x="4297680" y="1737360"/>
            <a:ext cx="3566160" cy="4023360"/>
          </a:xfrm>
          <a:prstGeom prst="roundRect">
            <a:avLst>
              <a:gd name="adj" fmla="val 2051"/>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4498848" y="1938528"/>
            <a:ext cx="384048" cy="384048"/>
          </a:xfrm>
          <a:prstGeom prst="rect">
            <a:avLst/>
          </a:prstGeom>
        </p:spPr>
      </p:pic>
      <p:sp>
        <p:nvSpPr>
          <p:cNvPr id="10" name="Text 6"/>
          <p:cNvSpPr txBox="1"/>
          <p:nvPr/>
        </p:nvSpPr>
        <p:spPr>
          <a:xfrm>
            <a:off x="501091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Evidence records</a:t>
            </a:r>
            <a:endParaRPr lang="en-US" sz="1600" dirty="0"/>
          </a:p>
        </p:txBody>
      </p:sp>
      <p:sp>
        <p:nvSpPr>
          <p:cNvPr id="11" name="Text 7"/>
          <p:cNvSpPr txBox="1"/>
          <p:nvPr/>
        </p:nvSpPr>
        <p:spPr>
          <a:xfrm>
            <a:off x="4498848" y="2450592"/>
            <a:ext cx="32004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Source SHA-256 + excerpt</a:t>
            </a:r>
            <a:endParaRPr lang="en-US" sz="1400" dirty="0"/>
          </a:p>
          <a:p>
            <a:pPr marL="342900" indent="-342900">
              <a:spcAft>
                <a:spcPts val="400"/>
              </a:spcAft>
              <a:buSzPct val="100000"/>
              <a:buChar char="▪"/>
            </a:pPr>
            <a:r>
              <a:rPr lang="en-US" sz="1400" dirty="0">
                <a:solidFill>
                  <a:srgbClr val="E8EEF5"/>
                </a:solidFill>
              </a:rPr>
              <a:t>Submitter / reviewer snapshots</a:t>
            </a:r>
            <a:endParaRPr lang="en-US" sz="1400" dirty="0"/>
          </a:p>
          <a:p>
            <a:pPr marL="342900" indent="-342900">
              <a:spcAft>
                <a:spcPts val="400"/>
              </a:spcAft>
              <a:buSzPct val="100000"/>
              <a:buChar char="▪"/>
            </a:pPr>
            <a:r>
              <a:rPr lang="en-US" sz="1400" dirty="0">
                <a:solidFill>
                  <a:srgbClr val="E8EEF5"/>
                </a:solidFill>
              </a:rPr>
              <a:t>Decision receipt + one event</a:t>
            </a:r>
            <a:endParaRPr lang="en-US" sz="1400" dirty="0"/>
          </a:p>
          <a:p>
            <a:pPr marL="342900" indent="-342900">
              <a:spcAft>
                <a:spcPts val="400"/>
              </a:spcAft>
              <a:buSzPct val="100000"/>
              <a:buChar char="▪"/>
            </a:pPr>
            <a:r>
              <a:rPr lang="en-US" sz="1400" dirty="0">
                <a:solidFill>
                  <a:srgbClr val="E8EEF5"/>
                </a:solidFill>
              </a:rPr>
              <a:t>Audit rows without values</a:t>
            </a:r>
            <a:endParaRPr lang="en-US" sz="1400" dirty="0"/>
          </a:p>
        </p:txBody>
      </p:sp>
      <p:sp>
        <p:nvSpPr>
          <p:cNvPr id="12" name="card"/>
          <p:cNvSpPr/>
          <p:nvPr/>
        </p:nvSpPr>
        <p:spPr>
          <a:xfrm>
            <a:off x="8046720" y="1737360"/>
            <a:ext cx="3566160" cy="4023360"/>
          </a:xfrm>
          <a:prstGeom prst="roundRect">
            <a:avLst>
              <a:gd name="adj" fmla="val 2051"/>
            </a:avLst>
          </a:prstGeom>
          <a:solidFill>
            <a:srgbClr val="0F2236"/>
          </a:solidFill>
          <a:ln w="12700">
            <a:solidFill>
              <a:srgbClr val="24496B"/>
            </a:solidFill>
            <a:prstDash val="solid"/>
          </a:ln>
        </p:spPr>
        <p:txBody>
          <a:bodyPr/>
          <a:lstStyle/>
          <a:p>
            <a:endParaRPr lang="en-US"/>
          </a:p>
        </p:txBody>
      </p:sp>
      <p:pic>
        <p:nvPicPr>
          <p:cNvPr id="13" name="Image 2" descr="preencoded.png"/>
          <p:cNvPicPr>
            <a:picLocks noChangeAspect="1"/>
          </p:cNvPicPr>
          <p:nvPr/>
        </p:nvPicPr>
        <p:blipFill>
          <a:blip r:embed="rId7"/>
          <a:stretch>
            <a:fillRect/>
          </a:stretch>
        </p:blipFill>
        <p:spPr>
          <a:xfrm>
            <a:off x="8247888" y="1938528"/>
            <a:ext cx="384048" cy="384048"/>
          </a:xfrm>
          <a:prstGeom prst="rect">
            <a:avLst/>
          </a:prstGeom>
        </p:spPr>
      </p:pic>
      <p:sp>
        <p:nvSpPr>
          <p:cNvPr id="14" name="Text 9"/>
          <p:cNvSpPr txBox="1"/>
          <p:nvPr/>
        </p:nvSpPr>
        <p:spPr>
          <a:xfrm>
            <a:off x="875995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Governed ledgers</a:t>
            </a:r>
            <a:endParaRPr lang="en-US" sz="1600" dirty="0"/>
          </a:p>
        </p:txBody>
      </p:sp>
      <p:sp>
        <p:nvSpPr>
          <p:cNvPr id="15" name="Text 10"/>
          <p:cNvSpPr txBox="1"/>
          <p:nvPr/>
        </p:nvSpPr>
        <p:spPr>
          <a:xfrm>
            <a:off x="8247888" y="2450592"/>
            <a:ext cx="3200400" cy="32004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Validation and usability criteria</a:t>
            </a:r>
            <a:endParaRPr lang="en-US" sz="1400" dirty="0"/>
          </a:p>
          <a:p>
            <a:pPr marL="342900" indent="-342900">
              <a:spcAft>
                <a:spcPts val="400"/>
              </a:spcAft>
              <a:buSzPct val="100000"/>
              <a:buChar char="▪"/>
            </a:pPr>
            <a:r>
              <a:rPr lang="en-US" sz="1400" dirty="0">
                <a:solidFill>
                  <a:srgbClr val="E8EEF5"/>
                </a:solidFill>
              </a:rPr>
              <a:t>Scientific review workbook (216 rows)</a:t>
            </a:r>
            <a:endParaRPr lang="en-US" sz="1400" dirty="0"/>
          </a:p>
          <a:p>
            <a:pPr marL="342900" indent="-342900">
              <a:spcAft>
                <a:spcPts val="400"/>
              </a:spcAft>
              <a:buSzPct val="100000"/>
              <a:buChar char="▪"/>
            </a:pPr>
            <a:r>
              <a:rPr lang="en-US" sz="1400" dirty="0">
                <a:solidFill>
                  <a:srgbClr val="E8EEF5"/>
                </a:solidFill>
              </a:rPr>
              <a:t>Evidence freeze + submission handoff</a:t>
            </a:r>
            <a:endParaRPr lang="en-US" sz="1400" dirty="0"/>
          </a:p>
          <a:p>
            <a:pPr marL="342900" indent="-342900">
              <a:spcAft>
                <a:spcPts val="400"/>
              </a:spcAft>
              <a:buSzPct val="100000"/>
              <a:buChar char="▪"/>
            </a:pPr>
            <a:r>
              <a:rPr lang="en-US" sz="1400" dirty="0">
                <a:solidFill>
                  <a:srgbClr val="E8EEF5"/>
                </a:solidFill>
              </a:rPr>
              <a:t>12 automated scientific verifiers</a:t>
            </a:r>
            <a:endParaRPr lang="en-US" sz="1400" dirty="0"/>
          </a:p>
        </p:txBody>
      </p:sp>
      <p:sp>
        <p:nvSpPr>
          <p:cNvPr id="16" name="Text 11"/>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src/domain/scientific-localization; data/scientific/*; data/submission/*; scripts/verify-*.mjs</a:t>
            </a:r>
            <a:endParaRPr lang="en-US" sz="1000" dirty="0"/>
          </a:p>
        </p:txBody>
      </p:sp>
      <p:sp>
        <p:nvSpPr>
          <p:cNvPr id="17"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12</a:t>
            </a:fld>
            <a:endParaRPr lang="en-US"/>
          </a:p>
        </p:txBody>
      </p:sp>
      <p:pic>
        <p:nvPicPr>
          <p:cNvPr id="18" name="narration12">
            <a:hlinkClick r:id="" action="ppaction://media"/>
            <a:extLst>
              <a:ext uri="{FF2B5EF4-FFF2-40B4-BE49-F238E27FC236}">
                <a16:creationId xmlns:a16="http://schemas.microsoft.com/office/drawing/2014/main" id="{FB184745-901D-C253-BB89-B7F1CA1E468A}"/>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132136" y="548640"/>
            <a:ext cx="487363" cy="487363"/>
          </a:xfrm>
          <a:prstGeom prst="rect">
            <a:avLst/>
          </a:prstGeom>
        </p:spPr>
      </p:pic>
    </p:spTree>
  </p:cSld>
  <p:clrMapOvr>
    <a:masterClrMapping/>
  </p:clrMapOvr>
  <p:transition spd="slow" advTm="262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973"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Architecture: the cloud is not in the sensor-to-astronaut path</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SYSTEM ARCHITECTURE AND OPEN-SOURCE IMPLEMENTATION</a:t>
            </a:r>
            <a:endParaRPr lang="en-US" sz="1100" dirty="0"/>
          </a:p>
        </p:txBody>
      </p:sp>
      <p:sp>
        <p:nvSpPr>
          <p:cNvPr id="4" name="Shape 2"/>
          <p:cNvSpPr/>
          <p:nvPr/>
        </p:nvSpPr>
        <p:spPr>
          <a:xfrm>
            <a:off x="566928" y="1618488"/>
            <a:ext cx="7095744" cy="3941064"/>
          </a:xfrm>
          <a:prstGeom prst="roundRect">
            <a:avLst>
              <a:gd name="adj" fmla="val 1392"/>
            </a:avLst>
          </a:prstGeom>
          <a:solidFill>
            <a:srgbClr val="FFFFFF"/>
          </a:solidFill>
          <a:ln w="12700">
            <a:solidFill>
              <a:srgbClr val="24496B"/>
            </a:solidFill>
            <a:prstDash val="solid"/>
          </a:ln>
        </p:spPr>
        <p:txBody>
          <a:bodyPr/>
          <a:lstStyle/>
          <a:p>
            <a:endParaRPr lang="en-US"/>
          </a:p>
        </p:txBody>
      </p:sp>
      <p:pic>
        <p:nvPicPr>
          <p:cNvPr id="5" name="Image 0" descr="/home/claude/v5/diagrams/d1_architecture.png"/>
          <p:cNvPicPr>
            <a:picLocks noChangeAspect="1"/>
          </p:cNvPicPr>
          <p:nvPr/>
        </p:nvPicPr>
        <p:blipFill>
          <a:blip r:embed="rId5"/>
          <a:srcRect/>
          <a:stretch/>
        </p:blipFill>
        <p:spPr>
          <a:xfrm>
            <a:off x="640080" y="1691640"/>
            <a:ext cx="6949440" cy="3794760"/>
          </a:xfrm>
          <a:prstGeom prst="rect">
            <a:avLst/>
          </a:prstGeom>
        </p:spPr>
      </p:pic>
      <p:sp>
        <p:nvSpPr>
          <p:cNvPr id="6" name="card"/>
          <p:cNvSpPr/>
          <p:nvPr/>
        </p:nvSpPr>
        <p:spPr>
          <a:xfrm>
            <a:off x="7863840" y="1691640"/>
            <a:ext cx="3749040" cy="3931920"/>
          </a:xfrm>
          <a:prstGeom prst="roundRect">
            <a:avLst>
              <a:gd name="adj" fmla="val 1951"/>
            </a:avLst>
          </a:prstGeom>
          <a:solidFill>
            <a:srgbClr val="0F2236"/>
          </a:solidFill>
          <a:ln w="12700">
            <a:solidFill>
              <a:srgbClr val="24496B"/>
            </a:solidFill>
            <a:prstDash val="solid"/>
          </a:ln>
        </p:spPr>
        <p:txBody>
          <a:bodyPr/>
          <a:lstStyle/>
          <a:p>
            <a:endParaRPr lang="en-US"/>
          </a:p>
        </p:txBody>
      </p:sp>
      <p:pic>
        <p:nvPicPr>
          <p:cNvPr id="7" name="Image 1" descr="preencoded.png"/>
          <p:cNvPicPr>
            <a:picLocks noChangeAspect="1"/>
          </p:cNvPicPr>
          <p:nvPr/>
        </p:nvPicPr>
        <p:blipFill>
          <a:blip r:embed="rId6"/>
          <a:stretch>
            <a:fillRect/>
          </a:stretch>
        </p:blipFill>
        <p:spPr>
          <a:xfrm>
            <a:off x="8065008" y="1892808"/>
            <a:ext cx="384048" cy="384048"/>
          </a:xfrm>
          <a:prstGeom prst="rect">
            <a:avLst/>
          </a:prstGeom>
        </p:spPr>
      </p:pic>
      <p:sp>
        <p:nvSpPr>
          <p:cNvPr id="8" name="Text 4"/>
          <p:cNvSpPr txBox="1"/>
          <p:nvPr/>
        </p:nvSpPr>
        <p:spPr>
          <a:xfrm>
            <a:off x="8577072" y="1856232"/>
            <a:ext cx="2898648" cy="457200"/>
          </a:xfrm>
          <a:prstGeom prst="rect">
            <a:avLst/>
          </a:prstGeom>
          <a:noFill/>
          <a:ln/>
        </p:spPr>
        <p:txBody>
          <a:bodyPr wrap="square" lIns="0" tIns="0" rIns="0" bIns="0" rtlCol="0" anchor="ctr"/>
          <a:lstStyle/>
          <a:p>
            <a:pPr marL="0" indent="0">
              <a:buNone/>
            </a:pPr>
            <a:r>
              <a:rPr lang="en-US" sz="1600" b="1" dirty="0">
                <a:solidFill>
                  <a:srgbClr val="E8EEF5"/>
                </a:solidFill>
              </a:rPr>
              <a:t>Open-source implementation</a:t>
            </a:r>
            <a:endParaRPr lang="en-US" sz="1600" dirty="0"/>
          </a:p>
        </p:txBody>
      </p:sp>
      <p:sp>
        <p:nvSpPr>
          <p:cNvPr id="9" name="Text 5"/>
          <p:cNvSpPr txBox="1"/>
          <p:nvPr/>
        </p:nvSpPr>
        <p:spPr>
          <a:xfrm>
            <a:off x="8065008" y="2404872"/>
            <a:ext cx="338328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Apache-2.0 on GitHub</a:t>
            </a:r>
            <a:endParaRPr lang="en-US" sz="1400" dirty="0"/>
          </a:p>
          <a:p>
            <a:pPr marL="342900" indent="-342900">
              <a:spcAft>
                <a:spcPts val="400"/>
              </a:spcAft>
              <a:buSzPct val="100000"/>
              <a:buChar char="▪"/>
            </a:pPr>
            <a:r>
              <a:rPr lang="en-US" sz="1400" dirty="0">
                <a:solidFill>
                  <a:srgbClr val="E8EEF5"/>
                </a:solidFill>
              </a:rPr>
              <a:t>TanStack Start · React 19 · Supabase</a:t>
            </a:r>
            <a:endParaRPr lang="en-US" sz="1400" dirty="0"/>
          </a:p>
          <a:p>
            <a:pPr marL="342900" indent="-342900">
              <a:spcAft>
                <a:spcPts val="400"/>
              </a:spcAft>
              <a:buSzPct val="100000"/>
              <a:buChar char="▪"/>
            </a:pPr>
            <a:r>
              <a:rPr lang="en-US" sz="1400" dirty="0">
                <a:solidFill>
                  <a:srgbClr val="E8EEF5"/>
                </a:solidFill>
              </a:rPr>
              <a:t>Forced RLS; RPC-only writes</a:t>
            </a:r>
            <a:endParaRPr lang="en-US" sz="1400" dirty="0"/>
          </a:p>
          <a:p>
            <a:pPr marL="342900" indent="-342900">
              <a:spcAft>
                <a:spcPts val="400"/>
              </a:spcAft>
              <a:buSzPct val="100000"/>
              <a:buChar char="▪"/>
            </a:pPr>
            <a:r>
              <a:rPr lang="en-US" sz="1400" dirty="0">
                <a:solidFill>
                  <a:srgbClr val="E8EEF5"/>
                </a:solidFill>
              </a:rPr>
              <a:t>Governed migrations 0000–0010</a:t>
            </a:r>
            <a:endParaRPr lang="en-US" sz="1400" dirty="0"/>
          </a:p>
          <a:p>
            <a:pPr marL="342900" indent="-342900">
              <a:spcAft>
                <a:spcPts val="400"/>
              </a:spcAft>
              <a:buSzPct val="100000"/>
              <a:buChar char="▪"/>
            </a:pPr>
            <a:r>
              <a:rPr lang="en-US" sz="1400" dirty="0">
                <a:solidFill>
                  <a:srgbClr val="E8EEF5"/>
                </a:solidFill>
              </a:rPr>
              <a:t>Self-hosting with Docker</a:t>
            </a:r>
            <a:endParaRPr lang="en-US" sz="1400" dirty="0"/>
          </a:p>
        </p:txBody>
      </p:sp>
      <p:sp>
        <p:nvSpPr>
          <p:cNvPr id="10" name="Text 6"/>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github.com/computech-gr/astro-vitality-core; docs/ARCHITECTURE.md; drizzle/migrations</a:t>
            </a:r>
            <a:endParaRPr lang="en-US" sz="1000" dirty="0"/>
          </a:p>
        </p:txBody>
      </p:sp>
      <p:sp>
        <p:nvSpPr>
          <p:cNvPr id="11"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13</a:t>
            </a:fld>
            <a:endParaRPr lang="en-US"/>
          </a:p>
        </p:txBody>
      </p:sp>
      <p:pic>
        <p:nvPicPr>
          <p:cNvPr id="12" name="narration13">
            <a:hlinkClick r:id="" action="ppaction://media"/>
            <a:extLst>
              <a:ext uri="{FF2B5EF4-FFF2-40B4-BE49-F238E27FC236}">
                <a16:creationId xmlns:a16="http://schemas.microsoft.com/office/drawing/2014/main" id="{963CAE0D-8EF6-0023-FD46-7D7A480FCB8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034417" y="457200"/>
            <a:ext cx="487363" cy="487363"/>
          </a:xfrm>
          <a:prstGeom prst="rect">
            <a:avLst/>
          </a:prstGeom>
        </p:spPr>
      </p:pic>
    </p:spTree>
  </p:cSld>
  <p:clrMapOvr>
    <a:masterClrMapping/>
  </p:clrMapOvr>
  <p:transition spd="slow" advTm="263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77"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Four mission-scoped roles, enforced in the database</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ROLES, IDENTITY AND SEPARATION OF DUTIES</a:t>
            </a:r>
            <a:endParaRPr lang="en-US" sz="1100" dirty="0"/>
          </a:p>
        </p:txBody>
      </p:sp>
      <p:sp>
        <p:nvSpPr>
          <p:cNvPr id="4" name="Shape 2"/>
          <p:cNvSpPr/>
          <p:nvPr/>
        </p:nvSpPr>
        <p:spPr>
          <a:xfrm>
            <a:off x="566928" y="1618488"/>
            <a:ext cx="5632704" cy="3529584"/>
          </a:xfrm>
          <a:prstGeom prst="roundRect">
            <a:avLst>
              <a:gd name="adj" fmla="val 1554"/>
            </a:avLst>
          </a:prstGeom>
          <a:solidFill>
            <a:srgbClr val="FFFFFF"/>
          </a:solidFill>
          <a:ln w="12700">
            <a:solidFill>
              <a:srgbClr val="24496B"/>
            </a:solidFill>
            <a:prstDash val="solid"/>
          </a:ln>
        </p:spPr>
        <p:txBody>
          <a:bodyPr/>
          <a:lstStyle/>
          <a:p>
            <a:endParaRPr lang="en-US"/>
          </a:p>
        </p:txBody>
      </p:sp>
      <p:pic>
        <p:nvPicPr>
          <p:cNvPr id="5" name="Image 0" descr="/home/claude/v5/diagrams/d4_role_matrix.png"/>
          <p:cNvPicPr>
            <a:picLocks noChangeAspect="1"/>
          </p:cNvPicPr>
          <p:nvPr/>
        </p:nvPicPr>
        <p:blipFill>
          <a:blip r:embed="rId5"/>
          <a:srcRect/>
          <a:stretch/>
        </p:blipFill>
        <p:spPr>
          <a:xfrm>
            <a:off x="640080" y="1691640"/>
            <a:ext cx="5486400" cy="3383280"/>
          </a:xfrm>
          <a:prstGeom prst="rect">
            <a:avLst/>
          </a:prstGeom>
        </p:spPr>
      </p:pic>
      <p:sp>
        <p:nvSpPr>
          <p:cNvPr id="6" name="card"/>
          <p:cNvSpPr/>
          <p:nvPr/>
        </p:nvSpPr>
        <p:spPr>
          <a:xfrm>
            <a:off x="6400800" y="1691640"/>
            <a:ext cx="5212080" cy="3931920"/>
          </a:xfrm>
          <a:prstGeom prst="roundRect">
            <a:avLst>
              <a:gd name="adj" fmla="val 1860"/>
            </a:avLst>
          </a:prstGeom>
          <a:solidFill>
            <a:srgbClr val="0F2236"/>
          </a:solidFill>
          <a:ln w="12700">
            <a:solidFill>
              <a:srgbClr val="24496B"/>
            </a:solidFill>
            <a:prstDash val="solid"/>
          </a:ln>
        </p:spPr>
        <p:txBody>
          <a:bodyPr/>
          <a:lstStyle/>
          <a:p>
            <a:endParaRPr lang="en-US"/>
          </a:p>
        </p:txBody>
      </p:sp>
      <p:pic>
        <p:nvPicPr>
          <p:cNvPr id="7" name="Image 1" descr="preencoded.png"/>
          <p:cNvPicPr>
            <a:picLocks noChangeAspect="1"/>
          </p:cNvPicPr>
          <p:nvPr/>
        </p:nvPicPr>
        <p:blipFill>
          <a:blip r:embed="rId6"/>
          <a:stretch>
            <a:fillRect/>
          </a:stretch>
        </p:blipFill>
        <p:spPr>
          <a:xfrm>
            <a:off x="6601968" y="1892808"/>
            <a:ext cx="384048" cy="384048"/>
          </a:xfrm>
          <a:prstGeom prst="rect">
            <a:avLst/>
          </a:prstGeom>
        </p:spPr>
      </p:pic>
      <p:sp>
        <p:nvSpPr>
          <p:cNvPr id="8" name="Text 4"/>
          <p:cNvSpPr txBox="1"/>
          <p:nvPr/>
        </p:nvSpPr>
        <p:spPr>
          <a:xfrm>
            <a:off x="7114032" y="1856232"/>
            <a:ext cx="4361688" cy="457200"/>
          </a:xfrm>
          <a:prstGeom prst="rect">
            <a:avLst/>
          </a:prstGeom>
          <a:noFill/>
          <a:ln/>
        </p:spPr>
        <p:txBody>
          <a:bodyPr wrap="square" lIns="0" tIns="0" rIns="0" bIns="0" rtlCol="0" anchor="ctr"/>
          <a:lstStyle/>
          <a:p>
            <a:pPr marL="0" indent="0">
              <a:buNone/>
            </a:pPr>
            <a:r>
              <a:rPr lang="en-US" sz="1600" b="1" dirty="0">
                <a:solidFill>
                  <a:srgbClr val="E8EEF5"/>
                </a:solidFill>
              </a:rPr>
              <a:t>Identity and rules</a:t>
            </a:r>
            <a:endParaRPr lang="en-US" sz="1600" dirty="0"/>
          </a:p>
        </p:txBody>
      </p:sp>
      <p:sp>
        <p:nvSpPr>
          <p:cNvPr id="9" name="Text 5"/>
          <p:cNvSpPr txBox="1"/>
          <p:nvPr/>
        </p:nvSpPr>
        <p:spPr>
          <a:xfrm>
            <a:off x="6601968" y="2404872"/>
            <a:ext cx="484632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8EEF5"/>
                </a:solidFill>
              </a:rPr>
              <a:t>Generic sign-in error (no enumeration)</a:t>
            </a:r>
            <a:endParaRPr lang="en-US" sz="1500" dirty="0"/>
          </a:p>
          <a:p>
            <a:pPr marL="342900" indent="-342900">
              <a:spcAft>
                <a:spcPts val="400"/>
              </a:spcAft>
              <a:buSzPct val="100000"/>
              <a:buChar char="▪"/>
            </a:pPr>
            <a:r>
              <a:rPr lang="en-US" sz="1500" dirty="0">
                <a:solidFill>
                  <a:srgbClr val="E8EEF5"/>
                </a:solidFill>
              </a:rPr>
              <a:t>Self-service password change</a:t>
            </a:r>
            <a:endParaRPr lang="en-US" sz="1500" dirty="0"/>
          </a:p>
          <a:p>
            <a:pPr marL="342900" indent="-342900">
              <a:spcAft>
                <a:spcPts val="400"/>
              </a:spcAft>
              <a:buSzPct val="100000"/>
              <a:buChar char="▪"/>
            </a:pPr>
            <a:r>
              <a:rPr lang="en-US" sz="1500" dirty="0">
                <a:solidFill>
                  <a:srgbClr val="E8EEF5"/>
                </a:solidFill>
              </a:rPr>
              <a:t>One-time, hashed, expiring invites</a:t>
            </a:r>
            <a:endParaRPr lang="en-US" sz="1500" dirty="0"/>
          </a:p>
          <a:p>
            <a:pPr marL="342900" indent="-342900">
              <a:spcAft>
                <a:spcPts val="400"/>
              </a:spcAft>
              <a:buSzPct val="100000"/>
              <a:buChar char="▪"/>
            </a:pPr>
            <a:r>
              <a:rPr lang="en-US" sz="1500" dirty="0">
                <a:solidFill>
                  <a:srgbClr val="E8EEF5"/>
                </a:solidFill>
              </a:rPr>
              <a:t>GM invite: bind + independent approval</a:t>
            </a:r>
            <a:endParaRPr lang="en-US" sz="1500" dirty="0"/>
          </a:p>
          <a:p>
            <a:pPr marL="342900" indent="-342900">
              <a:spcAft>
                <a:spcPts val="400"/>
              </a:spcAft>
              <a:buSzPct val="100000"/>
              <a:buChar char="▪"/>
            </a:pPr>
            <a:r>
              <a:rPr lang="en-US" sz="1500" dirty="0">
                <a:solidFill>
                  <a:srgbClr val="E8EEF5"/>
                </a:solidFill>
              </a:rPr>
              <a:t>Reviewer ≠ submitter; instant revocation</a:t>
            </a:r>
            <a:endParaRPr lang="en-US" sz="1500" dirty="0"/>
          </a:p>
        </p:txBody>
      </p:sp>
      <p:sp>
        <p:nvSpPr>
          <p:cNvPr id="10" name="Text 6"/>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src/infrastructure/mission-identity.ts; supabase/migrations (multi-role hardening)</a:t>
            </a:r>
            <a:endParaRPr lang="en-US" sz="1000" dirty="0"/>
          </a:p>
        </p:txBody>
      </p:sp>
      <p:sp>
        <p:nvSpPr>
          <p:cNvPr id="11"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14</a:t>
            </a:fld>
            <a:endParaRPr lang="en-US"/>
          </a:p>
        </p:txBody>
      </p:sp>
      <p:pic>
        <p:nvPicPr>
          <p:cNvPr id="12" name="narration14">
            <a:hlinkClick r:id="" action="ppaction://media"/>
            <a:extLst>
              <a:ext uri="{FF2B5EF4-FFF2-40B4-BE49-F238E27FC236}">
                <a16:creationId xmlns:a16="http://schemas.microsoft.com/office/drawing/2014/main" id="{EFFEFEFC-BB3A-AF64-4B27-7266CA7F78C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0102683" y="502920"/>
            <a:ext cx="487363" cy="487363"/>
          </a:xfrm>
          <a:prstGeom prst="rect">
            <a:avLst/>
          </a:prstGeom>
        </p:spPr>
      </p:pic>
    </p:spTree>
  </p:cSld>
  <p:clrMapOvr>
    <a:masterClrMapping/>
  </p:clrMapOvr>
  <p:transition spd="slow" advTm="238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64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Operators administer missions — and every action is audited</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MISSION OPERATIONS</a:t>
            </a:r>
            <a:endParaRPr lang="en-US" sz="1100" dirty="0"/>
          </a:p>
        </p:txBody>
      </p:sp>
      <p:sp>
        <p:nvSpPr>
          <p:cNvPr id="4" name="Shape 2"/>
          <p:cNvSpPr/>
          <p:nvPr/>
        </p:nvSpPr>
        <p:spPr>
          <a:xfrm>
            <a:off x="566928" y="1618488"/>
            <a:ext cx="6912864" cy="3346704"/>
          </a:xfrm>
          <a:prstGeom prst="roundRect">
            <a:avLst>
              <a:gd name="adj" fmla="val 1639"/>
            </a:avLst>
          </a:prstGeom>
          <a:solidFill>
            <a:srgbClr val="FFFFFF"/>
          </a:solidFill>
          <a:ln w="12700">
            <a:solidFill>
              <a:srgbClr val="24496B"/>
            </a:solidFill>
            <a:prstDash val="solid"/>
          </a:ln>
        </p:spPr>
        <p:txBody>
          <a:bodyPr/>
          <a:lstStyle/>
          <a:p>
            <a:endParaRPr lang="en-US"/>
          </a:p>
        </p:txBody>
      </p:sp>
      <p:pic>
        <p:nvPicPr>
          <p:cNvPr id="5" name="Image 0" descr="/home/claude/v5/diagrams/d10_audit_boundary.png"/>
          <p:cNvPicPr>
            <a:picLocks noChangeAspect="1"/>
          </p:cNvPicPr>
          <p:nvPr/>
        </p:nvPicPr>
        <p:blipFill>
          <a:blip r:embed="rId5"/>
          <a:srcRect/>
          <a:stretch/>
        </p:blipFill>
        <p:spPr>
          <a:xfrm>
            <a:off x="640080" y="1691640"/>
            <a:ext cx="6766560" cy="3200400"/>
          </a:xfrm>
          <a:prstGeom prst="rect">
            <a:avLst/>
          </a:prstGeom>
        </p:spPr>
      </p:pic>
      <p:sp>
        <p:nvSpPr>
          <p:cNvPr id="6" name="card"/>
          <p:cNvSpPr/>
          <p:nvPr/>
        </p:nvSpPr>
        <p:spPr>
          <a:xfrm>
            <a:off x="7680960" y="1691640"/>
            <a:ext cx="3931920" cy="3931920"/>
          </a:xfrm>
          <a:prstGeom prst="roundRect">
            <a:avLst>
              <a:gd name="adj" fmla="val 1860"/>
            </a:avLst>
          </a:prstGeom>
          <a:solidFill>
            <a:srgbClr val="0F2236"/>
          </a:solidFill>
          <a:ln w="12700">
            <a:solidFill>
              <a:srgbClr val="24496B"/>
            </a:solidFill>
            <a:prstDash val="solid"/>
          </a:ln>
        </p:spPr>
        <p:txBody>
          <a:bodyPr/>
          <a:lstStyle/>
          <a:p>
            <a:endParaRPr lang="en-US"/>
          </a:p>
        </p:txBody>
      </p:sp>
      <p:pic>
        <p:nvPicPr>
          <p:cNvPr id="7" name="Image 1" descr="preencoded.png"/>
          <p:cNvPicPr>
            <a:picLocks noChangeAspect="1"/>
          </p:cNvPicPr>
          <p:nvPr/>
        </p:nvPicPr>
        <p:blipFill>
          <a:blip r:embed="rId6"/>
          <a:stretch>
            <a:fillRect/>
          </a:stretch>
        </p:blipFill>
        <p:spPr>
          <a:xfrm>
            <a:off x="7882128" y="1892808"/>
            <a:ext cx="384048" cy="384048"/>
          </a:xfrm>
          <a:prstGeom prst="rect">
            <a:avLst/>
          </a:prstGeom>
        </p:spPr>
      </p:pic>
      <p:sp>
        <p:nvSpPr>
          <p:cNvPr id="8" name="Text 4"/>
          <p:cNvSpPr txBox="1"/>
          <p:nvPr/>
        </p:nvSpPr>
        <p:spPr>
          <a:xfrm>
            <a:off x="8394192" y="1856232"/>
            <a:ext cx="3081528" cy="457200"/>
          </a:xfrm>
          <a:prstGeom prst="rect">
            <a:avLst/>
          </a:prstGeom>
          <a:noFill/>
          <a:ln/>
        </p:spPr>
        <p:txBody>
          <a:bodyPr wrap="square" lIns="0" tIns="0" rIns="0" bIns="0" rtlCol="0" anchor="ctr"/>
          <a:lstStyle/>
          <a:p>
            <a:pPr marL="0" indent="0">
              <a:buNone/>
            </a:pPr>
            <a:r>
              <a:rPr lang="en-US" sz="1600" b="1" dirty="0">
                <a:solidFill>
                  <a:srgbClr val="E8EEF5"/>
                </a:solidFill>
              </a:rPr>
              <a:t>Recorded in production</a:t>
            </a:r>
            <a:endParaRPr lang="en-US" sz="1600" dirty="0"/>
          </a:p>
        </p:txBody>
      </p:sp>
      <p:sp>
        <p:nvSpPr>
          <p:cNvPr id="9" name="Text 5"/>
          <p:cNvSpPr txBox="1"/>
          <p:nvPr/>
        </p:nvSpPr>
        <p:spPr>
          <a:xfrm>
            <a:off x="7882128" y="2404872"/>
            <a:ext cx="356616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Mission Settings (view)</a:t>
            </a:r>
            <a:endParaRPr lang="en-US" sz="1400" dirty="0"/>
          </a:p>
          <a:p>
            <a:pPr marL="342900" indent="-342900">
              <a:spcAft>
                <a:spcPts val="400"/>
              </a:spcAft>
              <a:buSzPct val="100000"/>
              <a:buChar char="▪"/>
            </a:pPr>
            <a:r>
              <a:rPr lang="en-US" sz="1400" dirty="0">
                <a:solidFill>
                  <a:srgbClr val="E8EEF5"/>
                </a:solidFill>
              </a:rPr>
              <a:t>Mission Audit Log</a:t>
            </a:r>
            <a:endParaRPr lang="en-US" sz="1400" dirty="0"/>
          </a:p>
          <a:p>
            <a:pPr marL="342900" indent="-342900">
              <a:spcAft>
                <a:spcPts val="400"/>
              </a:spcAft>
              <a:buSzPct val="100000"/>
              <a:buChar char="▪"/>
            </a:pPr>
            <a:r>
              <a:rPr lang="en-US" sz="1400" dirty="0">
                <a:solidFill>
                  <a:srgbClr val="E8EEF5"/>
                </a:solidFill>
              </a:rPr>
              <a:t>Crew, invitations, memberships</a:t>
            </a:r>
            <a:endParaRPr lang="en-US" sz="1400" dirty="0"/>
          </a:p>
          <a:p>
            <a:pPr marL="342900" indent="-342900">
              <a:spcAft>
                <a:spcPts val="400"/>
              </a:spcAft>
              <a:buSzPct val="100000"/>
              <a:buChar char="▪"/>
            </a:pPr>
            <a:r>
              <a:rPr lang="en-US" sz="1400" dirty="0">
                <a:solidFill>
                  <a:srgbClr val="E8EEF5"/>
                </a:solidFill>
              </a:rPr>
              <a:t>Every mutation audited</a:t>
            </a:r>
            <a:endParaRPr lang="en-US" sz="1400" dirty="0"/>
          </a:p>
        </p:txBody>
      </p:sp>
      <p:sp>
        <p:nvSpPr>
          <p:cNvPr id="10" name="Text 6"/>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src/components/mission-operations.tsx, mission-settings-panel.tsx, mission-audit-log.tsx</a:t>
            </a:r>
            <a:endParaRPr lang="en-US" sz="1000" dirty="0"/>
          </a:p>
        </p:txBody>
      </p:sp>
      <p:sp>
        <p:nvSpPr>
          <p:cNvPr id="11"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15</a:t>
            </a:fld>
            <a:endParaRPr lang="en-US"/>
          </a:p>
        </p:txBody>
      </p:sp>
      <p:pic>
        <p:nvPicPr>
          <p:cNvPr id="12" name="narration15">
            <a:hlinkClick r:id="" action="ppaction://media"/>
            <a:extLst>
              <a:ext uri="{FF2B5EF4-FFF2-40B4-BE49-F238E27FC236}">
                <a16:creationId xmlns:a16="http://schemas.microsoft.com/office/drawing/2014/main" id="{776940A5-BAEC-B1DE-13C0-7AD51E25FAC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9749757" y="511583"/>
            <a:ext cx="487363" cy="487363"/>
          </a:xfrm>
          <a:prstGeom prst="rect">
            <a:avLst/>
          </a:prstGeom>
        </p:spPr>
      </p:pic>
    </p:spTree>
  </p:cSld>
  <p:clrMapOvr>
    <a:masterClrMapping/>
  </p:clrMapOvr>
  <p:transition spd="slow" advTm="221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897"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Wearables and phone sensors with honest states — nothing is fabricated</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DEVICES: CAMERA PPG, MOTION AND BLUETOOTH</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680960" cy="3017520"/>
        </p:xfrm>
        <a:graphic>
          <a:graphicData uri="http://schemas.openxmlformats.org/drawingml/2006/table">
            <a:tbl>
              <a:tblPr/>
              <a:tblGrid>
                <a:gridCol w="2560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02920">
                <a:tc>
                  <a:txBody>
                    <a:bodyPr/>
                    <a:lstStyle/>
                    <a:p>
                      <a:pPr marL="0" indent="0">
                        <a:buNone/>
                      </a:pPr>
                      <a:r>
                        <a:rPr lang="en-US" sz="1400" b="1" dirty="0">
                          <a:solidFill>
                            <a:srgbClr val="19B5C9"/>
                          </a:solidFill>
                        </a:rPr>
                        <a:t>Source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400" b="1" dirty="0">
                          <a:solidFill>
                            <a:srgbClr val="19B5C9"/>
                          </a:solidFill>
                        </a:rPr>
                        <a:t>Evidence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400" b="1" dirty="0">
                          <a:solidFill>
                            <a:srgbClr val="19B5C9"/>
                          </a:solidFill>
                        </a:rPr>
                        <a:t>Notes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E8EEF5"/>
                          </a:solidFill>
                        </a:rPr>
                        <a:t>Camera PPG</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Physical phone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Pulse estimate · not ECG</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E8EEF5"/>
                          </a:solidFill>
                        </a:rPr>
                        <a:t>Phone motion</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Physical phone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Clear error if no events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E8EEF5"/>
                          </a:solidFill>
                        </a:rPr>
                        <a:t>Web Bluetooth HR</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Implemented</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Standard Heart Rate Service</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rgbClr val="E8EEF5"/>
                          </a:solidFill>
                        </a:rPr>
                        <a:t>Health Connect / HealthKit</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Adapter contract</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400" dirty="0">
                          <a:solidFill>
                            <a:srgbClr val="E8EEF5"/>
                          </a:solidFill>
                        </a:rPr>
                        <a:t>Needs native host</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rgbClr val="E8EEF5"/>
                          </a:solidFill>
                        </a:rPr>
                        <a:t>Habitat &amp; dosimetry</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Adapter contract</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400" dirty="0">
                          <a:solidFill>
                            <a:srgbClr val="E8EEF5"/>
                          </a:solidFill>
                        </a:rPr>
                        <a:t>Synthetic tests</a:t>
                      </a:r>
                      <a:endParaRPr lang="en-US" sz="14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bl>
          </a:graphicData>
        </a:graphic>
      </p:graphicFrame>
      <p:sp>
        <p:nvSpPr>
          <p:cNvPr id="5" name="Shape 2"/>
          <p:cNvSpPr/>
          <p:nvPr/>
        </p:nvSpPr>
        <p:spPr>
          <a:xfrm>
            <a:off x="8494776" y="1545336"/>
            <a:ext cx="3218688" cy="4133088"/>
          </a:xfrm>
          <a:prstGeom prst="roundRect">
            <a:avLst>
              <a:gd name="adj" fmla="val 1420"/>
            </a:avLst>
          </a:prstGeom>
          <a:solidFill>
            <a:srgbClr val="0F2236"/>
          </a:solidFill>
          <a:ln w="12700">
            <a:solidFill>
              <a:srgbClr val="19B5C9"/>
            </a:solidFill>
            <a:prstDash val="solid"/>
          </a:ln>
        </p:spPr>
        <p:txBody>
          <a:bodyPr/>
          <a:lstStyle/>
          <a:p>
            <a:endParaRPr lang="en-US"/>
          </a:p>
        </p:txBody>
      </p:sp>
      <p:pic>
        <p:nvPicPr>
          <p:cNvPr id="6" name="Image 0" descr="/home/claude/v6/shots_doc/devices.jpg"/>
          <p:cNvPicPr>
            <a:picLocks noChangeAspect="1"/>
          </p:cNvPicPr>
          <p:nvPr/>
        </p:nvPicPr>
        <p:blipFill>
          <a:blip r:embed="rId5"/>
          <a:stretch>
            <a:fillRect/>
          </a:stretch>
        </p:blipFill>
        <p:spPr>
          <a:xfrm>
            <a:off x="8549640" y="1600200"/>
            <a:ext cx="3108960" cy="4023360"/>
          </a:xfrm>
          <a:prstGeom prst="rect">
            <a:avLst/>
          </a:prstGeom>
        </p:spPr>
      </p:pic>
      <p:sp>
        <p:nvSpPr>
          <p:cNvPr id="7" name="Text 3"/>
          <p:cNvSpPr txBox="1"/>
          <p:nvPr/>
        </p:nvSpPr>
        <p:spPr>
          <a:xfrm>
            <a:off x="8275320" y="5715000"/>
            <a:ext cx="3657600" cy="256032"/>
          </a:xfrm>
          <a:prstGeom prst="rect">
            <a:avLst/>
          </a:prstGeom>
          <a:noFill/>
          <a:ln/>
        </p:spPr>
        <p:txBody>
          <a:bodyPr wrap="square" lIns="0" tIns="0" rIns="0" bIns="0" rtlCol="0" anchor="ctr"/>
          <a:lstStyle/>
          <a:p>
            <a:pPr marL="0" indent="0" algn="ctr">
              <a:buNone/>
            </a:pPr>
            <a:r>
              <a:rPr lang="en-US" sz="1000" dirty="0">
                <a:solidFill>
                  <a:srgbClr val="93A7BC"/>
                </a:solidFill>
              </a:rPr>
              <a:t>Device Integration Center — live site</a:t>
            </a:r>
            <a:endParaRPr lang="en-US" sz="1000" dirty="0"/>
          </a:p>
        </p:txBody>
      </p:sp>
      <p:sp>
        <p:nvSpPr>
          <p:cNvPr id="8" name="Text 4"/>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src/integrations/browser-sensors; real-device evidence record (data/submission)</a:t>
            </a:r>
            <a:endParaRPr lang="en-US" sz="1000" dirty="0"/>
          </a:p>
        </p:txBody>
      </p:sp>
      <p:sp>
        <p:nvSpPr>
          <p:cNvPr id="9"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16</a:t>
            </a:fld>
            <a:endParaRPr lang="en-US"/>
          </a:p>
        </p:txBody>
      </p:sp>
      <p:pic>
        <p:nvPicPr>
          <p:cNvPr id="10" name="narration16">
            <a:hlinkClick r:id="" action="ppaction://media"/>
            <a:extLst>
              <a:ext uri="{FF2B5EF4-FFF2-40B4-BE49-F238E27FC236}">
                <a16:creationId xmlns:a16="http://schemas.microsoft.com/office/drawing/2014/main" id="{120C632D-DED1-AE15-67A5-7E0388B37AE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108072" y="955548"/>
            <a:ext cx="487363" cy="487363"/>
          </a:xfrm>
          <a:prstGeom prst="rect">
            <a:avLst/>
          </a:prstGeom>
        </p:spPr>
      </p:pic>
    </p:spTree>
  </p:cSld>
  <p:clrMapOvr>
    <a:masterClrMapping/>
  </p:clrMapOvr>
  <p:transition spd="slow" advTm="267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54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Live monitoring separates identity, transport, sample and storage</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LIVE PHYSIOLOGICAL AND ENVIRONMENTAL MONITORING</a:t>
            </a:r>
            <a:endParaRPr lang="en-US" sz="1100" dirty="0"/>
          </a:p>
        </p:txBody>
      </p:sp>
      <p:sp>
        <p:nvSpPr>
          <p:cNvPr id="4" name="card"/>
          <p:cNvSpPr/>
          <p:nvPr/>
        </p:nvSpPr>
        <p:spPr>
          <a:xfrm>
            <a:off x="548640" y="1737360"/>
            <a:ext cx="269748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01952"/>
            <a:ext cx="2359152" cy="457200"/>
          </a:xfrm>
          <a:prstGeom prst="rect">
            <a:avLst/>
          </a:prstGeom>
          <a:noFill/>
          <a:ln/>
        </p:spPr>
        <p:txBody>
          <a:bodyPr wrap="square" lIns="0" tIns="0" rIns="0" bIns="0" rtlCol="0" anchor="ctr"/>
          <a:lstStyle/>
          <a:p>
            <a:pPr marL="0" indent="0">
              <a:buNone/>
            </a:pPr>
            <a:r>
              <a:rPr lang="en-US" sz="1600" b="1" dirty="0">
                <a:solidFill>
                  <a:srgbClr val="19B5C9"/>
                </a:solidFill>
              </a:rPr>
              <a:t>Mission identity</a:t>
            </a:r>
            <a:endParaRPr lang="en-US" sz="1600" dirty="0"/>
          </a:p>
        </p:txBody>
      </p:sp>
      <p:sp>
        <p:nvSpPr>
          <p:cNvPr id="6" name="Text 4"/>
          <p:cNvSpPr txBox="1"/>
          <p:nvPr/>
        </p:nvSpPr>
        <p:spPr>
          <a:xfrm>
            <a:off x="749808" y="2450592"/>
            <a:ext cx="2331720" cy="1051560"/>
          </a:xfrm>
          <a:prstGeom prst="rect">
            <a:avLst/>
          </a:prstGeom>
          <a:noFill/>
          <a:ln/>
        </p:spPr>
        <p:txBody>
          <a:bodyPr wrap="square" lIns="0" tIns="0" rIns="0" bIns="0" rtlCol="0" anchor="t"/>
          <a:lstStyle/>
          <a:p>
            <a:pPr marL="0" indent="0">
              <a:buNone/>
            </a:pPr>
            <a:r>
              <a:rPr lang="en-US" sz="1400" dirty="0">
                <a:solidFill>
                  <a:srgbClr val="E8EEF5"/>
                </a:solidFill>
              </a:rPr>
              <a:t>AUTHENTICATED MEMBERSHIP · LOCAL FALLBACK</a:t>
            </a:r>
            <a:endParaRPr lang="en-US" sz="1400" dirty="0"/>
          </a:p>
        </p:txBody>
      </p:sp>
      <p:sp>
        <p:nvSpPr>
          <p:cNvPr id="7" name="card"/>
          <p:cNvSpPr/>
          <p:nvPr/>
        </p:nvSpPr>
        <p:spPr>
          <a:xfrm>
            <a:off x="3383280" y="1737360"/>
            <a:ext cx="269748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8" name="Text 6"/>
          <p:cNvSpPr txBox="1"/>
          <p:nvPr/>
        </p:nvSpPr>
        <p:spPr>
          <a:xfrm>
            <a:off x="3584448" y="1901952"/>
            <a:ext cx="2359152" cy="457200"/>
          </a:xfrm>
          <a:prstGeom prst="rect">
            <a:avLst/>
          </a:prstGeom>
          <a:noFill/>
          <a:ln/>
        </p:spPr>
        <p:txBody>
          <a:bodyPr wrap="square" lIns="0" tIns="0" rIns="0" bIns="0" rtlCol="0" anchor="ctr"/>
          <a:lstStyle/>
          <a:p>
            <a:pPr marL="0" indent="0">
              <a:buNone/>
            </a:pPr>
            <a:r>
              <a:rPr lang="en-US" sz="1600" b="1" dirty="0">
                <a:solidFill>
                  <a:srgbClr val="E8EEF5"/>
                </a:solidFill>
              </a:rPr>
              <a:t>Device transport</a:t>
            </a:r>
            <a:endParaRPr lang="en-US" sz="1600" dirty="0"/>
          </a:p>
        </p:txBody>
      </p:sp>
      <p:sp>
        <p:nvSpPr>
          <p:cNvPr id="9" name="Text 7"/>
          <p:cNvSpPr txBox="1"/>
          <p:nvPr/>
        </p:nvSpPr>
        <p:spPr>
          <a:xfrm>
            <a:off x="3584448" y="2450592"/>
            <a:ext cx="2331720" cy="1051560"/>
          </a:xfrm>
          <a:prstGeom prst="rect">
            <a:avLst/>
          </a:prstGeom>
          <a:noFill/>
          <a:ln/>
        </p:spPr>
        <p:txBody>
          <a:bodyPr wrap="square" lIns="0" tIns="0" rIns="0" bIns="0" rtlCol="0" anchor="t"/>
          <a:lstStyle/>
          <a:p>
            <a:pPr marL="0" indent="0">
              <a:buNone/>
            </a:pPr>
            <a:r>
              <a:rPr lang="en-US" sz="1400" dirty="0">
                <a:solidFill>
                  <a:srgbClr val="E8EEF5"/>
                </a:solidFill>
              </a:rPr>
              <a:t>Connected ≠ sample received</a:t>
            </a:r>
            <a:endParaRPr lang="en-US" sz="1400" dirty="0"/>
          </a:p>
        </p:txBody>
      </p:sp>
      <p:sp>
        <p:nvSpPr>
          <p:cNvPr id="10" name="card"/>
          <p:cNvSpPr/>
          <p:nvPr/>
        </p:nvSpPr>
        <p:spPr>
          <a:xfrm>
            <a:off x="548640" y="3749040"/>
            <a:ext cx="269748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749808" y="3913632"/>
            <a:ext cx="2359152" cy="457200"/>
          </a:xfrm>
          <a:prstGeom prst="rect">
            <a:avLst/>
          </a:prstGeom>
          <a:noFill/>
          <a:ln/>
        </p:spPr>
        <p:txBody>
          <a:bodyPr wrap="square" lIns="0" tIns="0" rIns="0" bIns="0" rtlCol="0" anchor="ctr"/>
          <a:lstStyle/>
          <a:p>
            <a:pPr marL="0" indent="0">
              <a:buNone/>
            </a:pPr>
            <a:r>
              <a:rPr lang="en-US" sz="1600" b="1" dirty="0">
                <a:solidFill>
                  <a:srgbClr val="E8EEF5"/>
                </a:solidFill>
              </a:rPr>
              <a:t>Last physical sample</a:t>
            </a:r>
            <a:endParaRPr lang="en-US" sz="1600" dirty="0"/>
          </a:p>
        </p:txBody>
      </p:sp>
      <p:sp>
        <p:nvSpPr>
          <p:cNvPr id="12" name="Text 10"/>
          <p:cNvSpPr txBox="1"/>
          <p:nvPr/>
        </p:nvSpPr>
        <p:spPr>
          <a:xfrm>
            <a:off x="749808" y="4462272"/>
            <a:ext cx="2331720" cy="1051560"/>
          </a:xfrm>
          <a:prstGeom prst="rect">
            <a:avLst/>
          </a:prstGeom>
          <a:noFill/>
          <a:ln/>
        </p:spPr>
        <p:txBody>
          <a:bodyPr wrap="square" lIns="0" tIns="0" rIns="0" bIns="0" rtlCol="0" anchor="t"/>
          <a:lstStyle/>
          <a:p>
            <a:pPr marL="0" indent="0">
              <a:buNone/>
            </a:pPr>
            <a:r>
              <a:rPr lang="en-US" sz="1400" dirty="0">
                <a:solidFill>
                  <a:srgbClr val="E8EEF5"/>
                </a:solidFill>
              </a:rPr>
              <a:t>Timestamp or NO SAMPLE</a:t>
            </a:r>
            <a:endParaRPr lang="en-US" sz="1400" dirty="0"/>
          </a:p>
        </p:txBody>
      </p:sp>
      <p:sp>
        <p:nvSpPr>
          <p:cNvPr id="13" name="card"/>
          <p:cNvSpPr/>
          <p:nvPr/>
        </p:nvSpPr>
        <p:spPr>
          <a:xfrm>
            <a:off x="3383280" y="3749040"/>
            <a:ext cx="269748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14" name="Text 12"/>
          <p:cNvSpPr txBox="1"/>
          <p:nvPr/>
        </p:nvSpPr>
        <p:spPr>
          <a:xfrm>
            <a:off x="3584448" y="3913632"/>
            <a:ext cx="2359152" cy="457200"/>
          </a:xfrm>
          <a:prstGeom prst="rect">
            <a:avLst/>
          </a:prstGeom>
          <a:noFill/>
          <a:ln/>
        </p:spPr>
        <p:txBody>
          <a:bodyPr wrap="square" lIns="0" tIns="0" rIns="0" bIns="0" rtlCol="0" anchor="ctr"/>
          <a:lstStyle/>
          <a:p>
            <a:pPr marL="0" indent="0">
              <a:buNone/>
            </a:pPr>
            <a:r>
              <a:rPr lang="en-US" sz="1600" b="1" dirty="0">
                <a:solidFill>
                  <a:srgbClr val="F2A93B"/>
                </a:solidFill>
              </a:rPr>
              <a:t>Encrypted persistence</a:t>
            </a:r>
            <a:endParaRPr lang="en-US" sz="1600" dirty="0"/>
          </a:p>
        </p:txBody>
      </p:sp>
      <p:sp>
        <p:nvSpPr>
          <p:cNvPr id="15" name="Text 13"/>
          <p:cNvSpPr txBox="1"/>
          <p:nvPr/>
        </p:nvSpPr>
        <p:spPr>
          <a:xfrm>
            <a:off x="3584448" y="4462272"/>
            <a:ext cx="2331720" cy="1051560"/>
          </a:xfrm>
          <a:prstGeom prst="rect">
            <a:avLst/>
          </a:prstGeom>
          <a:noFill/>
          <a:ln/>
        </p:spPr>
        <p:txBody>
          <a:bodyPr wrap="square" lIns="0" tIns="0" rIns="0" bIns="0" rtlCol="0" anchor="t"/>
          <a:lstStyle/>
          <a:p>
            <a:pPr marL="0" indent="0">
              <a:buNone/>
            </a:pPr>
            <a:r>
              <a:rPr lang="en-US" sz="1400" dirty="0">
                <a:solidFill>
                  <a:srgbClr val="E8EEF5"/>
                </a:solidFill>
              </a:rPr>
              <a:t>Confirmed count · WRITE FAILED</a:t>
            </a:r>
            <a:endParaRPr lang="en-US" sz="1400" dirty="0"/>
          </a:p>
        </p:txBody>
      </p:sp>
      <p:sp>
        <p:nvSpPr>
          <p:cNvPr id="16" name="card"/>
          <p:cNvSpPr/>
          <p:nvPr/>
        </p:nvSpPr>
        <p:spPr>
          <a:xfrm>
            <a:off x="6263640" y="1737360"/>
            <a:ext cx="2011680" cy="3886200"/>
          </a:xfrm>
          <a:prstGeom prst="roundRect">
            <a:avLst>
              <a:gd name="adj" fmla="val 3636"/>
            </a:avLst>
          </a:prstGeom>
          <a:solidFill>
            <a:srgbClr val="0F2236"/>
          </a:solidFill>
          <a:ln w="12700">
            <a:solidFill>
              <a:srgbClr val="24496B"/>
            </a:solidFill>
            <a:prstDash val="solid"/>
          </a:ln>
        </p:spPr>
        <p:txBody>
          <a:bodyPr/>
          <a:lstStyle/>
          <a:p>
            <a:endParaRPr lang="en-US"/>
          </a:p>
        </p:txBody>
      </p:sp>
      <p:sp>
        <p:nvSpPr>
          <p:cNvPr id="17" name="Text 15"/>
          <p:cNvSpPr txBox="1"/>
          <p:nvPr/>
        </p:nvSpPr>
        <p:spPr>
          <a:xfrm>
            <a:off x="6464808" y="1901952"/>
            <a:ext cx="1673352" cy="457200"/>
          </a:xfrm>
          <a:prstGeom prst="rect">
            <a:avLst/>
          </a:prstGeom>
          <a:noFill/>
          <a:ln/>
        </p:spPr>
        <p:txBody>
          <a:bodyPr wrap="square" lIns="0" tIns="0" rIns="0" bIns="0" rtlCol="0" anchor="ctr"/>
          <a:lstStyle/>
          <a:p>
            <a:pPr marL="0" indent="0">
              <a:buNone/>
            </a:pPr>
            <a:r>
              <a:rPr lang="en-US" sz="1600" b="1" dirty="0">
                <a:solidFill>
                  <a:srgbClr val="E8EEF5"/>
                </a:solidFill>
              </a:rPr>
              <a:t>Freshness</a:t>
            </a:r>
            <a:endParaRPr lang="en-US" sz="1600" dirty="0"/>
          </a:p>
        </p:txBody>
      </p:sp>
      <p:sp>
        <p:nvSpPr>
          <p:cNvPr id="18" name="Text 16"/>
          <p:cNvSpPr txBox="1"/>
          <p:nvPr/>
        </p:nvSpPr>
        <p:spPr>
          <a:xfrm>
            <a:off x="6464808" y="2450592"/>
            <a:ext cx="1645920" cy="30632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8EEF5"/>
                </a:solidFill>
              </a:rPr>
              <a:t>LIVE · STALE · WAITING · DISCONNECTED</a:t>
            </a:r>
            <a:endParaRPr lang="en-US" sz="1300" dirty="0"/>
          </a:p>
          <a:p>
            <a:pPr marL="342900" indent="-342900">
              <a:spcAft>
                <a:spcPts val="400"/>
              </a:spcAft>
              <a:buSzPct val="100000"/>
              <a:buChar char="▪"/>
            </a:pPr>
            <a:r>
              <a:rPr lang="en-US" sz="1300" dirty="0">
                <a:solidFill>
                  <a:srgbClr val="E8EEF5"/>
                </a:solidFill>
              </a:rPr>
              <a:t>90 s physio / 180 s env</a:t>
            </a:r>
            <a:endParaRPr lang="en-US" sz="1300" dirty="0"/>
          </a:p>
          <a:p>
            <a:pPr marL="342900" indent="-342900">
              <a:spcAft>
                <a:spcPts val="400"/>
              </a:spcAft>
              <a:buSzPct val="100000"/>
              <a:buChar char="▪"/>
            </a:pPr>
            <a:r>
              <a:rPr lang="en-US" sz="1300" dirty="0">
                <a:solidFill>
                  <a:srgbClr val="E8EEF5"/>
                </a:solidFill>
              </a:rPr>
              <a:t>Technical only</a:t>
            </a:r>
            <a:endParaRPr lang="en-US" sz="1300" dirty="0"/>
          </a:p>
        </p:txBody>
      </p:sp>
      <p:sp>
        <p:nvSpPr>
          <p:cNvPr id="19" name="Shape 17"/>
          <p:cNvSpPr/>
          <p:nvPr/>
        </p:nvSpPr>
        <p:spPr>
          <a:xfrm>
            <a:off x="8494776" y="1545336"/>
            <a:ext cx="3218688" cy="4133088"/>
          </a:xfrm>
          <a:prstGeom prst="roundRect">
            <a:avLst>
              <a:gd name="adj" fmla="val 1420"/>
            </a:avLst>
          </a:prstGeom>
          <a:solidFill>
            <a:srgbClr val="0F2236"/>
          </a:solidFill>
          <a:ln w="12700">
            <a:solidFill>
              <a:srgbClr val="19B5C9"/>
            </a:solidFill>
            <a:prstDash val="solid"/>
          </a:ln>
        </p:spPr>
        <p:txBody>
          <a:bodyPr/>
          <a:lstStyle/>
          <a:p>
            <a:endParaRPr lang="en-US"/>
          </a:p>
        </p:txBody>
      </p:sp>
      <p:pic>
        <p:nvPicPr>
          <p:cNvPr id="20" name="Image 0" descr="/home/claude/v6/shots_doc/live.jpg"/>
          <p:cNvPicPr>
            <a:picLocks noChangeAspect="1"/>
          </p:cNvPicPr>
          <p:nvPr/>
        </p:nvPicPr>
        <p:blipFill>
          <a:blip r:embed="rId5"/>
          <a:stretch>
            <a:fillRect/>
          </a:stretch>
        </p:blipFill>
        <p:spPr>
          <a:xfrm>
            <a:off x="8549640" y="1600200"/>
            <a:ext cx="3108960" cy="4023360"/>
          </a:xfrm>
          <a:prstGeom prst="rect">
            <a:avLst/>
          </a:prstGeom>
        </p:spPr>
      </p:pic>
      <p:sp>
        <p:nvSpPr>
          <p:cNvPr id="21" name="Text 18"/>
          <p:cNvSpPr txBox="1"/>
          <p:nvPr/>
        </p:nvSpPr>
        <p:spPr>
          <a:xfrm>
            <a:off x="8275320" y="5715000"/>
            <a:ext cx="3657600" cy="256032"/>
          </a:xfrm>
          <a:prstGeom prst="rect">
            <a:avLst/>
          </a:prstGeom>
          <a:noFill/>
          <a:ln/>
        </p:spPr>
        <p:txBody>
          <a:bodyPr wrap="square" lIns="0" tIns="0" rIns="0" bIns="0" rtlCol="0" anchor="ctr"/>
          <a:lstStyle/>
          <a:p>
            <a:pPr marL="0" indent="0" algn="ctr">
              <a:buNone/>
            </a:pPr>
            <a:r>
              <a:rPr lang="en-US" sz="1000" dirty="0">
                <a:solidFill>
                  <a:srgbClr val="93A7BC"/>
                </a:solidFill>
              </a:rPr>
              <a:t>Live Monitoring — live site</a:t>
            </a:r>
            <a:endParaRPr lang="en-US" sz="1000" dirty="0"/>
          </a:p>
        </p:txBody>
      </p:sp>
      <p:sp>
        <p:nvSpPr>
          <p:cNvPr id="22" name="Text 19"/>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src/components/live-dashboard.tsx; src/app/live-dashboard/store.ts</a:t>
            </a:r>
            <a:endParaRPr lang="en-US" sz="1000" dirty="0"/>
          </a:p>
        </p:txBody>
      </p:sp>
      <p:sp>
        <p:nvSpPr>
          <p:cNvPr id="23"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17</a:t>
            </a:fld>
            <a:endParaRPr lang="en-US"/>
          </a:p>
        </p:txBody>
      </p:sp>
      <p:pic>
        <p:nvPicPr>
          <p:cNvPr id="24" name="narration17">
            <a:hlinkClick r:id="" action="ppaction://media"/>
            <a:extLst>
              <a:ext uri="{FF2B5EF4-FFF2-40B4-BE49-F238E27FC236}">
                <a16:creationId xmlns:a16="http://schemas.microsoft.com/office/drawing/2014/main" id="{6133D2A5-2CD1-4C66-E2C7-91CDCA5C4A3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124115" y="922417"/>
            <a:ext cx="487363" cy="487363"/>
          </a:xfrm>
          <a:prstGeom prst="rect">
            <a:avLst/>
          </a:prstGeom>
        </p:spPr>
      </p:pic>
    </p:spTree>
  </p:cSld>
  <p:clrMapOvr>
    <a:masterClrMapping/>
  </p:clrMapOvr>
  <p:transition spd="slow" advTm="214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0270"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Offline first: encrypt locally, synchronise with authority</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OFFLINE OPERATIONS AND GOVERNED SYNC</a:t>
            </a:r>
            <a:endParaRPr lang="en-US" sz="1100" dirty="0"/>
          </a:p>
        </p:txBody>
      </p:sp>
      <p:sp>
        <p:nvSpPr>
          <p:cNvPr id="4" name="Shape 2"/>
          <p:cNvSpPr/>
          <p:nvPr/>
        </p:nvSpPr>
        <p:spPr>
          <a:xfrm>
            <a:off x="566928" y="1618488"/>
            <a:ext cx="6912864" cy="2889504"/>
          </a:xfrm>
          <a:prstGeom prst="roundRect">
            <a:avLst>
              <a:gd name="adj" fmla="val 1899"/>
            </a:avLst>
          </a:prstGeom>
          <a:solidFill>
            <a:srgbClr val="FFFFFF"/>
          </a:solidFill>
          <a:ln w="12700">
            <a:solidFill>
              <a:srgbClr val="24496B"/>
            </a:solidFill>
            <a:prstDash val="solid"/>
          </a:ln>
        </p:spPr>
        <p:txBody>
          <a:bodyPr/>
          <a:lstStyle/>
          <a:p>
            <a:endParaRPr lang="en-US"/>
          </a:p>
        </p:txBody>
      </p:sp>
      <p:pic>
        <p:nvPicPr>
          <p:cNvPr id="5" name="Image 0" descr="/home/claude/v5/diagrams/d7_sync_states.png"/>
          <p:cNvPicPr>
            <a:picLocks noChangeAspect="1"/>
          </p:cNvPicPr>
          <p:nvPr/>
        </p:nvPicPr>
        <p:blipFill>
          <a:blip r:embed="rId5"/>
          <a:srcRect/>
          <a:stretch/>
        </p:blipFill>
        <p:spPr>
          <a:xfrm>
            <a:off x="640080" y="1691640"/>
            <a:ext cx="6766560" cy="2743200"/>
          </a:xfrm>
          <a:prstGeom prst="rect">
            <a:avLst/>
          </a:prstGeom>
        </p:spPr>
      </p:pic>
      <p:sp>
        <p:nvSpPr>
          <p:cNvPr id="6" name="card"/>
          <p:cNvSpPr/>
          <p:nvPr/>
        </p:nvSpPr>
        <p:spPr>
          <a:xfrm>
            <a:off x="7680960" y="1691640"/>
            <a:ext cx="3931920" cy="3931920"/>
          </a:xfrm>
          <a:prstGeom prst="roundRect">
            <a:avLst>
              <a:gd name="adj" fmla="val 1860"/>
            </a:avLst>
          </a:prstGeom>
          <a:solidFill>
            <a:srgbClr val="0F2236"/>
          </a:solidFill>
          <a:ln w="12700">
            <a:solidFill>
              <a:srgbClr val="24496B"/>
            </a:solidFill>
            <a:prstDash val="solid"/>
          </a:ln>
        </p:spPr>
        <p:txBody>
          <a:bodyPr/>
          <a:lstStyle/>
          <a:p>
            <a:endParaRPr lang="en-US"/>
          </a:p>
        </p:txBody>
      </p:sp>
      <p:pic>
        <p:nvPicPr>
          <p:cNvPr id="7" name="Image 1" descr="preencoded.png"/>
          <p:cNvPicPr>
            <a:picLocks noChangeAspect="1"/>
          </p:cNvPicPr>
          <p:nvPr/>
        </p:nvPicPr>
        <p:blipFill>
          <a:blip r:embed="rId6"/>
          <a:stretch>
            <a:fillRect/>
          </a:stretch>
        </p:blipFill>
        <p:spPr>
          <a:xfrm>
            <a:off x="7882128" y="1892808"/>
            <a:ext cx="384048" cy="384048"/>
          </a:xfrm>
          <a:prstGeom prst="rect">
            <a:avLst/>
          </a:prstGeom>
        </p:spPr>
      </p:pic>
      <p:sp>
        <p:nvSpPr>
          <p:cNvPr id="8" name="Text 4"/>
          <p:cNvSpPr txBox="1"/>
          <p:nvPr/>
        </p:nvSpPr>
        <p:spPr>
          <a:xfrm>
            <a:off x="8394192" y="1856232"/>
            <a:ext cx="3081528" cy="457200"/>
          </a:xfrm>
          <a:prstGeom prst="rect">
            <a:avLst/>
          </a:prstGeom>
          <a:noFill/>
          <a:ln/>
        </p:spPr>
        <p:txBody>
          <a:bodyPr wrap="square" lIns="0" tIns="0" rIns="0" bIns="0" rtlCol="0" anchor="ctr"/>
          <a:lstStyle/>
          <a:p>
            <a:pPr marL="0" indent="0">
              <a:buNone/>
            </a:pPr>
            <a:r>
              <a:rPr lang="en-US" sz="1600" b="1" dirty="0">
                <a:solidFill>
                  <a:srgbClr val="E8EEF5"/>
                </a:solidFill>
              </a:rPr>
              <a:t>Guarantees</a:t>
            </a:r>
            <a:endParaRPr lang="en-US" sz="1600" dirty="0"/>
          </a:p>
        </p:txBody>
      </p:sp>
      <p:sp>
        <p:nvSpPr>
          <p:cNvPr id="9" name="Text 5"/>
          <p:cNvSpPr txBox="1"/>
          <p:nvPr/>
        </p:nvSpPr>
        <p:spPr>
          <a:xfrm>
            <a:off x="7882128" y="2404872"/>
            <a:ext cx="356616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AES-GCM, non-extractable key</a:t>
            </a:r>
            <a:endParaRPr lang="en-US" sz="1400" dirty="0"/>
          </a:p>
          <a:p>
            <a:pPr marL="342900" indent="-342900">
              <a:spcAft>
                <a:spcPts val="400"/>
              </a:spcAft>
              <a:buSzPct val="100000"/>
              <a:buChar char="▪"/>
            </a:pPr>
            <a:r>
              <a:rPr lang="en-US" sz="1400" dirty="0">
                <a:solidFill>
                  <a:srgbClr val="E8EEF5"/>
                </a:solidFill>
              </a:rPr>
              <a:t>Idempotency + payload hash</a:t>
            </a:r>
            <a:endParaRPr lang="en-US" sz="1400" dirty="0"/>
          </a:p>
          <a:p>
            <a:pPr marL="342900" indent="-342900">
              <a:spcAft>
                <a:spcPts val="400"/>
              </a:spcAft>
              <a:buSzPct val="100000"/>
              <a:buChar char="▪"/>
            </a:pPr>
            <a:r>
              <a:rPr lang="en-US" sz="1400" dirty="0">
                <a:solidFill>
                  <a:srgbClr val="E8EEF5"/>
                </a:solidFill>
              </a:rPr>
              <a:t>No anonymous cloud writes</a:t>
            </a:r>
            <a:endParaRPr lang="en-US" sz="1400" dirty="0"/>
          </a:p>
          <a:p>
            <a:pPr marL="342900" indent="-342900">
              <a:spcAft>
                <a:spcPts val="400"/>
              </a:spcAft>
              <a:buSzPct val="100000"/>
              <a:buChar char="▪"/>
            </a:pPr>
            <a:r>
              <a:rPr lang="en-US" sz="1400" dirty="0">
                <a:solidFill>
                  <a:srgbClr val="E8EEF5"/>
                </a:solidFill>
              </a:rPr>
              <a:t>Service worker: public shell only</a:t>
            </a:r>
            <a:endParaRPr lang="en-US" sz="1400" dirty="0"/>
          </a:p>
        </p:txBody>
      </p:sp>
      <p:sp>
        <p:nvSpPr>
          <p:cNvPr id="10" name="card"/>
          <p:cNvSpPr/>
          <p:nvPr/>
        </p:nvSpPr>
        <p:spPr>
          <a:xfrm>
            <a:off x="548640" y="4617720"/>
            <a:ext cx="6949440" cy="1005840"/>
          </a:xfrm>
          <a:prstGeom prst="roundRect">
            <a:avLst>
              <a:gd name="adj" fmla="val 7273"/>
            </a:avLst>
          </a:prstGeom>
          <a:solidFill>
            <a:srgbClr val="0F2236"/>
          </a:solidFill>
          <a:ln w="12700">
            <a:solidFill>
              <a:srgbClr val="24496B"/>
            </a:solidFill>
            <a:prstDash val="solid"/>
          </a:ln>
        </p:spPr>
        <p:txBody>
          <a:bodyPr/>
          <a:lstStyle/>
          <a:p>
            <a:endParaRPr lang="en-US"/>
          </a:p>
        </p:txBody>
      </p:sp>
      <p:sp>
        <p:nvSpPr>
          <p:cNvPr id="11" name="Text 7"/>
          <p:cNvSpPr txBox="1"/>
          <p:nvPr/>
        </p:nvSpPr>
        <p:spPr>
          <a:xfrm>
            <a:off x="749808" y="4782312"/>
            <a:ext cx="6611112" cy="457200"/>
          </a:xfrm>
          <a:prstGeom prst="rect">
            <a:avLst/>
          </a:prstGeom>
          <a:noFill/>
          <a:ln/>
        </p:spPr>
        <p:txBody>
          <a:bodyPr wrap="square" lIns="0" tIns="0" rIns="0" bIns="0" rtlCol="0" anchor="ctr"/>
          <a:lstStyle/>
          <a:p>
            <a:pPr marL="0" indent="0">
              <a:buNone/>
            </a:pPr>
            <a:r>
              <a:rPr lang="en-US" sz="1400" b="1" dirty="0">
                <a:solidFill>
                  <a:srgbClr val="3CB371"/>
                </a:solidFill>
              </a:rPr>
              <a:t>No data loss: records stay encrypted on the device until an authorised sync succeeds</a:t>
            </a:r>
            <a:endParaRPr lang="en-US" sz="1400" dirty="0"/>
          </a:p>
        </p:txBody>
      </p:sp>
      <p:sp>
        <p:nvSpPr>
          <p:cNvPr id="12" name="Text 8"/>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src/infrastructure/offline/*; docs/OFFLINE_MISSION_MODE.md</a:t>
            </a:r>
            <a:endParaRPr lang="en-US" sz="1000" dirty="0"/>
          </a:p>
        </p:txBody>
      </p:sp>
      <p:sp>
        <p:nvSpPr>
          <p:cNvPr id="13"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18</a:t>
            </a:fld>
            <a:endParaRPr lang="en-US"/>
          </a:p>
        </p:txBody>
      </p:sp>
      <p:pic>
        <p:nvPicPr>
          <p:cNvPr id="14" name="narration18">
            <a:hlinkClick r:id="" action="ppaction://media"/>
            <a:extLst>
              <a:ext uri="{FF2B5EF4-FFF2-40B4-BE49-F238E27FC236}">
                <a16:creationId xmlns:a16="http://schemas.microsoft.com/office/drawing/2014/main" id="{1F6448A3-CAE6-2600-DEDB-82F2EBB12AC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9092030" y="603980"/>
            <a:ext cx="487363" cy="487363"/>
          </a:xfrm>
          <a:prstGeom prst="rect">
            <a:avLst/>
          </a:prstGeom>
        </p:spPr>
      </p:pic>
    </p:spTree>
  </p:cSld>
  <p:clrMapOvr>
    <a:masterClrMapping/>
  </p:clrMapOvr>
  <p:transition spd="slow" advTm="22300">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159"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Laboratory evidence: synthetic reports reviewed in the browser</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CREW SELF · MISSION DOCUMENTS</a:t>
            </a:r>
            <a:endParaRPr lang="en-US" sz="1100" dirty="0"/>
          </a:p>
        </p:txBody>
      </p:sp>
      <p:sp>
        <p:nvSpPr>
          <p:cNvPr id="4" name="card"/>
          <p:cNvSpPr/>
          <p:nvPr/>
        </p:nvSpPr>
        <p:spPr>
          <a:xfrm>
            <a:off x="548640" y="1737360"/>
            <a:ext cx="246888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01952"/>
            <a:ext cx="2130552" cy="457200"/>
          </a:xfrm>
          <a:prstGeom prst="rect">
            <a:avLst/>
          </a:prstGeom>
          <a:noFill/>
          <a:ln/>
        </p:spPr>
        <p:txBody>
          <a:bodyPr wrap="square" lIns="0" tIns="0" rIns="0" bIns="0" rtlCol="0" anchor="ctr"/>
          <a:lstStyle/>
          <a:p>
            <a:pPr marL="0" indent="0">
              <a:buNone/>
            </a:pPr>
            <a:r>
              <a:rPr lang="en-US" sz="1500" b="1" dirty="0">
                <a:solidFill>
                  <a:srgbClr val="19B5C9"/>
                </a:solidFill>
              </a:rPr>
              <a:t>1  Crew Self + consent</a:t>
            </a:r>
            <a:endParaRPr lang="en-US" sz="1500" dirty="0"/>
          </a:p>
        </p:txBody>
      </p:sp>
      <p:sp>
        <p:nvSpPr>
          <p:cNvPr id="6" name="card"/>
          <p:cNvSpPr/>
          <p:nvPr/>
        </p:nvSpPr>
        <p:spPr>
          <a:xfrm>
            <a:off x="3154680" y="1737360"/>
            <a:ext cx="246888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7" name="Text 5"/>
          <p:cNvSpPr txBox="1"/>
          <p:nvPr/>
        </p:nvSpPr>
        <p:spPr>
          <a:xfrm>
            <a:off x="3355848" y="1901952"/>
            <a:ext cx="2130552" cy="457200"/>
          </a:xfrm>
          <a:prstGeom prst="rect">
            <a:avLst/>
          </a:prstGeom>
          <a:noFill/>
          <a:ln/>
        </p:spPr>
        <p:txBody>
          <a:bodyPr wrap="square" lIns="0" tIns="0" rIns="0" bIns="0" rtlCol="0" anchor="ctr"/>
          <a:lstStyle/>
          <a:p>
            <a:pPr marL="0" indent="0">
              <a:buNone/>
            </a:pPr>
            <a:r>
              <a:rPr lang="en-US" sz="1500" b="1" dirty="0">
                <a:solidFill>
                  <a:srgbClr val="19B5C9"/>
                </a:solidFill>
              </a:rPr>
              <a:t>2  Local extraction</a:t>
            </a:r>
            <a:endParaRPr lang="en-US" sz="1500" dirty="0"/>
          </a:p>
        </p:txBody>
      </p:sp>
      <p:sp>
        <p:nvSpPr>
          <p:cNvPr id="8" name="card"/>
          <p:cNvSpPr/>
          <p:nvPr/>
        </p:nvSpPr>
        <p:spPr>
          <a:xfrm>
            <a:off x="5760720" y="1737360"/>
            <a:ext cx="246888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9" name="Text 7"/>
          <p:cNvSpPr txBox="1"/>
          <p:nvPr/>
        </p:nvSpPr>
        <p:spPr>
          <a:xfrm>
            <a:off x="5961888" y="1901952"/>
            <a:ext cx="2130552" cy="457200"/>
          </a:xfrm>
          <a:prstGeom prst="rect">
            <a:avLst/>
          </a:prstGeom>
          <a:noFill/>
          <a:ln/>
        </p:spPr>
        <p:txBody>
          <a:bodyPr wrap="square" lIns="0" tIns="0" rIns="0" bIns="0" rtlCol="0" anchor="ctr"/>
          <a:lstStyle/>
          <a:p>
            <a:pPr marL="0" indent="0">
              <a:buNone/>
            </a:pPr>
            <a:r>
              <a:rPr lang="en-US" sz="1500" b="1" dirty="0">
                <a:solidFill>
                  <a:srgbClr val="19B5C9"/>
                </a:solidFill>
              </a:rPr>
              <a:t>3  Exact name + unit</a:t>
            </a:r>
            <a:endParaRPr lang="en-US" sz="1500" dirty="0"/>
          </a:p>
        </p:txBody>
      </p:sp>
      <p:sp>
        <p:nvSpPr>
          <p:cNvPr id="10" name="card"/>
          <p:cNvSpPr/>
          <p:nvPr/>
        </p:nvSpPr>
        <p:spPr>
          <a:xfrm>
            <a:off x="548640" y="3108960"/>
            <a:ext cx="246888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749808" y="3273552"/>
            <a:ext cx="2130552" cy="457200"/>
          </a:xfrm>
          <a:prstGeom prst="rect">
            <a:avLst/>
          </a:prstGeom>
          <a:noFill/>
          <a:ln/>
        </p:spPr>
        <p:txBody>
          <a:bodyPr wrap="square" lIns="0" tIns="0" rIns="0" bIns="0" rtlCol="0" anchor="ctr"/>
          <a:lstStyle/>
          <a:p>
            <a:pPr marL="0" indent="0">
              <a:buNone/>
            </a:pPr>
            <a:r>
              <a:rPr lang="en-US" sz="1500" b="1" dirty="0">
                <a:solidFill>
                  <a:srgbClr val="19B5C9"/>
                </a:solidFill>
              </a:rPr>
              <a:t>4  Human selection</a:t>
            </a:r>
            <a:endParaRPr lang="en-US" sz="1500" dirty="0"/>
          </a:p>
        </p:txBody>
      </p:sp>
      <p:sp>
        <p:nvSpPr>
          <p:cNvPr id="12" name="card"/>
          <p:cNvSpPr/>
          <p:nvPr/>
        </p:nvSpPr>
        <p:spPr>
          <a:xfrm>
            <a:off x="3154680" y="3108960"/>
            <a:ext cx="246888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13" name="Text 11"/>
          <p:cNvSpPr txBox="1"/>
          <p:nvPr/>
        </p:nvSpPr>
        <p:spPr>
          <a:xfrm>
            <a:off x="3355848" y="3273552"/>
            <a:ext cx="2130552" cy="457200"/>
          </a:xfrm>
          <a:prstGeom prst="rect">
            <a:avLst/>
          </a:prstGeom>
          <a:noFill/>
          <a:ln/>
        </p:spPr>
        <p:txBody>
          <a:bodyPr wrap="square" lIns="0" tIns="0" rIns="0" bIns="0" rtlCol="0" anchor="ctr"/>
          <a:lstStyle/>
          <a:p>
            <a:pPr marL="0" indent="0">
              <a:buNone/>
            </a:pPr>
            <a:r>
              <a:rPr lang="en-US" sz="1500" b="1" dirty="0">
                <a:solidFill>
                  <a:srgbClr val="19B5C9"/>
                </a:solidFill>
              </a:rPr>
              <a:t>5  Date + confirmation</a:t>
            </a:r>
            <a:endParaRPr lang="en-US" sz="1500" dirty="0"/>
          </a:p>
        </p:txBody>
      </p:sp>
      <p:sp>
        <p:nvSpPr>
          <p:cNvPr id="14" name="card"/>
          <p:cNvSpPr/>
          <p:nvPr/>
        </p:nvSpPr>
        <p:spPr>
          <a:xfrm>
            <a:off x="5760720" y="3108960"/>
            <a:ext cx="2468880" cy="1234440"/>
          </a:xfrm>
          <a:prstGeom prst="roundRect">
            <a:avLst>
              <a:gd name="adj" fmla="val 5926"/>
            </a:avLst>
          </a:prstGeom>
          <a:solidFill>
            <a:srgbClr val="0F2236"/>
          </a:solidFill>
          <a:ln w="12700">
            <a:solidFill>
              <a:srgbClr val="24496B"/>
            </a:solidFill>
            <a:prstDash val="solid"/>
          </a:ln>
        </p:spPr>
        <p:txBody>
          <a:bodyPr/>
          <a:lstStyle/>
          <a:p>
            <a:endParaRPr lang="en-US"/>
          </a:p>
        </p:txBody>
      </p:sp>
      <p:sp>
        <p:nvSpPr>
          <p:cNvPr id="15" name="Text 13"/>
          <p:cNvSpPr txBox="1"/>
          <p:nvPr/>
        </p:nvSpPr>
        <p:spPr>
          <a:xfrm>
            <a:off x="5961888" y="3273552"/>
            <a:ext cx="2130552" cy="457200"/>
          </a:xfrm>
          <a:prstGeom prst="rect">
            <a:avLst/>
          </a:prstGeom>
          <a:noFill/>
          <a:ln/>
        </p:spPr>
        <p:txBody>
          <a:bodyPr wrap="square" lIns="0" tIns="0" rIns="0" bIns="0" rtlCol="0" anchor="ctr"/>
          <a:lstStyle/>
          <a:p>
            <a:pPr marL="0" indent="0">
              <a:buNone/>
            </a:pPr>
            <a:r>
              <a:rPr lang="en-US" sz="1500" b="1" dirty="0">
                <a:solidFill>
                  <a:srgbClr val="19B5C9"/>
                </a:solidFill>
              </a:rPr>
              <a:t>6  Preview or submit</a:t>
            </a:r>
            <a:endParaRPr lang="en-US" sz="1500" dirty="0"/>
          </a:p>
        </p:txBody>
      </p:sp>
      <p:sp>
        <p:nvSpPr>
          <p:cNvPr id="16" name="card"/>
          <p:cNvSpPr/>
          <p:nvPr/>
        </p:nvSpPr>
        <p:spPr>
          <a:xfrm>
            <a:off x="548640" y="4572000"/>
            <a:ext cx="3931920" cy="1371600"/>
          </a:xfrm>
          <a:prstGeom prst="roundRect">
            <a:avLst>
              <a:gd name="adj" fmla="val 5333"/>
            </a:avLst>
          </a:prstGeom>
          <a:solidFill>
            <a:srgbClr val="0F2236"/>
          </a:solidFill>
          <a:ln w="12700">
            <a:solidFill>
              <a:srgbClr val="24496B"/>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749808" y="4773168"/>
            <a:ext cx="384048" cy="384048"/>
          </a:xfrm>
          <a:prstGeom prst="rect">
            <a:avLst/>
          </a:prstGeom>
        </p:spPr>
      </p:pic>
      <p:sp>
        <p:nvSpPr>
          <p:cNvPr id="18" name="Text 15"/>
          <p:cNvSpPr txBox="1"/>
          <p:nvPr/>
        </p:nvSpPr>
        <p:spPr>
          <a:xfrm>
            <a:off x="1261872" y="4736592"/>
            <a:ext cx="3081528" cy="457200"/>
          </a:xfrm>
          <a:prstGeom prst="rect">
            <a:avLst/>
          </a:prstGeom>
          <a:noFill/>
          <a:ln/>
        </p:spPr>
        <p:txBody>
          <a:bodyPr wrap="square" lIns="0" tIns="0" rIns="0" bIns="0" rtlCol="0" anchor="ctr"/>
          <a:lstStyle/>
          <a:p>
            <a:pPr marL="0" indent="0">
              <a:buNone/>
            </a:pPr>
            <a:r>
              <a:rPr lang="en-US" sz="1600" b="1" dirty="0">
                <a:solidFill>
                  <a:srgbClr val="E8EEF5"/>
                </a:solidFill>
              </a:rPr>
              <a:t>Accepted input</a:t>
            </a:r>
            <a:endParaRPr lang="en-US" sz="1600" dirty="0"/>
          </a:p>
        </p:txBody>
      </p:sp>
      <p:sp>
        <p:nvSpPr>
          <p:cNvPr id="19" name="Text 16"/>
          <p:cNvSpPr txBox="1"/>
          <p:nvPr/>
        </p:nvSpPr>
        <p:spPr>
          <a:xfrm>
            <a:off x="749808" y="5285232"/>
            <a:ext cx="3566160" cy="548640"/>
          </a:xfrm>
          <a:prstGeom prst="rect">
            <a:avLst/>
          </a:prstGeom>
          <a:noFill/>
          <a:ln/>
        </p:spPr>
        <p:txBody>
          <a:bodyPr wrap="square" lIns="0" tIns="0" rIns="0" bIns="0" rtlCol="0" anchor="t"/>
          <a:lstStyle/>
          <a:p>
            <a:pPr marL="0" indent="0">
              <a:buNone/>
            </a:pPr>
            <a:r>
              <a:rPr lang="en-US" sz="1300" dirty="0">
                <a:solidFill>
                  <a:srgbClr val="E8EEF5"/>
                </a:solidFill>
              </a:rPr>
              <a:t>PDF, image, CSV, TXT ≤ 12 MB · synthetic only</a:t>
            </a:r>
            <a:endParaRPr lang="en-US" sz="1300" dirty="0"/>
          </a:p>
        </p:txBody>
      </p:sp>
      <p:sp>
        <p:nvSpPr>
          <p:cNvPr id="20" name="card"/>
          <p:cNvSpPr/>
          <p:nvPr/>
        </p:nvSpPr>
        <p:spPr>
          <a:xfrm>
            <a:off x="4617720" y="4572000"/>
            <a:ext cx="3566160" cy="1371600"/>
          </a:xfrm>
          <a:prstGeom prst="roundRect">
            <a:avLst>
              <a:gd name="adj" fmla="val 5333"/>
            </a:avLst>
          </a:prstGeom>
          <a:solidFill>
            <a:srgbClr val="0F2236"/>
          </a:solidFill>
          <a:ln w="12700">
            <a:solidFill>
              <a:srgbClr val="24496B"/>
            </a:solidFill>
            <a:prstDash val="solid"/>
          </a:ln>
        </p:spPr>
        <p:txBody>
          <a:bodyPr/>
          <a:lstStyle/>
          <a:p>
            <a:endParaRPr lang="en-US"/>
          </a:p>
        </p:txBody>
      </p:sp>
      <p:pic>
        <p:nvPicPr>
          <p:cNvPr id="21" name="Image 1" descr="preencoded.png"/>
          <p:cNvPicPr>
            <a:picLocks noChangeAspect="1"/>
          </p:cNvPicPr>
          <p:nvPr/>
        </p:nvPicPr>
        <p:blipFill>
          <a:blip r:embed="rId6"/>
          <a:stretch>
            <a:fillRect/>
          </a:stretch>
        </p:blipFill>
        <p:spPr>
          <a:xfrm>
            <a:off x="4818888" y="4773168"/>
            <a:ext cx="384048" cy="384048"/>
          </a:xfrm>
          <a:prstGeom prst="rect">
            <a:avLst/>
          </a:prstGeom>
        </p:spPr>
      </p:pic>
      <p:sp>
        <p:nvSpPr>
          <p:cNvPr id="22" name="Text 18"/>
          <p:cNvSpPr txBox="1"/>
          <p:nvPr/>
        </p:nvSpPr>
        <p:spPr>
          <a:xfrm>
            <a:off x="5330952" y="4736592"/>
            <a:ext cx="2715768" cy="457200"/>
          </a:xfrm>
          <a:prstGeom prst="rect">
            <a:avLst/>
          </a:prstGeom>
          <a:noFill/>
          <a:ln/>
        </p:spPr>
        <p:txBody>
          <a:bodyPr wrap="square" lIns="0" tIns="0" rIns="0" bIns="0" rtlCol="0" anchor="ctr"/>
          <a:lstStyle/>
          <a:p>
            <a:pPr marL="0" indent="0">
              <a:buNone/>
            </a:pPr>
            <a:r>
              <a:rPr lang="en-US" sz="1600" b="1" dirty="0">
                <a:solidFill>
                  <a:srgbClr val="F2A93B"/>
                </a:solidFill>
              </a:rPr>
              <a:t>Never</a:t>
            </a:r>
            <a:endParaRPr lang="en-US" sz="1600" dirty="0"/>
          </a:p>
        </p:txBody>
      </p:sp>
      <p:sp>
        <p:nvSpPr>
          <p:cNvPr id="23" name="Text 19"/>
          <p:cNvSpPr txBox="1"/>
          <p:nvPr/>
        </p:nvSpPr>
        <p:spPr>
          <a:xfrm>
            <a:off x="4818888" y="5285232"/>
            <a:ext cx="3200400" cy="548640"/>
          </a:xfrm>
          <a:prstGeom prst="rect">
            <a:avLst/>
          </a:prstGeom>
          <a:noFill/>
          <a:ln/>
        </p:spPr>
        <p:txBody>
          <a:bodyPr wrap="square" lIns="0" tIns="0" rIns="0" bIns="0" rtlCol="0" anchor="t"/>
          <a:lstStyle/>
          <a:p>
            <a:pPr marL="0" indent="0">
              <a:buNone/>
            </a:pPr>
            <a:r>
              <a:rPr lang="en-US" sz="1300" dirty="0">
                <a:solidFill>
                  <a:srgbClr val="E8EEF5"/>
                </a:solidFill>
              </a:rPr>
              <a:t>Upload of the original · unit guessing</a:t>
            </a:r>
            <a:endParaRPr lang="en-US" sz="1300" dirty="0"/>
          </a:p>
        </p:txBody>
      </p:sp>
      <p:sp>
        <p:nvSpPr>
          <p:cNvPr id="24" name="Shape 20"/>
          <p:cNvSpPr/>
          <p:nvPr/>
        </p:nvSpPr>
        <p:spPr>
          <a:xfrm>
            <a:off x="8494776" y="1545336"/>
            <a:ext cx="3218688" cy="4133088"/>
          </a:xfrm>
          <a:prstGeom prst="roundRect">
            <a:avLst>
              <a:gd name="adj" fmla="val 1420"/>
            </a:avLst>
          </a:prstGeom>
          <a:solidFill>
            <a:srgbClr val="0F2236"/>
          </a:solidFill>
          <a:ln w="12700">
            <a:solidFill>
              <a:srgbClr val="19B5C9"/>
            </a:solidFill>
            <a:prstDash val="solid"/>
          </a:ln>
        </p:spPr>
        <p:txBody>
          <a:bodyPr/>
          <a:lstStyle/>
          <a:p>
            <a:endParaRPr lang="en-US"/>
          </a:p>
        </p:txBody>
      </p:sp>
      <p:pic>
        <p:nvPicPr>
          <p:cNvPr id="25" name="Image 2" descr="/home/claude/v6/shots_doc/documents.jpg"/>
          <p:cNvPicPr>
            <a:picLocks noChangeAspect="1"/>
          </p:cNvPicPr>
          <p:nvPr/>
        </p:nvPicPr>
        <p:blipFill>
          <a:blip r:embed="rId7"/>
          <a:stretch>
            <a:fillRect/>
          </a:stretch>
        </p:blipFill>
        <p:spPr>
          <a:xfrm>
            <a:off x="8549640" y="1600200"/>
            <a:ext cx="3108960" cy="4023360"/>
          </a:xfrm>
          <a:prstGeom prst="rect">
            <a:avLst/>
          </a:prstGeom>
        </p:spPr>
      </p:pic>
      <p:sp>
        <p:nvSpPr>
          <p:cNvPr id="26" name="Text 21"/>
          <p:cNvSpPr txBox="1"/>
          <p:nvPr/>
        </p:nvSpPr>
        <p:spPr>
          <a:xfrm>
            <a:off x="8275320" y="5715000"/>
            <a:ext cx="3657600" cy="256032"/>
          </a:xfrm>
          <a:prstGeom prst="rect">
            <a:avLst/>
          </a:prstGeom>
          <a:noFill/>
          <a:ln/>
        </p:spPr>
        <p:txBody>
          <a:bodyPr wrap="square" lIns="0" tIns="0" rIns="0" bIns="0" rtlCol="0" anchor="ctr"/>
          <a:lstStyle/>
          <a:p>
            <a:pPr marL="0" indent="0" algn="ctr">
              <a:buNone/>
            </a:pPr>
            <a:r>
              <a:rPr lang="en-US" sz="1000" dirty="0">
                <a:solidFill>
                  <a:srgbClr val="93A7BC"/>
                </a:solidFill>
              </a:rPr>
              <a:t>Mission Documents — live site</a:t>
            </a:r>
            <a:endParaRPr lang="en-US" sz="1000" dirty="0"/>
          </a:p>
        </p:txBody>
      </p:sp>
      <p:sp>
        <p:nvSpPr>
          <p:cNvPr id="27" name="Text 22"/>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src/components/mission-document-review-workbench.tsx; src/domain/biomarkers</a:t>
            </a:r>
            <a:endParaRPr lang="en-US" sz="1000" dirty="0"/>
          </a:p>
        </p:txBody>
      </p:sp>
      <p:sp>
        <p:nvSpPr>
          <p:cNvPr id="28"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19</a:t>
            </a:fld>
            <a:endParaRPr lang="en-US"/>
          </a:p>
        </p:txBody>
      </p:sp>
      <p:pic>
        <p:nvPicPr>
          <p:cNvPr id="29" name="narration19">
            <a:hlinkClick r:id="" action="ppaction://media"/>
            <a:extLst>
              <a:ext uri="{FF2B5EF4-FFF2-40B4-BE49-F238E27FC236}">
                <a16:creationId xmlns:a16="http://schemas.microsoft.com/office/drawing/2014/main" id="{89A42ADE-F6F9-8C69-029E-8A09E603CBB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982368" y="323246"/>
            <a:ext cx="487363" cy="487363"/>
          </a:xfrm>
          <a:prstGeom prst="rect">
            <a:avLst/>
          </a:prstGeom>
        </p:spPr>
      </p:pic>
    </p:spTree>
  </p:cSld>
  <p:clrMapOvr>
    <a:masterClrMapping/>
  </p:clrMapOvr>
  <p:transition spd="slow" advTm="309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753"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Ground Medical review — eight synthetic values, read-only, session-safe</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GROUND MEDICAL WORKFLOW</a:t>
            </a:r>
            <a:endParaRPr lang="en-US" sz="1100" dirty="0"/>
          </a:p>
        </p:txBody>
      </p:sp>
      <p:sp>
        <p:nvSpPr>
          <p:cNvPr id="4" name="card"/>
          <p:cNvSpPr/>
          <p:nvPr/>
        </p:nvSpPr>
        <p:spPr>
          <a:xfrm>
            <a:off x="548640" y="1737360"/>
            <a:ext cx="1463040" cy="182880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01952"/>
            <a:ext cx="1124712" cy="457200"/>
          </a:xfrm>
          <a:prstGeom prst="rect">
            <a:avLst/>
          </a:prstGeom>
          <a:noFill/>
          <a:ln/>
        </p:spPr>
        <p:txBody>
          <a:bodyPr wrap="square" lIns="0" tIns="0" rIns="0" bIns="0" rtlCol="0" anchor="ctr"/>
          <a:lstStyle/>
          <a:p>
            <a:pPr marL="0" indent="0">
              <a:buNone/>
            </a:pPr>
            <a:r>
              <a:rPr lang="en-US" sz="2200" b="1" dirty="0">
                <a:solidFill>
                  <a:srgbClr val="19B5C9"/>
                </a:solidFill>
              </a:rPr>
              <a:t>1</a:t>
            </a:r>
            <a:endParaRPr lang="en-US" sz="2200" dirty="0"/>
          </a:p>
        </p:txBody>
      </p:sp>
      <p:sp>
        <p:nvSpPr>
          <p:cNvPr id="6" name="Text 4"/>
          <p:cNvSpPr txBox="1"/>
          <p:nvPr/>
        </p:nvSpPr>
        <p:spPr>
          <a:xfrm>
            <a:off x="749808" y="2450592"/>
            <a:ext cx="1097280" cy="1005840"/>
          </a:xfrm>
          <a:prstGeom prst="rect">
            <a:avLst/>
          </a:prstGeom>
          <a:noFill/>
          <a:ln/>
        </p:spPr>
        <p:txBody>
          <a:bodyPr wrap="square" lIns="0" tIns="0" rIns="0" bIns="0" rtlCol="0" anchor="t"/>
          <a:lstStyle/>
          <a:p>
            <a:pPr marL="0" indent="0">
              <a:buNone/>
            </a:pPr>
            <a:r>
              <a:rPr lang="en-US" sz="1200" dirty="0">
                <a:solidFill>
                  <a:srgbClr val="E8EEF5"/>
                </a:solidFill>
              </a:rPr>
              <a:t>Ground Medical Workspace</a:t>
            </a:r>
            <a:endParaRPr lang="en-US" sz="1200" dirty="0"/>
          </a:p>
        </p:txBody>
      </p:sp>
      <p:sp>
        <p:nvSpPr>
          <p:cNvPr id="7" name="card"/>
          <p:cNvSpPr/>
          <p:nvPr/>
        </p:nvSpPr>
        <p:spPr>
          <a:xfrm>
            <a:off x="2148840" y="1737360"/>
            <a:ext cx="1463040" cy="182880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8" name="Text 6"/>
          <p:cNvSpPr txBox="1"/>
          <p:nvPr/>
        </p:nvSpPr>
        <p:spPr>
          <a:xfrm>
            <a:off x="2350008" y="1901952"/>
            <a:ext cx="1124712" cy="457200"/>
          </a:xfrm>
          <a:prstGeom prst="rect">
            <a:avLst/>
          </a:prstGeom>
          <a:noFill/>
          <a:ln/>
        </p:spPr>
        <p:txBody>
          <a:bodyPr wrap="square" lIns="0" tIns="0" rIns="0" bIns="0" rtlCol="0" anchor="ctr"/>
          <a:lstStyle/>
          <a:p>
            <a:pPr marL="0" indent="0">
              <a:buNone/>
            </a:pPr>
            <a:r>
              <a:rPr lang="en-US" sz="2200" b="1" dirty="0">
                <a:solidFill>
                  <a:srgbClr val="19B5C9"/>
                </a:solidFill>
              </a:rPr>
              <a:t>2</a:t>
            </a:r>
            <a:endParaRPr lang="en-US" sz="2200" dirty="0"/>
          </a:p>
        </p:txBody>
      </p:sp>
      <p:sp>
        <p:nvSpPr>
          <p:cNvPr id="9" name="Text 7"/>
          <p:cNvSpPr txBox="1"/>
          <p:nvPr/>
        </p:nvSpPr>
        <p:spPr>
          <a:xfrm>
            <a:off x="2350008" y="2450592"/>
            <a:ext cx="1097280" cy="1005840"/>
          </a:xfrm>
          <a:prstGeom prst="rect">
            <a:avLst/>
          </a:prstGeom>
          <a:noFill/>
          <a:ln/>
        </p:spPr>
        <p:txBody>
          <a:bodyPr wrap="square" lIns="0" tIns="0" rIns="0" bIns="0" rtlCol="0" anchor="t"/>
          <a:lstStyle/>
          <a:p>
            <a:pPr marL="0" indent="0">
              <a:buNone/>
            </a:pPr>
            <a:r>
              <a:rPr lang="en-US" sz="1200" dirty="0">
                <a:solidFill>
                  <a:srgbClr val="E8EEF5"/>
                </a:solidFill>
              </a:rPr>
              <a:t>Refresh → 8 values · pending</a:t>
            </a:r>
            <a:endParaRPr lang="en-US" sz="1200" dirty="0"/>
          </a:p>
        </p:txBody>
      </p:sp>
      <p:sp>
        <p:nvSpPr>
          <p:cNvPr id="10" name="card"/>
          <p:cNvSpPr/>
          <p:nvPr/>
        </p:nvSpPr>
        <p:spPr>
          <a:xfrm>
            <a:off x="3749040" y="1737360"/>
            <a:ext cx="1463040" cy="182880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3950208" y="1901952"/>
            <a:ext cx="1124712" cy="457200"/>
          </a:xfrm>
          <a:prstGeom prst="rect">
            <a:avLst/>
          </a:prstGeom>
          <a:noFill/>
          <a:ln/>
        </p:spPr>
        <p:txBody>
          <a:bodyPr wrap="square" lIns="0" tIns="0" rIns="0" bIns="0" rtlCol="0" anchor="ctr"/>
          <a:lstStyle/>
          <a:p>
            <a:pPr marL="0" indent="0">
              <a:buNone/>
            </a:pPr>
            <a:r>
              <a:rPr lang="en-US" sz="2200" b="1" dirty="0">
                <a:solidFill>
                  <a:srgbClr val="19B5C9"/>
                </a:solidFill>
              </a:rPr>
              <a:t>3</a:t>
            </a:r>
            <a:endParaRPr lang="en-US" sz="2200" dirty="0"/>
          </a:p>
        </p:txBody>
      </p:sp>
      <p:sp>
        <p:nvSpPr>
          <p:cNvPr id="12" name="Text 10"/>
          <p:cNvSpPr txBox="1"/>
          <p:nvPr/>
        </p:nvSpPr>
        <p:spPr>
          <a:xfrm>
            <a:off x="3950208" y="2450592"/>
            <a:ext cx="1097280" cy="1005840"/>
          </a:xfrm>
          <a:prstGeom prst="rect">
            <a:avLst/>
          </a:prstGeom>
          <a:noFill/>
          <a:ln/>
        </p:spPr>
        <p:txBody>
          <a:bodyPr wrap="square" lIns="0" tIns="0" rIns="0" bIns="0" rtlCol="0" anchor="t"/>
          <a:lstStyle/>
          <a:p>
            <a:pPr marL="0" indent="0">
              <a:buNone/>
            </a:pPr>
            <a:r>
              <a:rPr lang="en-US" sz="1200" dirty="0">
                <a:solidFill>
                  <a:srgbClr val="E8EEF5"/>
                </a:solidFill>
              </a:rPr>
              <a:t>View values + excerpts</a:t>
            </a:r>
            <a:endParaRPr lang="en-US" sz="1200" dirty="0"/>
          </a:p>
        </p:txBody>
      </p:sp>
      <p:sp>
        <p:nvSpPr>
          <p:cNvPr id="13" name="card"/>
          <p:cNvSpPr/>
          <p:nvPr/>
        </p:nvSpPr>
        <p:spPr>
          <a:xfrm>
            <a:off x="5349240" y="1737360"/>
            <a:ext cx="1463040" cy="1828800"/>
          </a:xfrm>
          <a:prstGeom prst="roundRect">
            <a:avLst>
              <a:gd name="adj" fmla="val 5000"/>
            </a:avLst>
          </a:prstGeom>
          <a:solidFill>
            <a:srgbClr val="0F2236"/>
          </a:solidFill>
          <a:ln w="12700">
            <a:solidFill>
              <a:srgbClr val="24496B"/>
            </a:solidFill>
            <a:prstDash val="solid"/>
          </a:ln>
        </p:spPr>
        <p:txBody>
          <a:bodyPr/>
          <a:lstStyle/>
          <a:p>
            <a:endParaRPr lang="en-US"/>
          </a:p>
        </p:txBody>
      </p:sp>
      <p:sp>
        <p:nvSpPr>
          <p:cNvPr id="14" name="Text 12"/>
          <p:cNvSpPr txBox="1"/>
          <p:nvPr/>
        </p:nvSpPr>
        <p:spPr>
          <a:xfrm>
            <a:off x="5550408" y="1901952"/>
            <a:ext cx="1124712" cy="457200"/>
          </a:xfrm>
          <a:prstGeom prst="rect">
            <a:avLst/>
          </a:prstGeom>
          <a:noFill/>
          <a:ln/>
        </p:spPr>
        <p:txBody>
          <a:bodyPr wrap="square" lIns="0" tIns="0" rIns="0" bIns="0" rtlCol="0" anchor="ctr"/>
          <a:lstStyle/>
          <a:p>
            <a:pPr marL="0" indent="0">
              <a:buNone/>
            </a:pPr>
            <a:r>
              <a:rPr lang="en-US" sz="2200" b="1" dirty="0">
                <a:solidFill>
                  <a:srgbClr val="19B5C9"/>
                </a:solidFill>
              </a:rPr>
              <a:t>4</a:t>
            </a:r>
            <a:endParaRPr lang="en-US" sz="2200" dirty="0"/>
          </a:p>
        </p:txBody>
      </p:sp>
      <p:sp>
        <p:nvSpPr>
          <p:cNvPr id="15" name="Text 13"/>
          <p:cNvSpPr txBox="1"/>
          <p:nvPr/>
        </p:nvSpPr>
        <p:spPr>
          <a:xfrm>
            <a:off x="5550408" y="2450592"/>
            <a:ext cx="1097280" cy="1005840"/>
          </a:xfrm>
          <a:prstGeom prst="rect">
            <a:avLst/>
          </a:prstGeom>
          <a:noFill/>
          <a:ln/>
        </p:spPr>
        <p:txBody>
          <a:bodyPr wrap="square" lIns="0" tIns="0" rIns="0" bIns="0" rtlCol="0" anchor="t"/>
          <a:lstStyle/>
          <a:p>
            <a:pPr marL="0" indent="0">
              <a:buNone/>
            </a:pPr>
            <a:r>
              <a:rPr lang="en-US" sz="1200" dirty="0">
                <a:solidFill>
                  <a:srgbClr val="E8EEF5"/>
                </a:solidFill>
              </a:rPr>
              <a:t>Decide only if authorized</a:t>
            </a:r>
            <a:endParaRPr lang="en-US" sz="1200" dirty="0"/>
          </a:p>
        </p:txBody>
      </p:sp>
      <p:sp>
        <p:nvSpPr>
          <p:cNvPr id="16" name="card"/>
          <p:cNvSpPr/>
          <p:nvPr/>
        </p:nvSpPr>
        <p:spPr>
          <a:xfrm>
            <a:off x="548640" y="3749040"/>
            <a:ext cx="6263640" cy="1920240"/>
          </a:xfrm>
          <a:prstGeom prst="roundRect">
            <a:avLst>
              <a:gd name="adj" fmla="val 3810"/>
            </a:avLst>
          </a:prstGeom>
          <a:solidFill>
            <a:srgbClr val="0F2236"/>
          </a:solidFill>
          <a:ln w="12700">
            <a:solidFill>
              <a:srgbClr val="24496B"/>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749808" y="3950208"/>
            <a:ext cx="384048" cy="384048"/>
          </a:xfrm>
          <a:prstGeom prst="rect">
            <a:avLst/>
          </a:prstGeom>
        </p:spPr>
      </p:pic>
      <p:sp>
        <p:nvSpPr>
          <p:cNvPr id="18" name="Text 15"/>
          <p:cNvSpPr txBox="1"/>
          <p:nvPr/>
        </p:nvSpPr>
        <p:spPr>
          <a:xfrm>
            <a:off x="1261872" y="3913632"/>
            <a:ext cx="5413248" cy="457200"/>
          </a:xfrm>
          <a:prstGeom prst="rect">
            <a:avLst/>
          </a:prstGeom>
          <a:noFill/>
          <a:ln/>
        </p:spPr>
        <p:txBody>
          <a:bodyPr wrap="square" lIns="0" tIns="0" rIns="0" bIns="0" rtlCol="0" anchor="ctr"/>
          <a:lstStyle/>
          <a:p>
            <a:pPr marL="0" indent="0">
              <a:buNone/>
            </a:pPr>
            <a:r>
              <a:rPr lang="en-US" sz="1600" b="1" dirty="0">
                <a:solidFill>
                  <a:srgbClr val="E8EEF5"/>
                </a:solidFill>
              </a:rPr>
              <a:t>Session safety</a:t>
            </a:r>
            <a:endParaRPr lang="en-US" sz="1600" dirty="0"/>
          </a:p>
        </p:txBody>
      </p:sp>
      <p:sp>
        <p:nvSpPr>
          <p:cNvPr id="19" name="Text 16"/>
          <p:cNvSpPr txBox="1"/>
          <p:nvPr/>
        </p:nvSpPr>
        <p:spPr>
          <a:xfrm>
            <a:off x="749808" y="4462272"/>
            <a:ext cx="5897880" cy="1097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8EEF5"/>
                </a:solidFill>
              </a:rPr>
              <a:t>Tab return: rows hidden, re-checked, same batch restored</a:t>
            </a:r>
            <a:endParaRPr lang="en-US" sz="1300" dirty="0"/>
          </a:p>
          <a:p>
            <a:pPr marL="342900" indent="-342900">
              <a:spcAft>
                <a:spcPts val="400"/>
              </a:spcAft>
              <a:buSzPct val="100000"/>
              <a:buChar char="▪"/>
            </a:pPr>
            <a:r>
              <a:rPr lang="en-US" sz="1300" dirty="0">
                <a:solidFill>
                  <a:srgbClr val="E8EEF5"/>
                </a:solidFill>
              </a:rPr>
              <a:t>Sign-in change, revocation or mission switch: rows cleared</a:t>
            </a:r>
            <a:endParaRPr lang="en-US" sz="1300" dirty="0"/>
          </a:p>
          <a:p>
            <a:pPr marL="342900" indent="-342900">
              <a:spcAft>
                <a:spcPts val="400"/>
              </a:spcAft>
              <a:buSzPct val="100000"/>
              <a:buChar char="▪"/>
            </a:pPr>
            <a:r>
              <a:rPr lang="en-US" sz="1300" dirty="0">
                <a:solidFill>
                  <a:srgbClr val="E8EEF5"/>
                </a:solidFill>
              </a:rPr>
              <a:t>Stale responses discarded; neutral status texts</a:t>
            </a:r>
            <a:endParaRPr lang="en-US" sz="1300" dirty="0"/>
          </a:p>
        </p:txBody>
      </p:sp>
      <p:sp>
        <p:nvSpPr>
          <p:cNvPr id="20" name="Shape 17"/>
          <p:cNvSpPr/>
          <p:nvPr/>
        </p:nvSpPr>
        <p:spPr>
          <a:xfrm>
            <a:off x="6986016" y="1682496"/>
            <a:ext cx="4681728" cy="2967228"/>
          </a:xfrm>
          <a:prstGeom prst="roundRect">
            <a:avLst>
              <a:gd name="adj" fmla="val 1541"/>
            </a:avLst>
          </a:prstGeom>
          <a:solidFill>
            <a:srgbClr val="0F2236"/>
          </a:solidFill>
          <a:ln w="12700">
            <a:solidFill>
              <a:srgbClr val="19B5C9"/>
            </a:solidFill>
            <a:prstDash val="solid"/>
          </a:ln>
        </p:spPr>
        <p:txBody>
          <a:bodyPr/>
          <a:lstStyle/>
          <a:p>
            <a:endParaRPr lang="en-US"/>
          </a:p>
        </p:txBody>
      </p:sp>
      <p:pic>
        <p:nvPicPr>
          <p:cNvPr id="21" name="Image 1" descr="/home/claude/v5/shots/ground_medical_panel.jpg"/>
          <p:cNvPicPr>
            <a:picLocks noChangeAspect="1"/>
          </p:cNvPicPr>
          <p:nvPr/>
        </p:nvPicPr>
        <p:blipFill>
          <a:blip r:embed="rId6"/>
          <a:stretch>
            <a:fillRect/>
          </a:stretch>
        </p:blipFill>
        <p:spPr>
          <a:xfrm>
            <a:off x="7040880" y="1737360"/>
            <a:ext cx="4572000" cy="2857500"/>
          </a:xfrm>
          <a:prstGeom prst="rect">
            <a:avLst/>
          </a:prstGeom>
        </p:spPr>
      </p:pic>
      <p:sp>
        <p:nvSpPr>
          <p:cNvPr id="22" name="Text 18"/>
          <p:cNvSpPr txBox="1"/>
          <p:nvPr/>
        </p:nvSpPr>
        <p:spPr>
          <a:xfrm>
            <a:off x="7040880" y="4686300"/>
            <a:ext cx="4572000" cy="256032"/>
          </a:xfrm>
          <a:prstGeom prst="rect">
            <a:avLst/>
          </a:prstGeom>
          <a:noFill/>
          <a:ln/>
        </p:spPr>
        <p:txBody>
          <a:bodyPr wrap="square" lIns="0" tIns="0" rIns="0" bIns="0" rtlCol="0" anchor="ctr"/>
          <a:lstStyle/>
          <a:p>
            <a:pPr marL="0" indent="0" algn="ctr">
              <a:buNone/>
            </a:pPr>
            <a:r>
              <a:rPr lang="en-US" sz="1000" dirty="0">
                <a:solidFill>
                  <a:srgbClr val="93A7BC"/>
                </a:solidFill>
              </a:rPr>
              <a:t>Ground &amp; Research Console before sign-in — live site</a:t>
            </a:r>
            <a:endParaRPr lang="en-US" sz="1000" dirty="0"/>
          </a:p>
        </p:txBody>
      </p:sp>
      <p:sp>
        <p:nvSpPr>
          <p:cNvPr id="23" name="Text 19"/>
          <p:cNvSpPr txBox="1"/>
          <p:nvPr/>
        </p:nvSpPr>
        <p:spPr>
          <a:xfrm>
            <a:off x="7040880" y="5120640"/>
            <a:ext cx="4572000" cy="457200"/>
          </a:xfrm>
          <a:prstGeom prst="rect">
            <a:avLst/>
          </a:prstGeom>
          <a:noFill/>
          <a:ln/>
        </p:spPr>
        <p:txBody>
          <a:bodyPr wrap="square" lIns="0" tIns="0" rIns="0" bIns="0" rtlCol="0" anchor="ctr"/>
          <a:lstStyle/>
          <a:p>
            <a:pPr marL="0" indent="0">
              <a:buNone/>
            </a:pPr>
            <a:r>
              <a:rPr lang="en-US" sz="1200" b="1" dirty="0">
                <a:solidFill>
                  <a:srgbClr val="F2A93B"/>
                </a:solidFill>
              </a:rPr>
              <a:t>Research-only · no clinical meaning · never promoted to health records</a:t>
            </a:r>
            <a:endParaRPr lang="en-US" sz="1200" dirty="0"/>
          </a:p>
        </p:txBody>
      </p:sp>
      <p:sp>
        <p:nvSpPr>
          <p:cNvPr id="24" name="Text 20"/>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src/components/p368b-ground-medical-review.tsx; drizzle/migrations/0009–0010; tests/integration-pg</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20</a:t>
            </a:fld>
            <a:endParaRPr lang="en-US"/>
          </a:p>
        </p:txBody>
      </p:sp>
      <p:pic>
        <p:nvPicPr>
          <p:cNvPr id="26" name="narration20">
            <a:hlinkClick r:id="" action="ppaction://media"/>
            <a:extLst>
              <a:ext uri="{FF2B5EF4-FFF2-40B4-BE49-F238E27FC236}">
                <a16:creationId xmlns:a16="http://schemas.microsoft.com/office/drawing/2014/main" id="{6EC180D6-5292-2427-37C1-1BB8D21E99B9}"/>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081377" y="1219359"/>
            <a:ext cx="487363" cy="487363"/>
          </a:xfrm>
          <a:prstGeom prst="rect">
            <a:avLst/>
          </a:prstGeom>
        </p:spPr>
      </p:pic>
    </p:spTree>
  </p:cSld>
  <p:clrMapOvr>
    <a:masterClrMapping/>
  </p:clrMapOvr>
  <p:transition spd="slow" advTm="295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36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Daily Health Companion: the astronaut’s day, with honest data</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CREW SELF · DAILY SUPPORT</a:t>
            </a:r>
            <a:endParaRPr lang="en-US" sz="1100" dirty="0"/>
          </a:p>
        </p:txBody>
      </p:sp>
      <p:sp>
        <p:nvSpPr>
          <p:cNvPr id="4" name="card"/>
          <p:cNvSpPr/>
          <p:nvPr/>
        </p:nvSpPr>
        <p:spPr>
          <a:xfrm>
            <a:off x="548640" y="1737360"/>
            <a:ext cx="3383280" cy="3931920"/>
          </a:xfrm>
          <a:prstGeom prst="roundRect">
            <a:avLst>
              <a:gd name="adj" fmla="val 2162"/>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2532888" cy="457200"/>
          </a:xfrm>
          <a:prstGeom prst="rect">
            <a:avLst/>
          </a:prstGeom>
          <a:noFill/>
          <a:ln/>
        </p:spPr>
        <p:txBody>
          <a:bodyPr wrap="square" lIns="0" tIns="0" rIns="0" bIns="0" rtlCol="0" anchor="ctr"/>
          <a:lstStyle/>
          <a:p>
            <a:pPr marL="0" indent="0">
              <a:buNone/>
            </a:pPr>
            <a:r>
              <a:rPr lang="en-US" sz="1600" b="1" dirty="0">
                <a:solidFill>
                  <a:srgbClr val="E8EEF5"/>
                </a:solidFill>
              </a:rPr>
              <a:t>What it offers</a:t>
            </a:r>
            <a:endParaRPr lang="en-US" sz="1600" dirty="0"/>
          </a:p>
        </p:txBody>
      </p:sp>
      <p:sp>
        <p:nvSpPr>
          <p:cNvPr id="7" name="Text 4"/>
          <p:cNvSpPr txBox="1"/>
          <p:nvPr/>
        </p:nvSpPr>
        <p:spPr>
          <a:xfrm>
            <a:off x="749808" y="2450592"/>
            <a:ext cx="3017520" cy="31089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8EEF5"/>
                </a:solidFill>
              </a:rPr>
              <a:t>5 mission environments</a:t>
            </a:r>
            <a:endParaRPr lang="en-US" sz="1300" dirty="0"/>
          </a:p>
          <a:p>
            <a:pPr marL="342900" indent="-342900">
              <a:spcAft>
                <a:spcPts val="400"/>
              </a:spcAft>
              <a:buSzPct val="100000"/>
              <a:buChar char="▪"/>
            </a:pPr>
            <a:r>
              <a:rPr lang="en-US" sz="1300" dirty="0">
                <a:solidFill>
                  <a:srgbClr val="E8EEF5"/>
                </a:solidFill>
              </a:rPr>
              <a:t>4-item routine · participation only</a:t>
            </a:r>
            <a:endParaRPr lang="en-US" sz="1300" dirty="0"/>
          </a:p>
          <a:p>
            <a:pPr marL="342900" indent="-342900">
              <a:spcAft>
                <a:spcPts val="400"/>
              </a:spcAft>
              <a:buSzPct val="100000"/>
              <a:buChar char="▪"/>
            </a:pPr>
            <a:r>
              <a:rPr lang="en-US" sz="1300" dirty="0">
                <a:solidFill>
                  <a:srgbClr val="E8EEF5"/>
                </a:solidFill>
              </a:rPr>
              <a:t>Reminders 1 min (demo) – 4 h</a:t>
            </a:r>
            <a:endParaRPr lang="en-US" sz="1300" dirty="0"/>
          </a:p>
          <a:p>
            <a:pPr marL="342900" indent="-342900">
              <a:spcAft>
                <a:spcPts val="400"/>
              </a:spcAft>
              <a:buSzPct val="100000"/>
              <a:buChar char="▪"/>
            </a:pPr>
            <a:r>
              <a:rPr lang="en-US" sz="1300" dirty="0">
                <a:solidFill>
                  <a:srgbClr val="E8EEF5"/>
                </a:solidFill>
              </a:rPr>
              <a:t>Own trends: unit · time · source · quality</a:t>
            </a:r>
            <a:endParaRPr lang="en-US" sz="1300" dirty="0"/>
          </a:p>
          <a:p>
            <a:pPr marL="342900" indent="-342900">
              <a:spcAft>
                <a:spcPts val="400"/>
              </a:spcAft>
              <a:buSzPct val="100000"/>
              <a:buChar char="▪"/>
            </a:pPr>
            <a:r>
              <a:rPr lang="en-US" sz="1300" dirty="0">
                <a:solidFill>
                  <a:srgbClr val="E8EEF5"/>
                </a:solidFill>
              </a:rPr>
              <a:t>7 / 30 / 90-day and source filters</a:t>
            </a:r>
            <a:endParaRPr lang="en-US" sz="1300" dirty="0"/>
          </a:p>
        </p:txBody>
      </p:sp>
      <p:sp>
        <p:nvSpPr>
          <p:cNvPr id="8" name="card"/>
          <p:cNvSpPr/>
          <p:nvPr/>
        </p:nvSpPr>
        <p:spPr>
          <a:xfrm>
            <a:off x="4069080" y="1737360"/>
            <a:ext cx="2880360" cy="3931920"/>
          </a:xfrm>
          <a:prstGeom prst="roundRect">
            <a:avLst>
              <a:gd name="adj" fmla="val 2540"/>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4270248" y="1938528"/>
            <a:ext cx="384048" cy="384048"/>
          </a:xfrm>
          <a:prstGeom prst="rect">
            <a:avLst/>
          </a:prstGeom>
        </p:spPr>
      </p:pic>
      <p:sp>
        <p:nvSpPr>
          <p:cNvPr id="10" name="Text 6"/>
          <p:cNvSpPr txBox="1"/>
          <p:nvPr/>
        </p:nvSpPr>
        <p:spPr>
          <a:xfrm>
            <a:off x="4782312" y="1901952"/>
            <a:ext cx="2029968" cy="457200"/>
          </a:xfrm>
          <a:prstGeom prst="rect">
            <a:avLst/>
          </a:prstGeom>
          <a:noFill/>
          <a:ln/>
        </p:spPr>
        <p:txBody>
          <a:bodyPr wrap="square" lIns="0" tIns="0" rIns="0" bIns="0" rtlCol="0" anchor="ctr"/>
          <a:lstStyle/>
          <a:p>
            <a:pPr marL="0" indent="0">
              <a:buNone/>
            </a:pPr>
            <a:r>
              <a:rPr lang="en-US" sz="1600" b="1" dirty="0">
                <a:solidFill>
                  <a:srgbClr val="F2A93B"/>
                </a:solidFill>
              </a:rPr>
              <a:t>By design, never</a:t>
            </a:r>
            <a:endParaRPr lang="en-US" sz="1600" dirty="0"/>
          </a:p>
        </p:txBody>
      </p:sp>
      <p:sp>
        <p:nvSpPr>
          <p:cNvPr id="11" name="Text 7"/>
          <p:cNvSpPr txBox="1"/>
          <p:nvPr/>
        </p:nvSpPr>
        <p:spPr>
          <a:xfrm>
            <a:off x="4270248" y="2450592"/>
            <a:ext cx="2514600" cy="31089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E8EEF5"/>
                </a:solidFill>
              </a:rPr>
              <a:t>Health or readiness scores</a:t>
            </a:r>
            <a:endParaRPr lang="en-US" sz="1300" dirty="0"/>
          </a:p>
          <a:p>
            <a:pPr marL="342900" indent="-342900">
              <a:spcAft>
                <a:spcPts val="400"/>
              </a:spcAft>
              <a:buSzPct val="100000"/>
              <a:buChar char="▪"/>
            </a:pPr>
            <a:r>
              <a:rPr lang="en-US" sz="1300" dirty="0">
                <a:solidFill>
                  <a:srgbClr val="E8EEF5"/>
                </a:solidFill>
              </a:rPr>
              <a:t>Prescribed schedules</a:t>
            </a:r>
            <a:endParaRPr lang="en-US" sz="1300" dirty="0"/>
          </a:p>
          <a:p>
            <a:pPr marL="342900" indent="-342900">
              <a:spcAft>
                <a:spcPts val="400"/>
              </a:spcAft>
              <a:buSzPct val="100000"/>
              <a:buChar char="▪"/>
            </a:pPr>
            <a:r>
              <a:rPr lang="en-US" sz="1300" dirty="0">
                <a:solidFill>
                  <a:srgbClr val="E8EEF5"/>
                </a:solidFill>
              </a:rPr>
              <a:t>Push or background alerts</a:t>
            </a:r>
            <a:endParaRPr lang="en-US" sz="1300" dirty="0"/>
          </a:p>
          <a:p>
            <a:pPr marL="342900" indent="-342900">
              <a:spcAft>
                <a:spcPts val="400"/>
              </a:spcAft>
              <a:buSzPct val="100000"/>
              <a:buChar char="▪"/>
            </a:pPr>
            <a:r>
              <a:rPr lang="en-US" sz="1300" dirty="0">
                <a:solidFill>
                  <a:srgbClr val="E8EEF5"/>
                </a:solidFill>
              </a:rPr>
              <a:t>Mixing synthetic and crew data</a:t>
            </a:r>
            <a:endParaRPr lang="en-US" sz="1300" dirty="0"/>
          </a:p>
        </p:txBody>
      </p:sp>
      <p:sp>
        <p:nvSpPr>
          <p:cNvPr id="12" name="Shape 8"/>
          <p:cNvSpPr/>
          <p:nvPr/>
        </p:nvSpPr>
        <p:spPr>
          <a:xfrm>
            <a:off x="7123176" y="1682496"/>
            <a:ext cx="4544568" cy="2881503"/>
          </a:xfrm>
          <a:prstGeom prst="roundRect">
            <a:avLst>
              <a:gd name="adj" fmla="val 1587"/>
            </a:avLst>
          </a:prstGeom>
          <a:solidFill>
            <a:srgbClr val="0F2236"/>
          </a:solidFill>
          <a:ln w="12700">
            <a:solidFill>
              <a:srgbClr val="19B5C9"/>
            </a:solidFill>
            <a:prstDash val="solid"/>
          </a:ln>
        </p:spPr>
        <p:txBody>
          <a:bodyPr/>
          <a:lstStyle/>
          <a:p>
            <a:endParaRPr lang="en-US"/>
          </a:p>
        </p:txBody>
      </p:sp>
      <p:pic>
        <p:nvPicPr>
          <p:cNvPr id="13" name="Image 2" descr="/home/claude/v5/shots/companion_trends.jpg"/>
          <p:cNvPicPr>
            <a:picLocks noChangeAspect="1"/>
          </p:cNvPicPr>
          <p:nvPr/>
        </p:nvPicPr>
        <p:blipFill>
          <a:blip r:embed="rId7"/>
          <a:stretch>
            <a:fillRect/>
          </a:stretch>
        </p:blipFill>
        <p:spPr>
          <a:xfrm>
            <a:off x="7178040" y="1737360"/>
            <a:ext cx="4434840" cy="2771775"/>
          </a:xfrm>
          <a:prstGeom prst="rect">
            <a:avLst/>
          </a:prstGeom>
        </p:spPr>
      </p:pic>
      <p:sp>
        <p:nvSpPr>
          <p:cNvPr id="14" name="Text 9"/>
          <p:cNvSpPr txBox="1"/>
          <p:nvPr/>
        </p:nvSpPr>
        <p:spPr>
          <a:xfrm>
            <a:off x="7178040" y="4600575"/>
            <a:ext cx="4434840" cy="256032"/>
          </a:xfrm>
          <a:prstGeom prst="rect">
            <a:avLst/>
          </a:prstGeom>
          <a:noFill/>
          <a:ln/>
        </p:spPr>
        <p:txBody>
          <a:bodyPr wrap="square" lIns="0" tIns="0" rIns="0" bIns="0" rtlCol="0" anchor="ctr"/>
          <a:lstStyle/>
          <a:p>
            <a:pPr marL="0" indent="0" algn="ctr">
              <a:buNone/>
            </a:pPr>
            <a:r>
              <a:rPr lang="en-US" sz="1000" dirty="0">
                <a:solidFill>
                  <a:srgbClr val="93A7BC"/>
                </a:solidFill>
              </a:rPr>
              <a:t>Synthetic trend example (labelled) — live site</a:t>
            </a:r>
            <a:endParaRPr lang="en-US" sz="1000" dirty="0"/>
          </a:p>
        </p:txBody>
      </p:sp>
      <p:sp>
        <p:nvSpPr>
          <p:cNvPr id="15" name="Text 10"/>
          <p:cNvSpPr txBox="1"/>
          <p:nvPr/>
        </p:nvSpPr>
        <p:spPr>
          <a:xfrm>
            <a:off x="7178040" y="4800600"/>
            <a:ext cx="4434840" cy="731520"/>
          </a:xfrm>
          <a:prstGeom prst="rect">
            <a:avLst/>
          </a:prstGeom>
          <a:noFill/>
          <a:ln/>
        </p:spPr>
        <p:txBody>
          <a:bodyPr wrap="square" lIns="0" tIns="0" rIns="0" bIns="0" rtlCol="0" anchor="ctr"/>
          <a:lstStyle/>
          <a:p>
            <a:pPr marL="0" indent="0">
              <a:buNone/>
            </a:pPr>
            <a:r>
              <a:rPr lang="en-US" sz="1200" dirty="0">
                <a:solidFill>
                  <a:srgbClr val="E8EEF5"/>
                </a:solidFill>
              </a:rPr>
              <a:t>Real-account check (development environment): Crew A 27 charted · B 23 · C 51 — no foreign identifiers</a:t>
            </a:r>
            <a:endParaRPr lang="en-US" sz="1200" dirty="0"/>
          </a:p>
        </p:txBody>
      </p:sp>
      <p:sp>
        <p:nvSpPr>
          <p:cNvPr id="16" name="Text 11"/>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src/components/astronaut-daily-health-companion.tsx; src/domain/companion; docs/P49_DEMO_READINESS_RESULTS.md</a:t>
            </a:r>
            <a:endParaRPr lang="en-US" sz="1000" dirty="0"/>
          </a:p>
        </p:txBody>
      </p:sp>
      <p:sp>
        <p:nvSpPr>
          <p:cNvPr id="17"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21</a:t>
            </a:fld>
            <a:endParaRPr lang="en-US"/>
          </a:p>
        </p:txBody>
      </p:sp>
      <p:pic>
        <p:nvPicPr>
          <p:cNvPr id="18" name="narration21">
            <a:hlinkClick r:id="" action="ppaction://media"/>
            <a:extLst>
              <a:ext uri="{FF2B5EF4-FFF2-40B4-BE49-F238E27FC236}">
                <a16:creationId xmlns:a16="http://schemas.microsoft.com/office/drawing/2014/main" id="{E5A24454-6B0D-81F8-DB46-046042E36EF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8193673" y="844773"/>
            <a:ext cx="487363" cy="487363"/>
          </a:xfrm>
          <a:prstGeom prst="rect">
            <a:avLst/>
          </a:prstGeom>
        </p:spPr>
      </p:pic>
    </p:spTree>
  </p:cSld>
  <p:clrMapOvr>
    <a:masterClrMapping/>
  </p:clrMapOvr>
  <p:transition spd="slow" advTm="291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977"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A private view must never outlive its authorization</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SESSION INTEGRITY · MISSION SWITCHING · STALE RESPONSES</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766560" cy="3401568"/>
        </p:xfrm>
        <a:graphic>
          <a:graphicData uri="http://schemas.openxmlformats.org/drawingml/2006/table">
            <a:tbl>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566928">
                <a:tc>
                  <a:txBody>
                    <a:bodyPr/>
                    <a:lstStyle/>
                    <a:p>
                      <a:pPr marL="0" indent="0">
                        <a:buNone/>
                      </a:pPr>
                      <a:r>
                        <a:rPr lang="en-US" sz="1300" b="1" dirty="0">
                          <a:solidFill>
                            <a:srgbClr val="19B5C9"/>
                          </a:solidFill>
                        </a:rPr>
                        <a:t>Event</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300" b="1" dirty="0">
                          <a:solidFill>
                            <a:srgbClr val="19B5C9"/>
                          </a:solidFill>
                        </a:rPr>
                        <a:t>What the user sees</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E8EEF5"/>
                          </a:solidFill>
                        </a:rPr>
                        <a:t>Tab hidden → shown</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Rows hidden · re-check · restored if still authorized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66928">
                <a:tc>
                  <a:txBody>
                    <a:bodyPr/>
                    <a:lstStyle/>
                    <a:p>
                      <a:pPr marL="0" indent="0">
                        <a:buNone/>
                      </a:pPr>
                      <a:r>
                        <a:rPr lang="en-US" sz="1300" dirty="0">
                          <a:solidFill>
                            <a:srgbClr val="E8EEF5"/>
                          </a:solidFill>
                        </a:rPr>
                        <a:t>Sign-in / sign-out / user update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8EEF5"/>
                          </a:solidFill>
                        </a:rPr>
                        <a:t>Fail closed at once, then re-read memberships</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66928">
                <a:tc>
                  <a:txBody>
                    <a:bodyPr/>
                    <a:lstStyle/>
                    <a:p>
                      <a:pPr marL="0" indent="0">
                        <a:buNone/>
                      </a:pPr>
                      <a:r>
                        <a:rPr lang="en-US" sz="1300" dirty="0">
                          <a:solidFill>
                            <a:srgbClr val="E8EEF5"/>
                          </a:solidFill>
                        </a:rPr>
                        <a:t>Revoked or different user</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All private rows cleared · neutral status</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566928">
                <a:tc>
                  <a:txBody>
                    <a:bodyPr/>
                    <a:lstStyle/>
                    <a:p>
                      <a:pPr marL="0" indent="0">
                        <a:buNone/>
                      </a:pPr>
                      <a:r>
                        <a:rPr lang="en-US" sz="1300" dirty="0">
                          <a:solidFill>
                            <a:srgbClr val="E8EEF5"/>
                          </a:solidFill>
                        </a:rPr>
                        <a:t>Mission / scope switch</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8EEF5"/>
                          </a:solidFill>
                        </a:rPr>
                        <a:t>Queue, values, filters cleared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566928">
                <a:tc>
                  <a:txBody>
                    <a:bodyPr/>
                    <a:lstStyle/>
                    <a:p>
                      <a:pPr marL="0" indent="0">
                        <a:buNone/>
                      </a:pPr>
                      <a:r>
                        <a:rPr lang="en-US" sz="1300" dirty="0">
                          <a:solidFill>
                            <a:srgbClr val="E8EEF5"/>
                          </a:solidFill>
                        </a:rPr>
                        <a:t>Late response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Dropped unless latest request + same scope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bl>
          </a:graphicData>
        </a:graphic>
      </p:graphicFrame>
      <p:sp>
        <p:nvSpPr>
          <p:cNvPr id="5" name="card"/>
          <p:cNvSpPr/>
          <p:nvPr/>
        </p:nvSpPr>
        <p:spPr>
          <a:xfrm>
            <a:off x="7589520" y="1737360"/>
            <a:ext cx="4023360" cy="1920240"/>
          </a:xfrm>
          <a:prstGeom prst="roundRect">
            <a:avLst>
              <a:gd name="adj" fmla="val 3810"/>
            </a:avLst>
          </a:prstGeom>
          <a:solidFill>
            <a:srgbClr val="0F2236"/>
          </a:solidFill>
          <a:ln w="12700">
            <a:solidFill>
              <a:srgbClr val="24496B"/>
            </a:solidFill>
            <a:prstDash val="solid"/>
          </a:ln>
        </p:spPr>
        <p:txBody>
          <a:bodyPr/>
          <a:lstStyle/>
          <a:p>
            <a:endParaRPr lang="en-US"/>
          </a:p>
        </p:txBody>
      </p:sp>
      <p:pic>
        <p:nvPicPr>
          <p:cNvPr id="6" name="Image 0" descr="preencoded.png"/>
          <p:cNvPicPr>
            <a:picLocks noChangeAspect="1"/>
          </p:cNvPicPr>
          <p:nvPr/>
        </p:nvPicPr>
        <p:blipFill>
          <a:blip r:embed="rId5"/>
          <a:stretch>
            <a:fillRect/>
          </a:stretch>
        </p:blipFill>
        <p:spPr>
          <a:xfrm>
            <a:off x="7790688" y="1938528"/>
            <a:ext cx="384048" cy="384048"/>
          </a:xfrm>
          <a:prstGeom prst="rect">
            <a:avLst/>
          </a:prstGeom>
        </p:spPr>
      </p:pic>
      <p:sp>
        <p:nvSpPr>
          <p:cNvPr id="7" name="Text 3"/>
          <p:cNvSpPr txBox="1"/>
          <p:nvPr/>
        </p:nvSpPr>
        <p:spPr>
          <a:xfrm>
            <a:off x="8302752" y="1901952"/>
            <a:ext cx="3172968" cy="457200"/>
          </a:xfrm>
          <a:prstGeom prst="rect">
            <a:avLst/>
          </a:prstGeom>
          <a:noFill/>
          <a:ln/>
        </p:spPr>
        <p:txBody>
          <a:bodyPr wrap="square" lIns="0" tIns="0" rIns="0" bIns="0" rtlCol="0" anchor="ctr"/>
          <a:lstStyle/>
          <a:p>
            <a:pPr marL="0" indent="0">
              <a:buNone/>
            </a:pPr>
            <a:r>
              <a:rPr lang="en-US" sz="1600" b="1" dirty="0">
                <a:solidFill>
                  <a:srgbClr val="E8EEF5"/>
                </a:solidFill>
              </a:rPr>
              <a:t>Enforcement point</a:t>
            </a:r>
            <a:endParaRPr lang="en-US" sz="1600" dirty="0"/>
          </a:p>
        </p:txBody>
      </p:sp>
      <p:sp>
        <p:nvSpPr>
          <p:cNvPr id="8" name="Text 4"/>
          <p:cNvSpPr txBox="1"/>
          <p:nvPr/>
        </p:nvSpPr>
        <p:spPr>
          <a:xfrm>
            <a:off x="7790688" y="2450592"/>
            <a:ext cx="3657600" cy="1097280"/>
          </a:xfrm>
          <a:prstGeom prst="rect">
            <a:avLst/>
          </a:prstGeom>
          <a:noFill/>
          <a:ln/>
        </p:spPr>
        <p:txBody>
          <a:bodyPr wrap="square" lIns="0" tIns="0" rIns="0" bIns="0" rtlCol="0" anchor="t"/>
          <a:lstStyle/>
          <a:p>
            <a:pPr marL="0" indent="0">
              <a:buNone/>
            </a:pPr>
            <a:r>
              <a:rPr lang="en-US" sz="1300" dirty="0">
                <a:solidFill>
                  <a:srgbClr val="E8EEF5"/>
                </a:solidFill>
              </a:rPr>
              <a:t>Row-level security in PostgreSQL; the client rules only stop rendered data outliving authorization</a:t>
            </a:r>
            <a:endParaRPr lang="en-US" sz="1300" dirty="0"/>
          </a:p>
        </p:txBody>
      </p:sp>
      <p:sp>
        <p:nvSpPr>
          <p:cNvPr id="9" name="card"/>
          <p:cNvSpPr/>
          <p:nvPr/>
        </p:nvSpPr>
        <p:spPr>
          <a:xfrm>
            <a:off x="7589520" y="3840480"/>
            <a:ext cx="4023360" cy="1828800"/>
          </a:xfrm>
          <a:prstGeom prst="roundRect">
            <a:avLst>
              <a:gd name="adj" fmla="val 4000"/>
            </a:avLst>
          </a:prstGeom>
          <a:solidFill>
            <a:srgbClr val="0F2236"/>
          </a:solidFill>
          <a:ln w="12700">
            <a:solidFill>
              <a:srgbClr val="24496B"/>
            </a:solidFill>
            <a:prstDash val="solid"/>
          </a:ln>
        </p:spPr>
        <p:txBody>
          <a:bodyPr/>
          <a:lstStyle/>
          <a:p>
            <a:endParaRPr lang="en-US"/>
          </a:p>
        </p:txBody>
      </p:sp>
      <p:pic>
        <p:nvPicPr>
          <p:cNvPr id="10" name="Image 1" descr="preencoded.png"/>
          <p:cNvPicPr>
            <a:picLocks noChangeAspect="1"/>
          </p:cNvPicPr>
          <p:nvPr/>
        </p:nvPicPr>
        <p:blipFill>
          <a:blip r:embed="rId6"/>
          <a:stretch>
            <a:fillRect/>
          </a:stretch>
        </p:blipFill>
        <p:spPr>
          <a:xfrm>
            <a:off x="7790688" y="4041648"/>
            <a:ext cx="384048" cy="384048"/>
          </a:xfrm>
          <a:prstGeom prst="rect">
            <a:avLst/>
          </a:prstGeom>
        </p:spPr>
      </p:pic>
      <p:sp>
        <p:nvSpPr>
          <p:cNvPr id="11" name="Text 6"/>
          <p:cNvSpPr txBox="1"/>
          <p:nvPr/>
        </p:nvSpPr>
        <p:spPr>
          <a:xfrm>
            <a:off x="8302752" y="4005072"/>
            <a:ext cx="3172968" cy="457200"/>
          </a:xfrm>
          <a:prstGeom prst="rect">
            <a:avLst/>
          </a:prstGeom>
          <a:noFill/>
          <a:ln/>
        </p:spPr>
        <p:txBody>
          <a:bodyPr wrap="square" lIns="0" tIns="0" rIns="0" bIns="0" rtlCol="0" anchor="ctr"/>
          <a:lstStyle/>
          <a:p>
            <a:pPr marL="0" indent="0">
              <a:buNone/>
            </a:pPr>
            <a:r>
              <a:rPr lang="en-US" sz="1600" b="1" dirty="0">
                <a:solidFill>
                  <a:srgbClr val="F2A93B"/>
                </a:solidFill>
              </a:rPr>
              <a:t>Not claimed</a:t>
            </a:r>
            <a:endParaRPr lang="en-US" sz="1600" dirty="0"/>
          </a:p>
        </p:txBody>
      </p:sp>
      <p:sp>
        <p:nvSpPr>
          <p:cNvPr id="12" name="Text 7"/>
          <p:cNvSpPr txBox="1"/>
          <p:nvPr/>
        </p:nvSpPr>
        <p:spPr>
          <a:xfrm>
            <a:off x="7790688" y="4553712"/>
            <a:ext cx="3657600" cy="1005840"/>
          </a:xfrm>
          <a:prstGeom prst="rect">
            <a:avLst/>
          </a:prstGeom>
          <a:noFill/>
          <a:ln/>
        </p:spPr>
        <p:txBody>
          <a:bodyPr wrap="square" lIns="0" tIns="0" rIns="0" bIns="0" rtlCol="0" anchor="t"/>
          <a:lstStyle/>
          <a:p>
            <a:pPr marL="0" indent="0">
              <a:buNone/>
            </a:pPr>
            <a:r>
              <a:rPr lang="en-US" sz="1300" dirty="0">
                <a:solidFill>
                  <a:srgbClr val="E8EEF5"/>
                </a:solidFill>
              </a:rPr>
              <a:t>Real-time revocation of an idle visible page; signed-in revocation acceptance (pending)</a:t>
            </a:r>
            <a:endParaRPr lang="en-US" sz="1300" dirty="0"/>
          </a:p>
        </p:txBody>
      </p:sp>
      <p:sp>
        <p:nvSpPr>
          <p:cNvPr id="13" name="Text 8"/>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src/domain/companion/crew-revalidation.ts; src/components/p368b-ground-medical-review.tsx; Master Manual §31.4</a:t>
            </a:r>
            <a:endParaRPr lang="en-US" sz="1000" dirty="0"/>
          </a:p>
        </p:txBody>
      </p:sp>
      <p:sp>
        <p:nvSpPr>
          <p:cNvPr id="14"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22</a:t>
            </a:fld>
            <a:endParaRPr lang="en-US"/>
          </a:p>
        </p:txBody>
      </p:sp>
      <p:pic>
        <p:nvPicPr>
          <p:cNvPr id="15" name="narration22">
            <a:hlinkClick r:id="" action="ppaction://media"/>
            <a:extLst>
              <a:ext uri="{FF2B5EF4-FFF2-40B4-BE49-F238E27FC236}">
                <a16:creationId xmlns:a16="http://schemas.microsoft.com/office/drawing/2014/main" id="{DE5342CB-A3D8-BA73-AFC7-8E4AAA459C1E}"/>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859420" y="546875"/>
            <a:ext cx="487363" cy="487363"/>
          </a:xfrm>
          <a:prstGeom prst="rect">
            <a:avLst/>
          </a:prstGeom>
        </p:spPr>
      </p:pic>
    </p:spTree>
  </p:cSld>
  <p:clrMapOvr>
    <a:masterClrMapping/>
  </p:clrMapOvr>
  <p:transition spd="slow" advTm="29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794"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Health intelligence explains — it never diagnoses</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EXPLAINABLE HEALTH INTELLIGENCE</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035040" cy="3520440"/>
        </p:xfrm>
        <a:graphic>
          <a:graphicData uri="http://schemas.openxmlformats.org/drawingml/2006/table">
            <a:tbl>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19B5C9"/>
                          </a:solidFill>
                        </a:rPr>
                        <a:t>Pattern</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300" b="1" dirty="0">
                          <a:solidFill>
                            <a:srgbClr val="19B5C9"/>
                          </a:solidFill>
                        </a:rPr>
                        <a:t>Evidence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300" b="1" dirty="0">
                          <a:solidFill>
                            <a:srgbClr val="19B5C9"/>
                          </a:solidFill>
                        </a:rPr>
                        <a:t>Status</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E8EEF5"/>
                          </a:solidFill>
                        </a:rPr>
                        <a:t>Sleep / fatigue / cognition</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3CB371"/>
                          </a:solidFill>
                        </a:rPr>
                        <a:t>supported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non-diagnostic</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E8EEF5"/>
                          </a:solidFill>
                        </a:rPr>
                        <a:t>Workload / recovery / autonomic</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3CB371"/>
                          </a:solidFill>
                        </a:rPr>
                        <a:t>supported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8EEF5"/>
                          </a:solidFill>
                        </a:rPr>
                        <a:t>non-diagnostic</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E8EEF5"/>
                          </a:solidFill>
                        </a:rPr>
                        <a:t>Hydration / orthostatic</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3CB371"/>
                          </a:solidFill>
                        </a:rPr>
                        <a:t>supported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non-diagnostic</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rgbClr val="E8EEF5"/>
                          </a:solidFill>
                        </a:rPr>
                        <a:t>CO₂ with symptoms</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F2A93B"/>
                          </a:solidFill>
                        </a:rPr>
                        <a:t>limited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F2A93B"/>
                          </a:solidFill>
                        </a:rPr>
                        <a:t>contextual only</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rgbClr val="E8EEF5"/>
                          </a:solidFill>
                        </a:rPr>
                        <a:t>Bone unloading / renal</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3CB371"/>
                          </a:solidFill>
                        </a:rPr>
                        <a:t>supported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E8EEF5"/>
                          </a:solidFill>
                        </a:rPr>
                        <a:t>non-diagnostic</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r h="502920">
                <a:tc>
                  <a:txBody>
                    <a:bodyPr/>
                    <a:lstStyle/>
                    <a:p>
                      <a:pPr marL="0" indent="0">
                        <a:buNone/>
                      </a:pPr>
                      <a:r>
                        <a:rPr lang="en-US" sz="1300" dirty="0">
                          <a:solidFill>
                            <a:srgbClr val="E8EEF5"/>
                          </a:solidFill>
                        </a:rPr>
                        <a:t>Microbiome / immune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05561"/>
                          </a:solidFill>
                        </a:rPr>
                        <a:t>research only</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8EEF5"/>
                          </a:solidFill>
                        </a:rPr>
                        <a:t>never operational</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6"/>
                  </a:ext>
                </a:extLst>
              </a:tr>
            </a:tbl>
          </a:graphicData>
        </a:graphic>
      </p:graphicFrame>
      <p:sp>
        <p:nvSpPr>
          <p:cNvPr id="5" name="Shape 2"/>
          <p:cNvSpPr/>
          <p:nvPr/>
        </p:nvSpPr>
        <p:spPr>
          <a:xfrm>
            <a:off x="6757416" y="1682496"/>
            <a:ext cx="4910328" cy="2843486"/>
          </a:xfrm>
          <a:prstGeom prst="roundRect">
            <a:avLst>
              <a:gd name="adj" fmla="val 1608"/>
            </a:avLst>
          </a:prstGeom>
          <a:solidFill>
            <a:srgbClr val="0F2236"/>
          </a:solidFill>
          <a:ln w="12700">
            <a:solidFill>
              <a:srgbClr val="19B5C9"/>
            </a:solidFill>
            <a:prstDash val="solid"/>
          </a:ln>
        </p:spPr>
        <p:txBody>
          <a:bodyPr/>
          <a:lstStyle/>
          <a:p>
            <a:endParaRPr lang="en-US"/>
          </a:p>
        </p:txBody>
      </p:sp>
      <p:pic>
        <p:nvPicPr>
          <p:cNvPr id="6" name="Image 0" descr="/home/claude/v6/shots_doc/patterns_wide.jpg"/>
          <p:cNvPicPr>
            <a:picLocks noChangeAspect="1"/>
          </p:cNvPicPr>
          <p:nvPr/>
        </p:nvPicPr>
        <p:blipFill>
          <a:blip r:embed="rId5"/>
          <a:stretch>
            <a:fillRect/>
          </a:stretch>
        </p:blipFill>
        <p:spPr>
          <a:xfrm>
            <a:off x="6812280" y="1737360"/>
            <a:ext cx="4800600" cy="2733758"/>
          </a:xfrm>
          <a:prstGeom prst="rect">
            <a:avLst/>
          </a:prstGeom>
        </p:spPr>
      </p:pic>
      <p:sp>
        <p:nvSpPr>
          <p:cNvPr id="7" name="Text 3"/>
          <p:cNvSpPr txBox="1"/>
          <p:nvPr/>
        </p:nvSpPr>
        <p:spPr>
          <a:xfrm>
            <a:off x="6812280" y="4562558"/>
            <a:ext cx="4800600" cy="256032"/>
          </a:xfrm>
          <a:prstGeom prst="rect">
            <a:avLst/>
          </a:prstGeom>
          <a:noFill/>
          <a:ln/>
        </p:spPr>
        <p:txBody>
          <a:bodyPr wrap="square" lIns="0" tIns="0" rIns="0" bIns="0" rtlCol="0" anchor="ctr"/>
          <a:lstStyle/>
          <a:p>
            <a:pPr marL="0" indent="0" algn="ctr">
              <a:buNone/>
            </a:pPr>
            <a:r>
              <a:rPr lang="en-US" sz="1000" dirty="0">
                <a:solidFill>
                  <a:srgbClr val="93A7BC"/>
                </a:solidFill>
              </a:rPr>
              <a:t>Reviewed pattern catalogue — live site</a:t>
            </a:r>
            <a:endParaRPr lang="en-US" sz="1000" dirty="0"/>
          </a:p>
        </p:txBody>
      </p:sp>
      <p:sp>
        <p:nvSpPr>
          <p:cNvPr id="8" name="Text 4"/>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src/domain/health-intelligence/patterns.ts; src/components/explainable-alerts.tsx</a:t>
            </a:r>
            <a:endParaRPr lang="en-US" sz="1000" dirty="0"/>
          </a:p>
        </p:txBody>
      </p:sp>
      <p:sp>
        <p:nvSpPr>
          <p:cNvPr id="9"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23</a:t>
            </a:fld>
            <a:endParaRPr lang="en-US"/>
          </a:p>
        </p:txBody>
      </p:sp>
      <p:pic>
        <p:nvPicPr>
          <p:cNvPr id="10" name="narration23">
            <a:hlinkClick r:id="" action="ppaction://media"/>
            <a:extLst>
              <a:ext uri="{FF2B5EF4-FFF2-40B4-BE49-F238E27FC236}">
                <a16:creationId xmlns:a16="http://schemas.microsoft.com/office/drawing/2014/main" id="{D6177241-9EA0-26C4-062B-16154D6D85A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968898" y="544629"/>
            <a:ext cx="487363" cy="487363"/>
          </a:xfrm>
          <a:prstGeom prst="rect">
            <a:avLst/>
          </a:prstGeom>
        </p:spPr>
      </p:pic>
    </p:spTree>
  </p:cSld>
  <p:clrMapOvr>
    <a:masterClrMapping/>
  </p:clrMapOvr>
  <p:transition spd="slow" advTm="272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01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NASA OSDR: real research metadata, clearly not crew data</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NASA RESEARCH DATASET IMPORT</a:t>
            </a:r>
            <a:endParaRPr lang="en-US" sz="1100" dirty="0"/>
          </a:p>
        </p:txBody>
      </p:sp>
      <p:sp>
        <p:nvSpPr>
          <p:cNvPr id="4" name="card"/>
          <p:cNvSpPr/>
          <p:nvPr/>
        </p:nvSpPr>
        <p:spPr>
          <a:xfrm>
            <a:off x="548640" y="1737360"/>
            <a:ext cx="3931920" cy="3931920"/>
          </a:xfrm>
          <a:prstGeom prst="roundRect">
            <a:avLst>
              <a:gd name="adj" fmla="val 1860"/>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3081528" cy="457200"/>
          </a:xfrm>
          <a:prstGeom prst="rect">
            <a:avLst/>
          </a:prstGeom>
          <a:noFill/>
          <a:ln/>
        </p:spPr>
        <p:txBody>
          <a:bodyPr wrap="square" lIns="0" tIns="0" rIns="0" bIns="0" rtlCol="0" anchor="ctr"/>
          <a:lstStyle/>
          <a:p>
            <a:pPr marL="0" indent="0">
              <a:buNone/>
            </a:pPr>
            <a:r>
              <a:rPr lang="en-US" sz="1600" b="1" dirty="0">
                <a:solidFill>
                  <a:srgbClr val="E8EEF5"/>
                </a:solidFill>
              </a:rPr>
              <a:t>Bounded proxy</a:t>
            </a:r>
            <a:endParaRPr lang="en-US" sz="1600" dirty="0"/>
          </a:p>
        </p:txBody>
      </p:sp>
      <p:sp>
        <p:nvSpPr>
          <p:cNvPr id="7" name="Text 4"/>
          <p:cNvSpPr txBox="1"/>
          <p:nvPr/>
        </p:nvSpPr>
        <p:spPr>
          <a:xfrm>
            <a:off x="749808" y="2450592"/>
            <a:ext cx="356616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GET /api/nasa-research</a:t>
            </a:r>
            <a:endParaRPr lang="en-US" sz="1400" dirty="0"/>
          </a:p>
          <a:p>
            <a:pPr marL="342900" indent="-342900">
              <a:spcAft>
                <a:spcPts val="400"/>
              </a:spcAft>
              <a:buSzPct val="100000"/>
              <a:buChar char="▪"/>
            </a:pPr>
            <a:r>
              <a:rPr lang="en-US" sz="1400" dirty="0">
                <a:solidFill>
                  <a:srgbClr val="E8EEF5"/>
                </a:solidFill>
              </a:rPr>
              <a:t>Fixed origin; 12 s; 1 MiB</a:t>
            </a:r>
            <a:endParaRPr lang="en-US" sz="1400" dirty="0"/>
          </a:p>
          <a:p>
            <a:pPr marL="342900" indent="-342900">
              <a:spcAft>
                <a:spcPts val="400"/>
              </a:spcAft>
              <a:buSzPct val="100000"/>
              <a:buChar char="▪"/>
            </a:pPr>
            <a:r>
              <a:rPr lang="en-US" sz="1400" dirty="0">
                <a:solidFill>
                  <a:srgbClr val="E8EEF5"/>
                </a:solidFill>
              </a:rPr>
              <a:t>Accession OSD-&lt;n&gt;; ≤ 500 rows</a:t>
            </a:r>
            <a:endParaRPr lang="en-US" sz="1400" dirty="0"/>
          </a:p>
          <a:p>
            <a:pPr marL="342900" indent="-342900">
              <a:spcAft>
                <a:spcPts val="400"/>
              </a:spcAft>
              <a:buSzPct val="100000"/>
              <a:buChar char="▪"/>
            </a:pPr>
            <a:r>
              <a:rPr lang="en-US" sz="1400" dirty="0">
                <a:solidFill>
                  <a:srgbClr val="E8EEF5"/>
                </a:solidFill>
              </a:rPr>
              <a:t>No credentials; no-store</a:t>
            </a:r>
            <a:endParaRPr lang="en-US" sz="1400" dirty="0"/>
          </a:p>
        </p:txBody>
      </p:sp>
      <p:sp>
        <p:nvSpPr>
          <p:cNvPr id="8" name="card"/>
          <p:cNvSpPr/>
          <p:nvPr/>
        </p:nvSpPr>
        <p:spPr>
          <a:xfrm>
            <a:off x="4663440" y="1737360"/>
            <a:ext cx="3657600" cy="3931920"/>
          </a:xfrm>
          <a:prstGeom prst="roundRect">
            <a:avLst>
              <a:gd name="adj" fmla="val 2000"/>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4864608" y="1938528"/>
            <a:ext cx="384048" cy="384048"/>
          </a:xfrm>
          <a:prstGeom prst="rect">
            <a:avLst/>
          </a:prstGeom>
        </p:spPr>
      </p:pic>
      <p:sp>
        <p:nvSpPr>
          <p:cNvPr id="10" name="Text 6"/>
          <p:cNvSpPr txBox="1"/>
          <p:nvPr/>
        </p:nvSpPr>
        <p:spPr>
          <a:xfrm>
            <a:off x="5376672" y="1901952"/>
            <a:ext cx="2807208" cy="457200"/>
          </a:xfrm>
          <a:prstGeom prst="rect">
            <a:avLst/>
          </a:prstGeom>
          <a:noFill/>
          <a:ln/>
        </p:spPr>
        <p:txBody>
          <a:bodyPr wrap="square" lIns="0" tIns="0" rIns="0" bIns="0" rtlCol="0" anchor="ctr"/>
          <a:lstStyle/>
          <a:p>
            <a:pPr marL="0" indent="0">
              <a:buNone/>
            </a:pPr>
            <a:r>
              <a:rPr lang="en-US" sz="1600" b="1" dirty="0">
                <a:solidFill>
                  <a:srgbClr val="E8EEF5"/>
                </a:solidFill>
              </a:rPr>
              <a:t>Labels on every package</a:t>
            </a:r>
            <a:endParaRPr lang="en-US" sz="1600" dirty="0"/>
          </a:p>
        </p:txBody>
      </p:sp>
      <p:sp>
        <p:nvSpPr>
          <p:cNvPr id="11" name="Text 7"/>
          <p:cNvSpPr txBox="1"/>
          <p:nvPr/>
        </p:nvSpPr>
        <p:spPr>
          <a:xfrm>
            <a:off x="4864608" y="2450592"/>
            <a:ext cx="329184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classification: research_only</a:t>
            </a:r>
            <a:endParaRPr lang="en-US" sz="1400" dirty="0"/>
          </a:p>
          <a:p>
            <a:pPr marL="342900" indent="-342900">
              <a:spcAft>
                <a:spcPts val="400"/>
              </a:spcAft>
              <a:buSzPct val="100000"/>
              <a:buChar char="▪"/>
            </a:pPr>
            <a:r>
              <a:rPr lang="en-US" sz="1400" dirty="0">
                <a:solidFill>
                  <a:srgbClr val="E8EEF5"/>
                </a:solidFill>
              </a:rPr>
              <a:t>subjectBinding: none</a:t>
            </a:r>
            <a:endParaRPr lang="en-US" sz="1400" dirty="0"/>
          </a:p>
          <a:p>
            <a:pPr marL="342900" indent="-342900">
              <a:spcAft>
                <a:spcPts val="400"/>
              </a:spcAft>
              <a:buSzPct val="100000"/>
              <a:buChar char="▪"/>
            </a:pPr>
            <a:r>
              <a:rPr lang="en-US" sz="1400" dirty="0">
                <a:solidFill>
                  <a:srgbClr val="E8EEF5"/>
                </a:solidFill>
              </a:rPr>
              <a:t>clinicalActivation: false</a:t>
            </a:r>
            <a:endParaRPr lang="en-US" sz="1400" dirty="0"/>
          </a:p>
          <a:p>
            <a:pPr marL="342900" indent="-342900">
              <a:spcAft>
                <a:spcPts val="400"/>
              </a:spcAft>
              <a:buSzPct val="100000"/>
              <a:buChar char="▪"/>
            </a:pPr>
            <a:r>
              <a:rPr lang="en-US" sz="1400" dirty="0">
                <a:solidFill>
                  <a:srgbClr val="E8EEF5"/>
                </a:solidFill>
              </a:rPr>
              <a:t>Not astronaut telemetry</a:t>
            </a:r>
            <a:endParaRPr lang="en-US" sz="1400" dirty="0"/>
          </a:p>
        </p:txBody>
      </p:sp>
      <p:sp>
        <p:nvSpPr>
          <p:cNvPr id="12" name="Shape 8"/>
          <p:cNvSpPr/>
          <p:nvPr/>
        </p:nvSpPr>
        <p:spPr>
          <a:xfrm>
            <a:off x="8494776" y="1545336"/>
            <a:ext cx="3218688" cy="4133088"/>
          </a:xfrm>
          <a:prstGeom prst="roundRect">
            <a:avLst>
              <a:gd name="adj" fmla="val 1420"/>
            </a:avLst>
          </a:prstGeom>
          <a:solidFill>
            <a:srgbClr val="0F2236"/>
          </a:solidFill>
          <a:ln w="12700">
            <a:solidFill>
              <a:srgbClr val="19B5C9"/>
            </a:solidFill>
            <a:prstDash val="solid"/>
          </a:ln>
        </p:spPr>
        <p:txBody>
          <a:bodyPr/>
          <a:lstStyle/>
          <a:p>
            <a:endParaRPr lang="en-US"/>
          </a:p>
        </p:txBody>
      </p:sp>
      <p:pic>
        <p:nvPicPr>
          <p:cNvPr id="13" name="Image 2" descr="/home/claude/v6/shots_doc/nasa.jpg"/>
          <p:cNvPicPr>
            <a:picLocks noChangeAspect="1"/>
          </p:cNvPicPr>
          <p:nvPr/>
        </p:nvPicPr>
        <p:blipFill>
          <a:blip r:embed="rId7"/>
          <a:stretch>
            <a:fillRect/>
          </a:stretch>
        </p:blipFill>
        <p:spPr>
          <a:xfrm>
            <a:off x="8549640" y="1600200"/>
            <a:ext cx="3108960" cy="4023360"/>
          </a:xfrm>
          <a:prstGeom prst="rect">
            <a:avLst/>
          </a:prstGeom>
        </p:spPr>
      </p:pic>
      <p:sp>
        <p:nvSpPr>
          <p:cNvPr id="14" name="Text 9"/>
          <p:cNvSpPr txBox="1"/>
          <p:nvPr/>
        </p:nvSpPr>
        <p:spPr>
          <a:xfrm>
            <a:off x="8275320" y="5715000"/>
            <a:ext cx="3657600" cy="256032"/>
          </a:xfrm>
          <a:prstGeom prst="rect">
            <a:avLst/>
          </a:prstGeom>
          <a:noFill/>
          <a:ln/>
        </p:spPr>
        <p:txBody>
          <a:bodyPr wrap="square" lIns="0" tIns="0" rIns="0" bIns="0" rtlCol="0" anchor="ctr"/>
          <a:lstStyle/>
          <a:p>
            <a:pPr marL="0" indent="0" algn="ctr">
              <a:buNone/>
            </a:pPr>
            <a:r>
              <a:rPr lang="en-US" sz="1000" dirty="0">
                <a:solidFill>
                  <a:srgbClr val="93A7BC"/>
                </a:solidFill>
              </a:rPr>
              <a:t>NASA Scientific Evidence — live site</a:t>
            </a:r>
            <a:endParaRPr lang="en-US" sz="1000" dirty="0"/>
          </a:p>
        </p:txBody>
      </p:sp>
      <p:sp>
        <p:nvSpPr>
          <p:cNvPr id="15" name="Text 10"/>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src/routes/api.nasa-research.ts; src/domain/nasa-research/import.ts</a:t>
            </a:r>
            <a:endParaRPr lang="en-US" sz="1000" dirty="0"/>
          </a:p>
        </p:txBody>
      </p:sp>
      <p:sp>
        <p:nvSpPr>
          <p:cNvPr id="16"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24</a:t>
            </a:fld>
            <a:endParaRPr lang="en-US"/>
          </a:p>
        </p:txBody>
      </p:sp>
      <p:pic>
        <p:nvPicPr>
          <p:cNvPr id="17" name="narration24">
            <a:hlinkClick r:id="" action="ppaction://media"/>
            <a:extLst>
              <a:ext uri="{FF2B5EF4-FFF2-40B4-BE49-F238E27FC236}">
                <a16:creationId xmlns:a16="http://schemas.microsoft.com/office/drawing/2014/main" id="{A420C16F-7FC3-72C2-C241-A9784A6EFD0D}"/>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693609" y="361427"/>
            <a:ext cx="487363" cy="487363"/>
          </a:xfrm>
          <a:prstGeom prst="rect">
            <a:avLst/>
          </a:prstGeom>
        </p:spPr>
      </p:pic>
    </p:spTree>
  </p:cSld>
  <p:clrMapOvr>
    <a:masterClrMapping/>
  </p:clrMapOvr>
  <p:transition spd="slow" advTm="263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129"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Mission-scoped privacy and governance, enforced where data lives</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PRIVACY, SECURITY AND GOVERNANCE</a:t>
            </a:r>
            <a:endParaRPr lang="en-US" sz="1100" dirty="0"/>
          </a:p>
        </p:txBody>
      </p:sp>
      <p:sp>
        <p:nvSpPr>
          <p:cNvPr id="4" name="card"/>
          <p:cNvSpPr/>
          <p:nvPr/>
        </p:nvSpPr>
        <p:spPr>
          <a:xfrm>
            <a:off x="548640" y="1737360"/>
            <a:ext cx="3657600" cy="3931920"/>
          </a:xfrm>
          <a:prstGeom prst="roundRect">
            <a:avLst>
              <a:gd name="adj" fmla="val 2000"/>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2807208" cy="457200"/>
          </a:xfrm>
          <a:prstGeom prst="rect">
            <a:avLst/>
          </a:prstGeom>
          <a:noFill/>
          <a:ln/>
        </p:spPr>
        <p:txBody>
          <a:bodyPr wrap="square" lIns="0" tIns="0" rIns="0" bIns="0" rtlCol="0" anchor="ctr"/>
          <a:lstStyle/>
          <a:p>
            <a:pPr marL="0" indent="0">
              <a:buNone/>
            </a:pPr>
            <a:r>
              <a:rPr lang="en-US" sz="1600" b="1" dirty="0">
                <a:solidFill>
                  <a:srgbClr val="E8EEF5"/>
                </a:solidFill>
              </a:rPr>
              <a:t>Controls</a:t>
            </a:r>
            <a:endParaRPr lang="en-US" sz="1600" dirty="0"/>
          </a:p>
        </p:txBody>
      </p:sp>
      <p:sp>
        <p:nvSpPr>
          <p:cNvPr id="7" name="Text 4"/>
          <p:cNvSpPr txBox="1"/>
          <p:nvPr/>
        </p:nvSpPr>
        <p:spPr>
          <a:xfrm>
            <a:off x="749808" y="2450592"/>
            <a:ext cx="329184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Forced RLS; RPC-only writes</a:t>
            </a:r>
            <a:endParaRPr lang="en-US" sz="1400" dirty="0"/>
          </a:p>
          <a:p>
            <a:pPr marL="342900" indent="-342900">
              <a:spcAft>
                <a:spcPts val="400"/>
              </a:spcAft>
              <a:buSzPct val="100000"/>
              <a:buChar char="▪"/>
            </a:pPr>
            <a:r>
              <a:rPr lang="en-US" sz="1400" dirty="0">
                <a:solidFill>
                  <a:srgbClr val="E8EEF5"/>
                </a:solidFill>
              </a:rPr>
              <a:t>Evidence tables deny-all</a:t>
            </a:r>
            <a:endParaRPr lang="en-US" sz="1400" dirty="0"/>
          </a:p>
          <a:p>
            <a:pPr marL="342900" indent="-342900">
              <a:spcAft>
                <a:spcPts val="400"/>
              </a:spcAft>
              <a:buSzPct val="100000"/>
              <a:buChar char="▪"/>
            </a:pPr>
            <a:r>
              <a:rPr lang="en-US" sz="1400" dirty="0">
                <a:solidFill>
                  <a:srgbClr val="E8EEF5"/>
                </a:solidFill>
              </a:rPr>
              <a:t>Audit without values</a:t>
            </a:r>
            <a:endParaRPr lang="en-US" sz="1400" dirty="0"/>
          </a:p>
          <a:p>
            <a:pPr marL="342900" indent="-342900">
              <a:spcAft>
                <a:spcPts val="400"/>
              </a:spcAft>
              <a:buSzPct val="100000"/>
              <a:buChar char="▪"/>
            </a:pPr>
            <a:r>
              <a:rPr lang="en-US" sz="1400" dirty="0">
                <a:solidFill>
                  <a:srgbClr val="E8EEF5"/>
                </a:solidFill>
              </a:rPr>
              <a:t>CSP, HSTS, Permissions-Policy</a:t>
            </a:r>
            <a:endParaRPr lang="en-US" sz="1400" dirty="0"/>
          </a:p>
        </p:txBody>
      </p:sp>
      <p:sp>
        <p:nvSpPr>
          <p:cNvPr id="8" name="card"/>
          <p:cNvSpPr/>
          <p:nvPr/>
        </p:nvSpPr>
        <p:spPr>
          <a:xfrm>
            <a:off x="4343400" y="1737360"/>
            <a:ext cx="3657600" cy="3931920"/>
          </a:xfrm>
          <a:prstGeom prst="roundRect">
            <a:avLst>
              <a:gd name="adj" fmla="val 2000"/>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4544568" y="1938528"/>
            <a:ext cx="384048" cy="384048"/>
          </a:xfrm>
          <a:prstGeom prst="rect">
            <a:avLst/>
          </a:prstGeom>
        </p:spPr>
      </p:pic>
      <p:sp>
        <p:nvSpPr>
          <p:cNvPr id="10" name="Text 6"/>
          <p:cNvSpPr txBox="1"/>
          <p:nvPr/>
        </p:nvSpPr>
        <p:spPr>
          <a:xfrm>
            <a:off x="5056632" y="1901952"/>
            <a:ext cx="2807208" cy="457200"/>
          </a:xfrm>
          <a:prstGeom prst="rect">
            <a:avLst/>
          </a:prstGeom>
          <a:noFill/>
          <a:ln/>
        </p:spPr>
        <p:txBody>
          <a:bodyPr wrap="square" lIns="0" tIns="0" rIns="0" bIns="0" rtlCol="0" anchor="ctr"/>
          <a:lstStyle/>
          <a:p>
            <a:pPr marL="0" indent="0">
              <a:buNone/>
            </a:pPr>
            <a:r>
              <a:rPr lang="en-US" sz="1600" b="1" dirty="0">
                <a:solidFill>
                  <a:srgbClr val="E8EEF5"/>
                </a:solidFill>
              </a:rPr>
              <a:t>Privacy</a:t>
            </a:r>
            <a:endParaRPr lang="en-US" sz="1600" dirty="0"/>
          </a:p>
        </p:txBody>
      </p:sp>
      <p:sp>
        <p:nvSpPr>
          <p:cNvPr id="11" name="Text 7"/>
          <p:cNvSpPr txBox="1"/>
          <p:nvPr/>
        </p:nvSpPr>
        <p:spPr>
          <a:xfrm>
            <a:off x="4544568" y="2450592"/>
            <a:ext cx="329184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Documents stay in the browser</a:t>
            </a:r>
            <a:endParaRPr lang="en-US" sz="1400" dirty="0"/>
          </a:p>
          <a:p>
            <a:pPr marL="342900" indent="-342900">
              <a:spcAft>
                <a:spcPts val="400"/>
              </a:spcAft>
              <a:buSzPct val="100000"/>
              <a:buChar char="▪"/>
            </a:pPr>
            <a:r>
              <a:rPr lang="en-US" sz="1400" dirty="0">
                <a:solidFill>
                  <a:srgbClr val="E8EEF5"/>
                </a:solidFill>
              </a:rPr>
              <a:t>Research Workspace: aggregate-only</a:t>
            </a:r>
            <a:endParaRPr lang="en-US" sz="1400" dirty="0"/>
          </a:p>
          <a:p>
            <a:pPr marL="342900" indent="-342900">
              <a:spcAft>
                <a:spcPts val="400"/>
              </a:spcAft>
              <a:buSzPct val="100000"/>
              <a:buChar char="▪"/>
            </a:pPr>
            <a:r>
              <a:rPr lang="en-US" sz="1400" dirty="0">
                <a:solidFill>
                  <a:srgbClr val="E8EEF5"/>
                </a:solidFill>
              </a:rPr>
              <a:t>Suppressed below 3 crew / 10 events</a:t>
            </a:r>
            <a:endParaRPr lang="en-US" sz="1400" dirty="0"/>
          </a:p>
          <a:p>
            <a:pPr marL="342900" indent="-342900">
              <a:spcAft>
                <a:spcPts val="400"/>
              </a:spcAft>
              <a:buSzPct val="100000"/>
              <a:buChar char="▪"/>
            </a:pPr>
            <a:r>
              <a:rPr lang="en-US" sz="1400" dirty="0">
                <a:solidFill>
                  <a:srgbClr val="E8EEF5"/>
                </a:solidFill>
              </a:rPr>
              <a:t>Counts rounded down to tens</a:t>
            </a:r>
            <a:endParaRPr lang="en-US" sz="1400" dirty="0"/>
          </a:p>
        </p:txBody>
      </p:sp>
      <p:sp>
        <p:nvSpPr>
          <p:cNvPr id="12" name="card"/>
          <p:cNvSpPr/>
          <p:nvPr/>
        </p:nvSpPr>
        <p:spPr>
          <a:xfrm>
            <a:off x="8138160" y="1737360"/>
            <a:ext cx="3474720" cy="3931920"/>
          </a:xfrm>
          <a:prstGeom prst="roundRect">
            <a:avLst>
              <a:gd name="adj" fmla="val 2105"/>
            </a:avLst>
          </a:prstGeom>
          <a:solidFill>
            <a:srgbClr val="0F2236"/>
          </a:solidFill>
          <a:ln w="12700">
            <a:solidFill>
              <a:srgbClr val="24496B"/>
            </a:solidFill>
            <a:prstDash val="solid"/>
          </a:ln>
        </p:spPr>
        <p:txBody>
          <a:bodyPr/>
          <a:lstStyle/>
          <a:p>
            <a:endParaRPr lang="en-US"/>
          </a:p>
        </p:txBody>
      </p:sp>
      <p:pic>
        <p:nvPicPr>
          <p:cNvPr id="13" name="Image 2" descr="preencoded.png"/>
          <p:cNvPicPr>
            <a:picLocks noChangeAspect="1"/>
          </p:cNvPicPr>
          <p:nvPr/>
        </p:nvPicPr>
        <p:blipFill>
          <a:blip r:embed="rId7"/>
          <a:stretch>
            <a:fillRect/>
          </a:stretch>
        </p:blipFill>
        <p:spPr>
          <a:xfrm>
            <a:off x="8339328" y="1938528"/>
            <a:ext cx="384048" cy="384048"/>
          </a:xfrm>
          <a:prstGeom prst="rect">
            <a:avLst/>
          </a:prstGeom>
        </p:spPr>
      </p:pic>
      <p:sp>
        <p:nvSpPr>
          <p:cNvPr id="14" name="Text 9"/>
          <p:cNvSpPr txBox="1"/>
          <p:nvPr/>
        </p:nvSpPr>
        <p:spPr>
          <a:xfrm>
            <a:off x="8851392" y="1901952"/>
            <a:ext cx="2624328" cy="457200"/>
          </a:xfrm>
          <a:prstGeom prst="rect">
            <a:avLst/>
          </a:prstGeom>
          <a:noFill/>
          <a:ln/>
        </p:spPr>
        <p:txBody>
          <a:bodyPr wrap="square" lIns="0" tIns="0" rIns="0" bIns="0" rtlCol="0" anchor="ctr"/>
          <a:lstStyle/>
          <a:p>
            <a:pPr marL="0" indent="0">
              <a:buNone/>
            </a:pPr>
            <a:r>
              <a:rPr lang="en-US" sz="1600" b="1" dirty="0">
                <a:solidFill>
                  <a:srgbClr val="E8EEF5"/>
                </a:solidFill>
              </a:rPr>
              <a:t>Governance</a:t>
            </a:r>
            <a:endParaRPr lang="en-US" sz="1600" dirty="0"/>
          </a:p>
        </p:txBody>
      </p:sp>
      <p:sp>
        <p:nvSpPr>
          <p:cNvPr id="15" name="Text 10"/>
          <p:cNvSpPr txBox="1"/>
          <p:nvPr/>
        </p:nvSpPr>
        <p:spPr>
          <a:xfrm>
            <a:off x="8339328" y="2450592"/>
            <a:ext cx="310896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Owner approval per migration</a:t>
            </a:r>
            <a:endParaRPr lang="en-US" sz="1400" dirty="0"/>
          </a:p>
          <a:p>
            <a:pPr marL="342900" indent="-342900">
              <a:spcAft>
                <a:spcPts val="400"/>
              </a:spcAft>
              <a:buSzPct val="100000"/>
              <a:buChar char="▪"/>
            </a:pPr>
            <a:r>
              <a:rPr lang="en-US" sz="1400" dirty="0">
                <a:solidFill>
                  <a:srgbClr val="E8EEF5"/>
                </a:solidFill>
              </a:rPr>
              <a:t>Separation of duties</a:t>
            </a:r>
            <a:endParaRPr lang="en-US" sz="1400" dirty="0"/>
          </a:p>
          <a:p>
            <a:pPr marL="342900" indent="-342900">
              <a:spcAft>
                <a:spcPts val="400"/>
              </a:spcAft>
              <a:buSzPct val="100000"/>
              <a:buChar char="▪"/>
            </a:pPr>
            <a:r>
              <a:rPr lang="en-US" sz="1400" dirty="0">
                <a:solidFill>
                  <a:srgbClr val="E8EEF5"/>
                </a:solidFill>
              </a:rPr>
              <a:t>Instant revocation</a:t>
            </a:r>
            <a:endParaRPr lang="en-US" sz="1400" dirty="0"/>
          </a:p>
          <a:p>
            <a:pPr marL="342900" indent="-342900">
              <a:spcAft>
                <a:spcPts val="400"/>
              </a:spcAft>
              <a:buSzPct val="100000"/>
              <a:buChar char="▪"/>
            </a:pPr>
            <a:r>
              <a:rPr lang="en-US" sz="1400" dirty="0">
                <a:solidFill>
                  <a:srgbClr val="E8EEF5"/>
                </a:solidFill>
              </a:rPr>
              <a:t>Ethical use: synthetic only</a:t>
            </a:r>
            <a:endParaRPr lang="en-US" sz="1400" dirty="0"/>
          </a:p>
        </p:txBody>
      </p:sp>
      <p:sp>
        <p:nvSpPr>
          <p:cNvPr id="16" name="Text 11"/>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docs/SECURITY_MODEL.md; src/security/headers.ts; .github/workflows</a:t>
            </a:r>
            <a:endParaRPr lang="en-US" sz="1000" dirty="0"/>
          </a:p>
        </p:txBody>
      </p:sp>
      <p:sp>
        <p:nvSpPr>
          <p:cNvPr id="17"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25</a:t>
            </a:fld>
            <a:endParaRPr lang="en-US"/>
          </a:p>
        </p:txBody>
      </p:sp>
      <p:pic>
        <p:nvPicPr>
          <p:cNvPr id="18" name="narration25">
            <a:hlinkClick r:id="" action="ppaction://media"/>
            <a:extLst>
              <a:ext uri="{FF2B5EF4-FFF2-40B4-BE49-F238E27FC236}">
                <a16:creationId xmlns:a16="http://schemas.microsoft.com/office/drawing/2014/main" id="{4629C60E-4FA1-C717-5524-EBA2ACD00B7C}"/>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388157" y="838998"/>
            <a:ext cx="487363" cy="487363"/>
          </a:xfrm>
          <a:prstGeom prst="rect">
            <a:avLst/>
          </a:prstGeom>
        </p:spPr>
      </p:pic>
    </p:spTree>
  </p:cSld>
  <p:clrMapOvr>
    <a:masterClrMapping/>
  </p:clrMapOvr>
  <p:transition spd="slow" advTm="270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86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Live demonstration: 15–20 minutes, no admin access, no real data</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LIVE DEMONSTRATION</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949440" cy="3621024"/>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603504">
                <a:tc>
                  <a:txBody>
                    <a:bodyPr/>
                    <a:lstStyle/>
                    <a:p>
                      <a:pPr marL="0" indent="0">
                        <a:buNone/>
                      </a:pPr>
                      <a:r>
                        <a:rPr lang="en-US" sz="1200" b="1" dirty="0">
                          <a:solidFill>
                            <a:srgbClr val="19B5C9"/>
                          </a:solidFill>
                        </a:rPr>
                        <a:t>Path</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200" b="1" dirty="0">
                          <a:solidFill>
                            <a:srgbClr val="19B5C9"/>
                          </a:solidFill>
                        </a:rPr>
                        <a:t>Time</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200" b="1" dirty="0">
                          <a:solidFill>
                            <a:srgbClr val="19B5C9"/>
                          </a:solidFill>
                        </a:rPr>
                        <a:t>Route</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603504">
                <a:tc>
                  <a:txBody>
                    <a:bodyPr/>
                    <a:lstStyle/>
                    <a:p>
                      <a:pPr marL="0" indent="0">
                        <a:buNone/>
                      </a:pPr>
                      <a:r>
                        <a:rPr lang="en-US" sz="1200" dirty="0">
                          <a:solidFill>
                            <a:srgbClr val="E8EEF5"/>
                          </a:solidFill>
                        </a:rPr>
                        <a:t>A · Public</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200" dirty="0">
                          <a:solidFill>
                            <a:srgbClr val="E8EEF5"/>
                          </a:solidFill>
                        </a:rPr>
                        <a:t>~8 min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200" dirty="0">
                          <a:solidFill>
                            <a:srgbClr val="E8EEF5"/>
                          </a:solidFill>
                        </a:rPr>
                        <a:t>Menu → Companion → Live → Research Explorer → Intake/Report → Ground console → Validation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603504">
                <a:tc>
                  <a:txBody>
                    <a:bodyPr/>
                    <a:lstStyle/>
                    <a:p>
                      <a:pPr marL="0" indent="0">
                        <a:buNone/>
                      </a:pPr>
                      <a:r>
                        <a:rPr lang="en-US" sz="1200" dirty="0">
                          <a:solidFill>
                            <a:srgbClr val="E8EEF5"/>
                          </a:solidFill>
                        </a:rPr>
                        <a:t>B · Crew Self</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200" dirty="0">
                          <a:solidFill>
                            <a:srgbClr val="E8EEF5"/>
                          </a:solidFill>
                        </a:rPr>
                        <a:t>~4 min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200" dirty="0">
                          <a:solidFill>
                            <a:srgbClr val="E8EEF5"/>
                          </a:solidFill>
                        </a:rPr>
                        <a:t>Sign-in → own trends + filters → tab switch → isolation check</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603504">
                <a:tc>
                  <a:txBody>
                    <a:bodyPr/>
                    <a:lstStyle/>
                    <a:p>
                      <a:pPr marL="0" indent="0">
                        <a:buNone/>
                      </a:pPr>
                      <a:r>
                        <a:rPr lang="en-US" sz="1200" dirty="0">
                          <a:solidFill>
                            <a:srgbClr val="E8EEF5"/>
                          </a:solidFill>
                        </a:rPr>
                        <a:t>B · Ground Medical</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200" dirty="0">
                          <a:solidFill>
                            <a:srgbClr val="E8EEF5"/>
                          </a:solidFill>
                        </a:rPr>
                        <a:t>~3 min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200" dirty="0">
                          <a:solidFill>
                            <a:srgbClr val="E8EEF5"/>
                          </a:solidFill>
                        </a:rPr>
                        <a:t>Workspace → 8 values → tab switch → mission switch</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603504">
                <a:tc>
                  <a:txBody>
                    <a:bodyPr/>
                    <a:lstStyle/>
                    <a:p>
                      <a:pPr marL="0" indent="0">
                        <a:buNone/>
                      </a:pPr>
                      <a:r>
                        <a:rPr lang="en-US" sz="1200" dirty="0">
                          <a:solidFill>
                            <a:srgbClr val="E8EEF5"/>
                          </a:solidFill>
                        </a:rPr>
                        <a:t>B · Researcher</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200" dirty="0">
                          <a:solidFill>
                            <a:srgbClr val="E8EEF5"/>
                          </a:solidFill>
                        </a:rPr>
                        <a:t>~1.5 min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200" dirty="0">
                          <a:solidFill>
                            <a:srgbClr val="E8EEF5"/>
                          </a:solidFill>
                        </a:rPr>
                        <a:t>Aggregate export or suppression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603504">
                <a:tc>
                  <a:txBody>
                    <a:bodyPr/>
                    <a:lstStyle/>
                    <a:p>
                      <a:pPr marL="0" indent="0">
                        <a:buNone/>
                      </a:pPr>
                      <a:r>
                        <a:rPr lang="en-US" sz="1200" dirty="0">
                          <a:solidFill>
                            <a:srgbClr val="E8EEF5"/>
                          </a:solidFill>
                        </a:rPr>
                        <a:t>B · Operator (optional)</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200" dirty="0">
                          <a:solidFill>
                            <a:srgbClr val="E8EEF5"/>
                          </a:solidFill>
                        </a:rPr>
                        <a:t>~1.5 min</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200" dirty="0">
                          <a:solidFill>
                            <a:srgbClr val="E8EEF5"/>
                          </a:solidFill>
                        </a:rPr>
                        <a:t>Launchpad tracker and offline report</a:t>
                      </a:r>
                      <a:endParaRPr lang="en-US" sz="12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bl>
          </a:graphicData>
        </a:graphic>
      </p:graphicFrame>
      <p:sp>
        <p:nvSpPr>
          <p:cNvPr id="5" name="Shape 2"/>
          <p:cNvSpPr/>
          <p:nvPr/>
        </p:nvSpPr>
        <p:spPr>
          <a:xfrm>
            <a:off x="7717536" y="1682496"/>
            <a:ext cx="3950208" cy="2510028"/>
          </a:xfrm>
          <a:prstGeom prst="roundRect">
            <a:avLst>
              <a:gd name="adj" fmla="val 1821"/>
            </a:avLst>
          </a:prstGeom>
          <a:solidFill>
            <a:srgbClr val="0F2236"/>
          </a:solidFill>
          <a:ln w="12700">
            <a:solidFill>
              <a:srgbClr val="19B5C9"/>
            </a:solidFill>
            <a:prstDash val="solid"/>
          </a:ln>
        </p:spPr>
        <p:txBody>
          <a:bodyPr/>
          <a:lstStyle/>
          <a:p>
            <a:endParaRPr lang="en-US"/>
          </a:p>
        </p:txBody>
      </p:sp>
      <p:pic>
        <p:nvPicPr>
          <p:cNvPr id="6" name="Image 0" descr="/home/claude/v5/shots/companion_top.jpg"/>
          <p:cNvPicPr>
            <a:picLocks noChangeAspect="1"/>
          </p:cNvPicPr>
          <p:nvPr/>
        </p:nvPicPr>
        <p:blipFill>
          <a:blip r:embed="rId5"/>
          <a:stretch>
            <a:fillRect/>
          </a:stretch>
        </p:blipFill>
        <p:spPr>
          <a:xfrm>
            <a:off x="7772400" y="1737360"/>
            <a:ext cx="3840480" cy="2400300"/>
          </a:xfrm>
          <a:prstGeom prst="rect">
            <a:avLst/>
          </a:prstGeom>
        </p:spPr>
      </p:pic>
      <p:sp>
        <p:nvSpPr>
          <p:cNvPr id="7" name="Text 3"/>
          <p:cNvSpPr txBox="1"/>
          <p:nvPr/>
        </p:nvSpPr>
        <p:spPr>
          <a:xfrm>
            <a:off x="7772400" y="4229100"/>
            <a:ext cx="3840480" cy="256032"/>
          </a:xfrm>
          <a:prstGeom prst="rect">
            <a:avLst/>
          </a:prstGeom>
          <a:noFill/>
          <a:ln/>
        </p:spPr>
        <p:txBody>
          <a:bodyPr wrap="square" lIns="0" tIns="0" rIns="0" bIns="0" rtlCol="0" anchor="ctr"/>
          <a:lstStyle/>
          <a:p>
            <a:pPr marL="0" indent="0" algn="ctr">
              <a:buNone/>
            </a:pPr>
            <a:r>
              <a:rPr lang="en-US" sz="1000" dirty="0">
                <a:solidFill>
                  <a:srgbClr val="93A7BC"/>
                </a:solidFill>
              </a:rPr>
              <a:t>Daily Health Companion — live site</a:t>
            </a:r>
            <a:endParaRPr lang="en-US" sz="1000" dirty="0"/>
          </a:p>
        </p:txBody>
      </p:sp>
      <p:sp>
        <p:nvSpPr>
          <p:cNvPr id="8" name="card"/>
          <p:cNvSpPr/>
          <p:nvPr/>
        </p:nvSpPr>
        <p:spPr>
          <a:xfrm>
            <a:off x="548640" y="5486400"/>
            <a:ext cx="6949440" cy="502920"/>
          </a:xfrm>
          <a:prstGeom prst="roundRect">
            <a:avLst>
              <a:gd name="adj" fmla="val 14545"/>
            </a:avLst>
          </a:prstGeom>
          <a:solidFill>
            <a:srgbClr val="0F2236"/>
          </a:solidFill>
          <a:ln w="12700">
            <a:solidFill>
              <a:srgbClr val="24496B"/>
            </a:solidFill>
            <a:prstDash val="solid"/>
          </a:ln>
        </p:spPr>
        <p:txBody>
          <a:bodyPr/>
          <a:lstStyle/>
          <a:p>
            <a:endParaRPr lang="en-US"/>
          </a:p>
        </p:txBody>
      </p:sp>
      <p:sp>
        <p:nvSpPr>
          <p:cNvPr id="9" name="Text 5"/>
          <p:cNvSpPr txBox="1"/>
          <p:nvPr/>
        </p:nvSpPr>
        <p:spPr>
          <a:xfrm>
            <a:off x="749808" y="5650992"/>
            <a:ext cx="6611112" cy="457200"/>
          </a:xfrm>
          <a:prstGeom prst="rect">
            <a:avLst/>
          </a:prstGeom>
          <a:noFill/>
          <a:ln/>
        </p:spPr>
        <p:txBody>
          <a:bodyPr wrap="square" lIns="0" tIns="0" rIns="0" bIns="0" rtlCol="0" anchor="ctr"/>
          <a:lstStyle/>
          <a:p>
            <a:pPr marL="0" indent="0">
              <a:buNone/>
            </a:pPr>
            <a:r>
              <a:rPr lang="en-US" sz="1300" b="1" dirty="0">
                <a:solidFill>
                  <a:srgbClr val="19B5C9"/>
                </a:solidFill>
              </a:rPr>
              <a:t>https://mitochondria.edocinfo.com · NASA Evaluator Quick Start Guide (FINAL)</a:t>
            </a:r>
            <a:endParaRPr lang="en-US" sz="1300" dirty="0"/>
          </a:p>
        </p:txBody>
      </p:sp>
      <p:sp>
        <p:nvSpPr>
          <p:cNvPr id="10" name="Text 6"/>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NASA Evaluator Quick Start Guide (FINAL), Section 5</a:t>
            </a:r>
            <a:endParaRPr lang="en-US" sz="1000" dirty="0"/>
          </a:p>
        </p:txBody>
      </p:sp>
      <p:sp>
        <p:nvSpPr>
          <p:cNvPr id="11"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26</a:t>
            </a:fld>
            <a:endParaRPr lang="en-US"/>
          </a:p>
        </p:txBody>
      </p:sp>
      <p:pic>
        <p:nvPicPr>
          <p:cNvPr id="12" name="narration26">
            <a:hlinkClick r:id="" action="ppaction://media"/>
            <a:extLst>
              <a:ext uri="{FF2B5EF4-FFF2-40B4-BE49-F238E27FC236}">
                <a16:creationId xmlns:a16="http://schemas.microsoft.com/office/drawing/2014/main" id="{C55FB77C-267C-7607-751E-77D3156C6BD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963693" y="682149"/>
            <a:ext cx="487363" cy="487363"/>
          </a:xfrm>
          <a:prstGeom prst="rect">
            <a:avLst/>
          </a:prstGeom>
        </p:spPr>
      </p:pic>
    </p:spTree>
  </p:cSld>
  <p:clrMapOvr>
    <a:masterClrMapping/>
  </p:clrMapOvr>
  <p:transition spd="slow" advTm="268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65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Engineering evidence — reported as it is</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FINAL COMPETITION EDITION · AUTOMATED VERIFICATION</a:t>
            </a:r>
            <a:endParaRPr lang="en-US" sz="1100" dirty="0"/>
          </a:p>
        </p:txBody>
      </p:sp>
      <p:sp>
        <p:nvSpPr>
          <p:cNvPr id="4" name="card"/>
          <p:cNvSpPr/>
          <p:nvPr/>
        </p:nvSpPr>
        <p:spPr>
          <a:xfrm>
            <a:off x="548640" y="1737360"/>
            <a:ext cx="2651760" cy="1737360"/>
          </a:xfrm>
          <a:prstGeom prst="roundRect">
            <a:avLst>
              <a:gd name="adj" fmla="val 4211"/>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01952"/>
            <a:ext cx="2313432" cy="457200"/>
          </a:xfrm>
          <a:prstGeom prst="rect">
            <a:avLst/>
          </a:prstGeom>
          <a:noFill/>
          <a:ln/>
        </p:spPr>
        <p:txBody>
          <a:bodyPr wrap="square" lIns="0" tIns="0" rIns="0" bIns="0" rtlCol="0" anchor="ctr"/>
          <a:lstStyle/>
          <a:p>
            <a:pPr marL="0" indent="0">
              <a:buNone/>
            </a:pPr>
            <a:r>
              <a:rPr lang="en-US" sz="3000" b="1" dirty="0">
                <a:solidFill>
                  <a:srgbClr val="3CB371"/>
                </a:solidFill>
              </a:rPr>
              <a:t>✓</a:t>
            </a:r>
            <a:endParaRPr lang="en-US" sz="3000" dirty="0"/>
          </a:p>
        </p:txBody>
      </p:sp>
      <p:sp>
        <p:nvSpPr>
          <p:cNvPr id="6" name="Text 4"/>
          <p:cNvSpPr txBox="1"/>
          <p:nvPr/>
        </p:nvSpPr>
        <p:spPr>
          <a:xfrm>
            <a:off x="749808" y="2450592"/>
            <a:ext cx="2286000" cy="914400"/>
          </a:xfrm>
          <a:prstGeom prst="rect">
            <a:avLst/>
          </a:prstGeom>
          <a:noFill/>
          <a:ln/>
        </p:spPr>
        <p:txBody>
          <a:bodyPr wrap="square" lIns="0" tIns="0" rIns="0" bIns="0" rtlCol="0" anchor="t"/>
          <a:lstStyle/>
          <a:p>
            <a:pPr marL="0" indent="0">
              <a:buNone/>
            </a:pPr>
            <a:r>
              <a:rPr lang="en-US" sz="1300" dirty="0">
                <a:solidFill>
                  <a:srgbClr val="E8EEF5"/>
                </a:solidFill>
              </a:rPr>
              <a:t>Quality #338 — release commit 4e448ea</a:t>
            </a:r>
            <a:endParaRPr lang="en-US" sz="1300" dirty="0"/>
          </a:p>
        </p:txBody>
      </p:sp>
      <p:sp>
        <p:nvSpPr>
          <p:cNvPr id="7" name="card"/>
          <p:cNvSpPr/>
          <p:nvPr/>
        </p:nvSpPr>
        <p:spPr>
          <a:xfrm>
            <a:off x="3364992" y="1737360"/>
            <a:ext cx="2651760" cy="1737360"/>
          </a:xfrm>
          <a:prstGeom prst="roundRect">
            <a:avLst>
              <a:gd name="adj" fmla="val 4211"/>
            </a:avLst>
          </a:prstGeom>
          <a:solidFill>
            <a:srgbClr val="0F2236"/>
          </a:solidFill>
          <a:ln w="12700">
            <a:solidFill>
              <a:srgbClr val="24496B"/>
            </a:solidFill>
            <a:prstDash val="solid"/>
          </a:ln>
        </p:spPr>
        <p:txBody>
          <a:bodyPr/>
          <a:lstStyle/>
          <a:p>
            <a:endParaRPr lang="en-US"/>
          </a:p>
        </p:txBody>
      </p:sp>
      <p:sp>
        <p:nvSpPr>
          <p:cNvPr id="8" name="Text 6"/>
          <p:cNvSpPr txBox="1"/>
          <p:nvPr/>
        </p:nvSpPr>
        <p:spPr>
          <a:xfrm>
            <a:off x="3566160" y="1901952"/>
            <a:ext cx="2313432" cy="457200"/>
          </a:xfrm>
          <a:prstGeom prst="rect">
            <a:avLst/>
          </a:prstGeom>
          <a:noFill/>
          <a:ln/>
        </p:spPr>
        <p:txBody>
          <a:bodyPr wrap="square" lIns="0" tIns="0" rIns="0" bIns="0" rtlCol="0" anchor="ctr"/>
          <a:lstStyle/>
          <a:p>
            <a:pPr marL="0" indent="0">
              <a:buNone/>
            </a:pPr>
            <a:r>
              <a:rPr lang="en-US" sz="3000" b="1" dirty="0">
                <a:solidFill>
                  <a:srgbClr val="3CB371"/>
                </a:solidFill>
              </a:rPr>
              <a:t>✓</a:t>
            </a:r>
            <a:endParaRPr lang="en-US" sz="3000" dirty="0"/>
          </a:p>
        </p:txBody>
      </p:sp>
      <p:sp>
        <p:nvSpPr>
          <p:cNvPr id="9" name="Text 7"/>
          <p:cNvSpPr txBox="1"/>
          <p:nvPr/>
        </p:nvSpPr>
        <p:spPr>
          <a:xfrm>
            <a:off x="3566160" y="2450592"/>
            <a:ext cx="2286000" cy="914400"/>
          </a:xfrm>
          <a:prstGeom prst="rect">
            <a:avLst/>
          </a:prstGeom>
          <a:noFill/>
          <a:ln/>
        </p:spPr>
        <p:txBody>
          <a:bodyPr wrap="square" lIns="0" tIns="0" rIns="0" bIns="0" rtlCol="0" anchor="t"/>
          <a:lstStyle/>
          <a:p>
            <a:pPr marL="0" indent="0">
              <a:buNone/>
            </a:pPr>
            <a:r>
              <a:rPr lang="en-US" sz="1300" dirty="0">
                <a:solidFill>
                  <a:srgbClr val="E8EEF5"/>
                </a:solidFill>
              </a:rPr>
              <a:t>Security Scan #326 — Trivy</a:t>
            </a:r>
            <a:endParaRPr lang="en-US" sz="1300" dirty="0"/>
          </a:p>
        </p:txBody>
      </p:sp>
      <p:sp>
        <p:nvSpPr>
          <p:cNvPr id="10" name="card"/>
          <p:cNvSpPr/>
          <p:nvPr/>
        </p:nvSpPr>
        <p:spPr>
          <a:xfrm>
            <a:off x="6181344" y="1737360"/>
            <a:ext cx="2651760" cy="1737360"/>
          </a:xfrm>
          <a:prstGeom prst="roundRect">
            <a:avLst>
              <a:gd name="adj" fmla="val 4211"/>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6382512" y="1901952"/>
            <a:ext cx="2313432" cy="457200"/>
          </a:xfrm>
          <a:prstGeom prst="rect">
            <a:avLst/>
          </a:prstGeom>
          <a:noFill/>
          <a:ln/>
        </p:spPr>
        <p:txBody>
          <a:bodyPr wrap="square" lIns="0" tIns="0" rIns="0" bIns="0" rtlCol="0" anchor="ctr"/>
          <a:lstStyle/>
          <a:p>
            <a:pPr marL="0" indent="0">
              <a:buNone/>
            </a:pPr>
            <a:r>
              <a:rPr lang="en-US" sz="3000" b="1" dirty="0">
                <a:solidFill>
                  <a:srgbClr val="19B5C9"/>
                </a:solidFill>
              </a:rPr>
              <a:t>864</a:t>
            </a:r>
            <a:endParaRPr lang="en-US" sz="3000" dirty="0"/>
          </a:p>
        </p:txBody>
      </p:sp>
      <p:sp>
        <p:nvSpPr>
          <p:cNvPr id="12" name="Text 10"/>
          <p:cNvSpPr txBox="1"/>
          <p:nvPr/>
        </p:nvSpPr>
        <p:spPr>
          <a:xfrm>
            <a:off x="6382512" y="2450592"/>
            <a:ext cx="2286000" cy="914400"/>
          </a:xfrm>
          <a:prstGeom prst="rect">
            <a:avLst/>
          </a:prstGeom>
          <a:noFill/>
          <a:ln/>
        </p:spPr>
        <p:txBody>
          <a:bodyPr wrap="square" lIns="0" tIns="0" rIns="0" bIns="0" rtlCol="0" anchor="t"/>
          <a:lstStyle/>
          <a:p>
            <a:pPr marL="0" indent="0">
              <a:buNone/>
            </a:pPr>
            <a:r>
              <a:rPr lang="en-US" sz="1300" dirty="0">
                <a:solidFill>
                  <a:srgbClr val="E8EEF5"/>
                </a:solidFill>
              </a:rPr>
              <a:t>tests passing (162 files, dev env.)</a:t>
            </a:r>
            <a:endParaRPr lang="en-US" sz="1300" dirty="0"/>
          </a:p>
        </p:txBody>
      </p:sp>
      <p:sp>
        <p:nvSpPr>
          <p:cNvPr id="13" name="card"/>
          <p:cNvSpPr/>
          <p:nvPr/>
        </p:nvSpPr>
        <p:spPr>
          <a:xfrm>
            <a:off x="8997696" y="1737360"/>
            <a:ext cx="2651760" cy="1737360"/>
          </a:xfrm>
          <a:prstGeom prst="roundRect">
            <a:avLst>
              <a:gd name="adj" fmla="val 4211"/>
            </a:avLst>
          </a:prstGeom>
          <a:solidFill>
            <a:srgbClr val="0F2236"/>
          </a:solidFill>
          <a:ln w="12700">
            <a:solidFill>
              <a:srgbClr val="24496B"/>
            </a:solidFill>
            <a:prstDash val="solid"/>
          </a:ln>
        </p:spPr>
        <p:txBody>
          <a:bodyPr/>
          <a:lstStyle/>
          <a:p>
            <a:endParaRPr lang="en-US"/>
          </a:p>
        </p:txBody>
      </p:sp>
      <p:sp>
        <p:nvSpPr>
          <p:cNvPr id="14" name="Text 12"/>
          <p:cNvSpPr txBox="1"/>
          <p:nvPr/>
        </p:nvSpPr>
        <p:spPr>
          <a:xfrm>
            <a:off x="9198864" y="1901952"/>
            <a:ext cx="2313432" cy="457200"/>
          </a:xfrm>
          <a:prstGeom prst="rect">
            <a:avLst/>
          </a:prstGeom>
          <a:noFill/>
          <a:ln/>
        </p:spPr>
        <p:txBody>
          <a:bodyPr wrap="square" lIns="0" tIns="0" rIns="0" bIns="0" rtlCol="0" anchor="ctr"/>
          <a:lstStyle/>
          <a:p>
            <a:pPr marL="0" indent="0">
              <a:buNone/>
            </a:pPr>
            <a:r>
              <a:rPr lang="en-US" sz="3000" b="1" dirty="0">
                <a:solidFill>
                  <a:srgbClr val="3CB371"/>
                </a:solidFill>
              </a:rPr>
              <a:t>305 / 305</a:t>
            </a:r>
            <a:endParaRPr lang="en-US" sz="3000" dirty="0"/>
          </a:p>
        </p:txBody>
      </p:sp>
      <p:sp>
        <p:nvSpPr>
          <p:cNvPr id="15" name="Text 13"/>
          <p:cNvSpPr txBox="1"/>
          <p:nvPr/>
        </p:nvSpPr>
        <p:spPr>
          <a:xfrm>
            <a:off x="9198864" y="2450592"/>
            <a:ext cx="2286000" cy="914400"/>
          </a:xfrm>
          <a:prstGeom prst="rect">
            <a:avLst/>
          </a:prstGeom>
          <a:noFill/>
          <a:ln/>
        </p:spPr>
        <p:txBody>
          <a:bodyPr wrap="square" lIns="0" tIns="0" rIns="0" bIns="0" rtlCol="0" anchor="t"/>
          <a:lstStyle/>
          <a:p>
            <a:pPr marL="0" indent="0">
              <a:buNone/>
            </a:pPr>
            <a:r>
              <a:rPr lang="en-US" sz="1300" dirty="0">
                <a:solidFill>
                  <a:srgbClr val="E8EEF5"/>
                </a:solidFill>
              </a:rPr>
              <a:t>database integration assertions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7223760" cy="2194560"/>
        </p:xfrm>
        <a:graphic>
          <a:graphicData uri="http://schemas.openxmlformats.org/drawingml/2006/table">
            <a:tbl>
              <a:tblPr/>
              <a:tblGrid>
                <a:gridCol w="48463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19B5C9"/>
                          </a:solidFill>
                        </a:rPr>
                        <a:t>Evidence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tc>
                  <a:txBody>
                    <a:bodyPr/>
                    <a:lstStyle/>
                    <a:p>
                      <a:pPr marL="0" indent="0">
                        <a:buNone/>
                      </a:pPr>
                      <a:r>
                        <a:rPr lang="en-US" sz="1300" b="1" dirty="0">
                          <a:solidFill>
                            <a:srgbClr val="19B5C9"/>
                          </a:solidFill>
                        </a:rPr>
                        <a:t>Result</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13304A"/>
                    </a:solidFill>
                  </a:tcPr>
                </a:tc>
                <a:extLst>
                  <a:ext uri="{0D108BD9-81ED-4DB2-BD59-A6C34878D82A}">
                    <a16:rowId xmlns:a16="http://schemas.microsoft.com/office/drawing/2014/main" val="10000"/>
                  </a:ext>
                </a:extLst>
              </a:tr>
              <a:tr h="365760">
                <a:tc>
                  <a:txBody>
                    <a:bodyPr/>
                    <a:lstStyle/>
                    <a:p>
                      <a:pPr marL="0" indent="0">
                        <a:buNone/>
                      </a:pPr>
                      <a:r>
                        <a:rPr lang="en-US" sz="1300" dirty="0">
                          <a:solidFill>
                            <a:srgbClr val="E8EEF5"/>
                          </a:solidFill>
                        </a:rPr>
                        <a:t>Crew Self intake — disposable PostgreSQL</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3CB371"/>
                          </a:solidFill>
                        </a:rPr>
                        <a:t>PASS 14/14</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1"/>
                  </a:ext>
                </a:extLst>
              </a:tr>
              <a:tr h="365760">
                <a:tc>
                  <a:txBody>
                    <a:bodyPr/>
                    <a:lstStyle/>
                    <a:p>
                      <a:pPr marL="0" indent="0">
                        <a:buNone/>
                      </a:pPr>
                      <a:r>
                        <a:rPr lang="en-US" sz="1300" dirty="0">
                          <a:solidFill>
                            <a:srgbClr val="E8EEF5"/>
                          </a:solidFill>
                        </a:rPr>
                        <a:t>Typecheck · lint · build (dev env.)</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3CB371"/>
                          </a:solidFill>
                        </a:rPr>
                        <a:t>PASS</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2"/>
                  </a:ext>
                </a:extLst>
              </a:tr>
              <a:tr h="365760">
                <a:tc>
                  <a:txBody>
                    <a:bodyPr/>
                    <a:lstStyle/>
                    <a:p>
                      <a:pPr marL="0" indent="0">
                        <a:buNone/>
                      </a:pPr>
                      <a:r>
                        <a:rPr lang="en-US" sz="1300" dirty="0">
                          <a:solidFill>
                            <a:srgbClr val="E8EEF5"/>
                          </a:solidFill>
                        </a:rPr>
                        <a:t>Medical v3 Release Gate #75</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F2A93B"/>
                          </a:solidFill>
                        </a:rPr>
                        <a:t>BLOCKED BY DESIGN</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3"/>
                  </a:ext>
                </a:extLst>
              </a:tr>
              <a:tr h="365760">
                <a:tc>
                  <a:txBody>
                    <a:bodyPr/>
                    <a:lstStyle/>
                    <a:p>
                      <a:pPr marL="0" indent="0">
                        <a:buNone/>
                      </a:pPr>
                      <a:r>
                        <a:rPr lang="en-US" sz="1300" dirty="0">
                          <a:solidFill>
                            <a:srgbClr val="E8EEF5"/>
                          </a:solidFill>
                        </a:rPr>
                        <a:t>Owner gates P3663 · P3664 · P20</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tc>
                  <a:txBody>
                    <a:bodyPr/>
                    <a:lstStyle/>
                    <a:p>
                      <a:pPr marL="0" indent="0">
                        <a:buNone/>
                      </a:pPr>
                      <a:r>
                        <a:rPr lang="en-US" sz="1300" dirty="0">
                          <a:solidFill>
                            <a:srgbClr val="E05561"/>
                          </a:solidFill>
                        </a:rPr>
                        <a:t>PENDING EVIDENCE</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B1A2B"/>
                    </a:solidFill>
                  </a:tcPr>
                </a:tc>
                <a:extLst>
                  <a:ext uri="{0D108BD9-81ED-4DB2-BD59-A6C34878D82A}">
                    <a16:rowId xmlns:a16="http://schemas.microsoft.com/office/drawing/2014/main" val="10004"/>
                  </a:ext>
                </a:extLst>
              </a:tr>
              <a:tr h="365760">
                <a:tc>
                  <a:txBody>
                    <a:bodyPr/>
                    <a:lstStyle/>
                    <a:p>
                      <a:pPr marL="0" indent="0">
                        <a:buNone/>
                      </a:pPr>
                      <a:r>
                        <a:rPr lang="en-US" sz="1300" dirty="0">
                          <a:solidFill>
                            <a:srgbClr val="E8EEF5"/>
                          </a:solidFill>
                        </a:rPr>
                        <a:t>Clinical activation</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tc>
                  <a:txBody>
                    <a:bodyPr/>
                    <a:lstStyle/>
                    <a:p>
                      <a:pPr marL="0" indent="0">
                        <a:buNone/>
                      </a:pPr>
                      <a:r>
                        <a:rPr lang="en-US" sz="1300" dirty="0">
                          <a:solidFill>
                            <a:srgbClr val="F2A93B"/>
                          </a:solidFill>
                        </a:rPr>
                        <a:t>DISABLED</a:t>
                      </a:r>
                      <a:endParaRPr lang="en-US" sz="1300" dirty="0"/>
                    </a:p>
                  </a:txBody>
                  <a:tcPr marL="76200" marR="76200" marT="38100" marB="38100" anchor="ctr">
                    <a:lnL w="9525" cap="flat" cmpd="sng" algn="ctr">
                      <a:solidFill>
                        <a:srgbClr val="24496B"/>
                      </a:solidFill>
                      <a:prstDash val="solid"/>
                      <a:round/>
                      <a:headEnd type="none" w="med" len="med"/>
                      <a:tailEnd type="none" w="med" len="med"/>
                    </a:lnL>
                    <a:lnR w="9525" cap="flat" cmpd="sng" algn="ctr">
                      <a:solidFill>
                        <a:srgbClr val="24496B"/>
                      </a:solidFill>
                      <a:prstDash val="solid"/>
                      <a:round/>
                      <a:headEnd type="none" w="med" len="med"/>
                      <a:tailEnd type="none" w="med" len="med"/>
                    </a:lnR>
                    <a:lnT w="9525" cap="flat" cmpd="sng" algn="ctr">
                      <a:solidFill>
                        <a:srgbClr val="24496B"/>
                      </a:solidFill>
                      <a:prstDash val="solid"/>
                      <a:round/>
                      <a:headEnd type="none" w="med" len="med"/>
                      <a:tailEnd type="none" w="med" len="med"/>
                    </a:lnT>
                    <a:lnB w="9525" cap="flat" cmpd="sng" algn="ctr">
                      <a:solidFill>
                        <a:srgbClr val="24496B"/>
                      </a:solidFill>
                      <a:prstDash val="solid"/>
                      <a:round/>
                      <a:headEnd type="none" w="med" len="med"/>
                      <a:tailEnd type="none" w="med" len="med"/>
                    </a:lnB>
                    <a:solidFill>
                      <a:srgbClr val="0F2236"/>
                    </a:solidFill>
                  </a:tcPr>
                </a:tc>
                <a:extLst>
                  <a:ext uri="{0D108BD9-81ED-4DB2-BD59-A6C34878D82A}">
                    <a16:rowId xmlns:a16="http://schemas.microsoft.com/office/drawing/2014/main" val="10005"/>
                  </a:ext>
                </a:extLst>
              </a:tr>
            </a:tbl>
          </a:graphicData>
        </a:graphic>
      </p:graphicFrame>
      <p:sp>
        <p:nvSpPr>
          <p:cNvPr id="17" name="card"/>
          <p:cNvSpPr/>
          <p:nvPr/>
        </p:nvSpPr>
        <p:spPr>
          <a:xfrm>
            <a:off x="8046720" y="3703320"/>
            <a:ext cx="3566160" cy="2240280"/>
          </a:xfrm>
          <a:prstGeom prst="roundRect">
            <a:avLst>
              <a:gd name="adj" fmla="val 3265"/>
            </a:avLst>
          </a:prstGeom>
          <a:solidFill>
            <a:srgbClr val="0F2236"/>
          </a:solidFill>
          <a:ln w="12700">
            <a:solidFill>
              <a:srgbClr val="24496B"/>
            </a:solidFill>
            <a:prstDash val="solid"/>
          </a:ln>
        </p:spPr>
        <p:txBody>
          <a:bodyPr/>
          <a:lstStyle/>
          <a:p>
            <a:endParaRPr lang="en-US"/>
          </a:p>
        </p:txBody>
      </p:sp>
      <p:pic>
        <p:nvPicPr>
          <p:cNvPr id="18" name="Image 0" descr="preencoded.png"/>
          <p:cNvPicPr>
            <a:picLocks noChangeAspect="1"/>
          </p:cNvPicPr>
          <p:nvPr/>
        </p:nvPicPr>
        <p:blipFill>
          <a:blip r:embed="rId5"/>
          <a:stretch>
            <a:fillRect/>
          </a:stretch>
        </p:blipFill>
        <p:spPr>
          <a:xfrm>
            <a:off x="8247888" y="3904488"/>
            <a:ext cx="384048" cy="384048"/>
          </a:xfrm>
          <a:prstGeom prst="rect">
            <a:avLst/>
          </a:prstGeom>
        </p:spPr>
      </p:pic>
      <p:sp>
        <p:nvSpPr>
          <p:cNvPr id="19" name="Text 15"/>
          <p:cNvSpPr txBox="1"/>
          <p:nvPr/>
        </p:nvSpPr>
        <p:spPr>
          <a:xfrm>
            <a:off x="8759952" y="386791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Public evidence</a:t>
            </a:r>
            <a:endParaRPr lang="en-US" sz="1600" dirty="0"/>
          </a:p>
        </p:txBody>
      </p:sp>
      <p:sp>
        <p:nvSpPr>
          <p:cNvPr id="20" name="Text 16"/>
          <p:cNvSpPr txBox="1"/>
          <p:nvPr/>
        </p:nvSpPr>
        <p:spPr>
          <a:xfrm>
            <a:off x="8247888" y="4416552"/>
            <a:ext cx="3200400" cy="1417320"/>
          </a:xfrm>
          <a:prstGeom prst="rect">
            <a:avLst/>
          </a:prstGeom>
          <a:noFill/>
          <a:ln/>
        </p:spPr>
        <p:txBody>
          <a:bodyPr wrap="square" lIns="0" tIns="0" rIns="0" bIns="0" rtlCol="0" anchor="t"/>
          <a:lstStyle/>
          <a:p>
            <a:pPr marL="0" indent="0">
              <a:buNone/>
            </a:pPr>
            <a:r>
              <a:rPr lang="en-US" sz="1200" dirty="0">
                <a:solidFill>
                  <a:srgbClr val="E8EEF5"/>
                </a:solidFill>
              </a:rPr>
              <a:t>github.com/computech-gr/astro-vitality-core/actions — runs for commit 4e448ea</a:t>
            </a:r>
            <a:endParaRPr lang="en-US" sz="1200" dirty="0"/>
          </a:p>
        </p:txBody>
      </p:sp>
      <p:sp>
        <p:nvSpPr>
          <p:cNvPr id="21" name="Text 17"/>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GitHub Actions runs #338, #326, #75; docs/P52_1_CI_REPAIR.md; docs/P53_MEDICAL_EVIDENCE_OWNER_READINESS.md</a:t>
            </a:r>
            <a:endParaRPr lang="en-US" sz="1000" dirty="0"/>
          </a:p>
        </p:txBody>
      </p:sp>
      <p:sp>
        <p:nvSpPr>
          <p:cNvPr id="22"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27</a:t>
            </a:fld>
            <a:endParaRPr lang="en-US"/>
          </a:p>
        </p:txBody>
      </p:sp>
      <p:pic>
        <p:nvPicPr>
          <p:cNvPr id="23" name="narration27">
            <a:hlinkClick r:id="" action="ppaction://media"/>
            <a:extLst>
              <a:ext uri="{FF2B5EF4-FFF2-40B4-BE49-F238E27FC236}">
                <a16:creationId xmlns:a16="http://schemas.microsoft.com/office/drawing/2014/main" id="{26D94593-F200-E98F-DBD0-3D32E995FFF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314619" y="588422"/>
            <a:ext cx="487363" cy="487363"/>
          </a:xfrm>
          <a:prstGeom prst="rect">
            <a:avLst/>
          </a:prstGeom>
        </p:spPr>
      </p:pic>
    </p:spTree>
  </p:cSld>
  <p:clrMapOvr>
    <a:masterClrMapping/>
  </p:clrMapOvr>
  <p:transition spd="slow" advTm="3200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79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Scientific limitations and future validation</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WHAT THIS RELEASE DOES NOT CLAIM</a:t>
            </a:r>
            <a:endParaRPr lang="en-US" sz="1100" dirty="0"/>
          </a:p>
        </p:txBody>
      </p:sp>
      <p:sp>
        <p:nvSpPr>
          <p:cNvPr id="4" name="card"/>
          <p:cNvSpPr/>
          <p:nvPr/>
        </p:nvSpPr>
        <p:spPr>
          <a:xfrm>
            <a:off x="548640" y="1737360"/>
            <a:ext cx="365760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5" name="Text 3"/>
          <p:cNvSpPr txBox="1"/>
          <p:nvPr/>
        </p:nvSpPr>
        <p:spPr>
          <a:xfrm>
            <a:off x="749808" y="1901952"/>
            <a:ext cx="3319272" cy="457200"/>
          </a:xfrm>
          <a:prstGeom prst="rect">
            <a:avLst/>
          </a:prstGeom>
          <a:noFill/>
          <a:ln/>
        </p:spPr>
        <p:txBody>
          <a:bodyPr wrap="square" lIns="0" tIns="0" rIns="0" bIns="0" rtlCol="0" anchor="ctr"/>
          <a:lstStyle/>
          <a:p>
            <a:pPr marL="0" indent="0">
              <a:buNone/>
            </a:pPr>
            <a:r>
              <a:rPr lang="en-US" sz="1600" b="1" dirty="0">
                <a:solidFill>
                  <a:srgbClr val="F2A93B"/>
                </a:solidFill>
              </a:rPr>
              <a:t>Owner-evidence gates</a:t>
            </a:r>
            <a:endParaRPr lang="en-US" sz="1600" dirty="0"/>
          </a:p>
        </p:txBody>
      </p:sp>
      <p:sp>
        <p:nvSpPr>
          <p:cNvPr id="6" name="Text 4"/>
          <p:cNvSpPr txBox="1"/>
          <p:nvPr/>
        </p:nvSpPr>
        <p:spPr>
          <a:xfrm>
            <a:off x="749808" y="2450592"/>
            <a:ext cx="3291840" cy="1051560"/>
          </a:xfrm>
          <a:prstGeom prst="rect">
            <a:avLst/>
          </a:prstGeom>
          <a:noFill/>
          <a:ln/>
        </p:spPr>
        <p:txBody>
          <a:bodyPr wrap="square" lIns="0" tIns="0" rIns="0" bIns="0" rtlCol="0" anchor="t"/>
          <a:lstStyle/>
          <a:p>
            <a:pPr marL="0" indent="0">
              <a:buNone/>
            </a:pPr>
            <a:r>
              <a:rPr lang="en-US" sz="1400" dirty="0">
                <a:solidFill>
                  <a:srgbClr val="E8EEF5"/>
                </a:solidFill>
              </a:rPr>
              <a:t>P3663 restore · P3664 risk · P20 official rules</a:t>
            </a:r>
            <a:endParaRPr lang="en-US" sz="1400" dirty="0"/>
          </a:p>
        </p:txBody>
      </p:sp>
      <p:sp>
        <p:nvSpPr>
          <p:cNvPr id="7" name="card"/>
          <p:cNvSpPr/>
          <p:nvPr/>
        </p:nvSpPr>
        <p:spPr>
          <a:xfrm>
            <a:off x="4343400" y="1737360"/>
            <a:ext cx="365760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8" name="Text 6"/>
          <p:cNvSpPr txBox="1"/>
          <p:nvPr/>
        </p:nvSpPr>
        <p:spPr>
          <a:xfrm>
            <a:off x="4544568" y="1901952"/>
            <a:ext cx="3319272" cy="457200"/>
          </a:xfrm>
          <a:prstGeom prst="rect">
            <a:avLst/>
          </a:prstGeom>
          <a:noFill/>
          <a:ln/>
        </p:spPr>
        <p:txBody>
          <a:bodyPr wrap="square" lIns="0" tIns="0" rIns="0" bIns="0" rtlCol="0" anchor="ctr"/>
          <a:lstStyle/>
          <a:p>
            <a:pPr marL="0" indent="0">
              <a:buNone/>
            </a:pPr>
            <a:r>
              <a:rPr lang="en-US" sz="1600" b="1" dirty="0">
                <a:solidFill>
                  <a:srgbClr val="F2A93B"/>
                </a:solidFill>
              </a:rPr>
              <a:t>Signed-in revocation test</a:t>
            </a:r>
            <a:endParaRPr lang="en-US" sz="1600" dirty="0"/>
          </a:p>
        </p:txBody>
      </p:sp>
      <p:sp>
        <p:nvSpPr>
          <p:cNvPr id="9" name="Text 7"/>
          <p:cNvSpPr txBox="1"/>
          <p:nvPr/>
        </p:nvSpPr>
        <p:spPr>
          <a:xfrm>
            <a:off x="4544568" y="2450592"/>
            <a:ext cx="3291840" cy="1051560"/>
          </a:xfrm>
          <a:prstGeom prst="rect">
            <a:avLst/>
          </a:prstGeom>
          <a:noFill/>
          <a:ln/>
        </p:spPr>
        <p:txBody>
          <a:bodyPr wrap="square" lIns="0" tIns="0" rIns="0" bIns="0" rtlCol="0" anchor="t"/>
          <a:lstStyle/>
          <a:p>
            <a:pPr marL="0" indent="0">
              <a:buNone/>
            </a:pPr>
            <a:r>
              <a:rPr lang="en-US" sz="1400" dirty="0">
                <a:solidFill>
                  <a:srgbClr val="E8EEF5"/>
                </a:solidFill>
              </a:rPr>
              <a:t>Dedicated accounts; Crew Self and Ground Medical</a:t>
            </a:r>
            <a:endParaRPr lang="en-US" sz="1400" dirty="0"/>
          </a:p>
        </p:txBody>
      </p:sp>
      <p:sp>
        <p:nvSpPr>
          <p:cNvPr id="10" name="card"/>
          <p:cNvSpPr/>
          <p:nvPr/>
        </p:nvSpPr>
        <p:spPr>
          <a:xfrm>
            <a:off x="548640" y="3749040"/>
            <a:ext cx="365760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11" name="Text 9"/>
          <p:cNvSpPr txBox="1"/>
          <p:nvPr/>
        </p:nvSpPr>
        <p:spPr>
          <a:xfrm>
            <a:off x="749808" y="3913632"/>
            <a:ext cx="3319272" cy="457200"/>
          </a:xfrm>
          <a:prstGeom prst="rect">
            <a:avLst/>
          </a:prstGeom>
          <a:noFill/>
          <a:ln/>
        </p:spPr>
        <p:txBody>
          <a:bodyPr wrap="square" lIns="0" tIns="0" rIns="0" bIns="0" rtlCol="0" anchor="ctr"/>
          <a:lstStyle/>
          <a:p>
            <a:pPr marL="0" indent="0">
              <a:buNone/>
            </a:pPr>
            <a:r>
              <a:rPr lang="en-US" sz="1600" b="1" dirty="0">
                <a:solidFill>
                  <a:srgbClr val="F2A93B"/>
                </a:solidFill>
              </a:rPr>
              <a:t>Independent science review</a:t>
            </a:r>
            <a:endParaRPr lang="en-US" sz="1600" dirty="0"/>
          </a:p>
        </p:txBody>
      </p:sp>
      <p:sp>
        <p:nvSpPr>
          <p:cNvPr id="12" name="Text 10"/>
          <p:cNvSpPr txBox="1"/>
          <p:nvPr/>
        </p:nvSpPr>
        <p:spPr>
          <a:xfrm>
            <a:off x="749808" y="4462272"/>
            <a:ext cx="3291840" cy="1051560"/>
          </a:xfrm>
          <a:prstGeom prst="rect">
            <a:avLst/>
          </a:prstGeom>
          <a:noFill/>
          <a:ln/>
        </p:spPr>
        <p:txBody>
          <a:bodyPr wrap="square" lIns="0" tIns="0" rIns="0" bIns="0" rtlCol="0" anchor="t"/>
          <a:lstStyle/>
          <a:p>
            <a:pPr marL="0" indent="0">
              <a:buNone/>
            </a:pPr>
            <a:r>
              <a:rPr lang="en-US" sz="1400" dirty="0">
                <a:solidFill>
                  <a:srgbClr val="E8EEF5"/>
                </a:solidFill>
              </a:rPr>
              <a:t>54 proposals: 0 approved, 0 activated</a:t>
            </a:r>
            <a:endParaRPr lang="en-US" sz="1400" dirty="0"/>
          </a:p>
        </p:txBody>
      </p:sp>
      <p:sp>
        <p:nvSpPr>
          <p:cNvPr id="13" name="card"/>
          <p:cNvSpPr/>
          <p:nvPr/>
        </p:nvSpPr>
        <p:spPr>
          <a:xfrm>
            <a:off x="4343400" y="3749040"/>
            <a:ext cx="3657600" cy="1874520"/>
          </a:xfrm>
          <a:prstGeom prst="roundRect">
            <a:avLst>
              <a:gd name="adj" fmla="val 3902"/>
            </a:avLst>
          </a:prstGeom>
          <a:solidFill>
            <a:srgbClr val="0F2236"/>
          </a:solidFill>
          <a:ln w="12700">
            <a:solidFill>
              <a:srgbClr val="24496B"/>
            </a:solidFill>
            <a:prstDash val="solid"/>
          </a:ln>
        </p:spPr>
        <p:txBody>
          <a:bodyPr/>
          <a:lstStyle/>
          <a:p>
            <a:endParaRPr lang="en-US"/>
          </a:p>
        </p:txBody>
      </p:sp>
      <p:sp>
        <p:nvSpPr>
          <p:cNvPr id="14" name="Text 12"/>
          <p:cNvSpPr txBox="1"/>
          <p:nvPr/>
        </p:nvSpPr>
        <p:spPr>
          <a:xfrm>
            <a:off x="4544568" y="3913632"/>
            <a:ext cx="3319272" cy="457200"/>
          </a:xfrm>
          <a:prstGeom prst="rect">
            <a:avLst/>
          </a:prstGeom>
          <a:noFill/>
          <a:ln/>
        </p:spPr>
        <p:txBody>
          <a:bodyPr wrap="square" lIns="0" tIns="0" rIns="0" bIns="0" rtlCol="0" anchor="ctr"/>
          <a:lstStyle/>
          <a:p>
            <a:pPr marL="0" indent="0">
              <a:buNone/>
            </a:pPr>
            <a:r>
              <a:rPr lang="en-US" sz="1600" b="1" dirty="0">
                <a:solidFill>
                  <a:srgbClr val="F2A93B"/>
                </a:solidFill>
              </a:rPr>
              <a:t>Device and live acceptance</a:t>
            </a:r>
            <a:endParaRPr lang="en-US" sz="1600" dirty="0"/>
          </a:p>
        </p:txBody>
      </p:sp>
      <p:sp>
        <p:nvSpPr>
          <p:cNvPr id="15" name="Text 13"/>
          <p:cNvSpPr txBox="1"/>
          <p:nvPr/>
        </p:nvSpPr>
        <p:spPr>
          <a:xfrm>
            <a:off x="4544568" y="4462272"/>
            <a:ext cx="3291840" cy="1051560"/>
          </a:xfrm>
          <a:prstGeom prst="rect">
            <a:avLst/>
          </a:prstGeom>
          <a:noFill/>
          <a:ln/>
        </p:spPr>
        <p:txBody>
          <a:bodyPr wrap="square" lIns="0" tIns="0" rIns="0" bIns="0" rtlCol="0" anchor="t"/>
          <a:lstStyle/>
          <a:p>
            <a:pPr marL="0" indent="0">
              <a:buNone/>
            </a:pPr>
            <a:r>
              <a:rPr lang="en-US" sz="1400" dirty="0">
                <a:solidFill>
                  <a:srgbClr val="E8EEF5"/>
                </a:solidFill>
              </a:rPr>
              <a:t>Offline OCR, two-account isolation, phone notifications, live review</a:t>
            </a:r>
            <a:endParaRPr lang="en-US" sz="1400" dirty="0"/>
          </a:p>
        </p:txBody>
      </p:sp>
      <p:sp>
        <p:nvSpPr>
          <p:cNvPr id="16" name="card"/>
          <p:cNvSpPr/>
          <p:nvPr/>
        </p:nvSpPr>
        <p:spPr>
          <a:xfrm>
            <a:off x="8229600" y="1737360"/>
            <a:ext cx="3383280" cy="3886200"/>
          </a:xfrm>
          <a:prstGeom prst="roundRect">
            <a:avLst>
              <a:gd name="adj" fmla="val 2162"/>
            </a:avLst>
          </a:prstGeom>
          <a:solidFill>
            <a:srgbClr val="0F2236"/>
          </a:solidFill>
          <a:ln w="12700">
            <a:solidFill>
              <a:srgbClr val="24496B"/>
            </a:solidFill>
            <a:prstDash val="solid"/>
          </a:ln>
        </p:spPr>
        <p:txBody>
          <a:bodyPr/>
          <a:lstStyle/>
          <a:p>
            <a:endParaRPr lang="en-US"/>
          </a:p>
        </p:txBody>
      </p:sp>
      <p:pic>
        <p:nvPicPr>
          <p:cNvPr id="17" name="Image 0" descr="preencoded.png"/>
          <p:cNvPicPr>
            <a:picLocks noChangeAspect="1"/>
          </p:cNvPicPr>
          <p:nvPr/>
        </p:nvPicPr>
        <p:blipFill>
          <a:blip r:embed="rId5"/>
          <a:stretch>
            <a:fillRect/>
          </a:stretch>
        </p:blipFill>
        <p:spPr>
          <a:xfrm>
            <a:off x="8430768" y="1938528"/>
            <a:ext cx="384048" cy="384048"/>
          </a:xfrm>
          <a:prstGeom prst="rect">
            <a:avLst/>
          </a:prstGeom>
        </p:spPr>
      </p:pic>
      <p:sp>
        <p:nvSpPr>
          <p:cNvPr id="18" name="Text 15"/>
          <p:cNvSpPr txBox="1"/>
          <p:nvPr/>
        </p:nvSpPr>
        <p:spPr>
          <a:xfrm>
            <a:off x="8942832" y="1901952"/>
            <a:ext cx="2532888" cy="457200"/>
          </a:xfrm>
          <a:prstGeom prst="rect">
            <a:avLst/>
          </a:prstGeom>
          <a:noFill/>
          <a:ln/>
        </p:spPr>
        <p:txBody>
          <a:bodyPr wrap="square" lIns="0" tIns="0" rIns="0" bIns="0" rtlCol="0" anchor="ctr"/>
          <a:lstStyle/>
          <a:p>
            <a:pPr marL="0" indent="0">
              <a:buNone/>
            </a:pPr>
            <a:r>
              <a:rPr lang="en-US" sz="1600" b="1" dirty="0">
                <a:solidFill>
                  <a:srgbClr val="E05561"/>
                </a:solidFill>
              </a:rPr>
              <a:t>Not claimed</a:t>
            </a:r>
            <a:endParaRPr lang="en-US" sz="1600" dirty="0"/>
          </a:p>
        </p:txBody>
      </p:sp>
      <p:sp>
        <p:nvSpPr>
          <p:cNvPr id="19" name="Text 16"/>
          <p:cNvSpPr txBox="1"/>
          <p:nvPr/>
        </p:nvSpPr>
        <p:spPr>
          <a:xfrm>
            <a:off x="8430768" y="2450592"/>
            <a:ext cx="3017520" cy="30632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8EEF5"/>
                </a:solidFill>
              </a:rPr>
              <a:t>Clinical validation</a:t>
            </a:r>
            <a:endParaRPr lang="en-US" sz="1400" dirty="0"/>
          </a:p>
          <a:p>
            <a:pPr marL="342900" indent="-342900">
              <a:spcAft>
                <a:spcPts val="400"/>
              </a:spcAft>
              <a:buSzPct val="100000"/>
              <a:buChar char="▪"/>
            </a:pPr>
            <a:r>
              <a:rPr lang="en-US" sz="1400" dirty="0">
                <a:solidFill>
                  <a:srgbClr val="E8EEF5"/>
                </a:solidFill>
              </a:rPr>
              <a:t>Regulatory clearance</a:t>
            </a:r>
            <a:endParaRPr lang="en-US" sz="1400" dirty="0"/>
          </a:p>
          <a:p>
            <a:pPr marL="342900" indent="-342900">
              <a:spcAft>
                <a:spcPts val="400"/>
              </a:spcAft>
              <a:buSzPct val="100000"/>
              <a:buChar char="▪"/>
            </a:pPr>
            <a:r>
              <a:rPr lang="en-US" sz="1400" dirty="0">
                <a:solidFill>
                  <a:srgbClr val="E8EEF5"/>
                </a:solidFill>
              </a:rPr>
              <a:t>Flight qualification</a:t>
            </a:r>
            <a:endParaRPr lang="en-US" sz="1400" dirty="0"/>
          </a:p>
          <a:p>
            <a:pPr marL="342900" indent="-342900">
              <a:spcAft>
                <a:spcPts val="400"/>
              </a:spcAft>
              <a:buSzPct val="100000"/>
              <a:buChar char="▪"/>
            </a:pPr>
            <a:r>
              <a:rPr lang="en-US" sz="1400" dirty="0">
                <a:solidFill>
                  <a:srgbClr val="E8EEF5"/>
                </a:solidFill>
              </a:rPr>
              <a:t>Astronaut deployment</a:t>
            </a:r>
            <a:endParaRPr lang="en-US" sz="1400" dirty="0"/>
          </a:p>
          <a:p>
            <a:pPr marL="342900" indent="-342900">
              <a:spcAft>
                <a:spcPts val="400"/>
              </a:spcAft>
              <a:buSzPct val="100000"/>
              <a:buChar char="▪"/>
            </a:pPr>
            <a:r>
              <a:rPr lang="en-US" sz="1400" dirty="0">
                <a:solidFill>
                  <a:srgbClr val="E8EEF5"/>
                </a:solidFill>
              </a:rPr>
              <a:t>NASA endorsement</a:t>
            </a:r>
            <a:endParaRPr lang="en-US" sz="1400" dirty="0"/>
          </a:p>
        </p:txBody>
      </p:sp>
      <p:sp>
        <p:nvSpPr>
          <p:cNvPr id="20" name="Text 17"/>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data/submission/p46-acceptance-evidence.v1.json, p47-competition-handoff.v1.json; Master Manual §32 and §39</a:t>
            </a:r>
            <a:endParaRPr lang="en-US" sz="1000" dirty="0"/>
          </a:p>
        </p:txBody>
      </p:sp>
      <p:sp>
        <p:nvSpPr>
          <p:cNvPr id="21"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28</a:t>
            </a:fld>
            <a:endParaRPr lang="en-US"/>
          </a:p>
        </p:txBody>
      </p:sp>
      <p:pic>
        <p:nvPicPr>
          <p:cNvPr id="22" name="narration28">
            <a:hlinkClick r:id="" action="ppaction://media"/>
            <a:extLst>
              <a:ext uri="{FF2B5EF4-FFF2-40B4-BE49-F238E27FC236}">
                <a16:creationId xmlns:a16="http://schemas.microsoft.com/office/drawing/2014/main" id="{A614A338-93BC-0420-F1FB-7273172C5FA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229600" y="548640"/>
            <a:ext cx="487363" cy="487363"/>
          </a:xfrm>
          <a:prstGeom prst="rect">
            <a:avLst/>
          </a:prstGeom>
        </p:spPr>
      </p:pic>
    </p:spTree>
  </p:cSld>
  <p:clrMapOvr>
    <a:masterClrMapping/>
  </p:clrMapOvr>
  <p:transition spd="slow" advTm="28800">
    <p:split orient="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637"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Mission impact and future potential</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WHY IT MATTERS BEYOND THE COMPETITION</a:t>
            </a:r>
            <a:endParaRPr lang="en-US" sz="1100" dirty="0"/>
          </a:p>
        </p:txBody>
      </p:sp>
      <p:sp>
        <p:nvSpPr>
          <p:cNvPr id="4" name="card"/>
          <p:cNvSpPr/>
          <p:nvPr/>
        </p:nvSpPr>
        <p:spPr>
          <a:xfrm>
            <a:off x="548640" y="1737360"/>
            <a:ext cx="3566160" cy="1874520"/>
          </a:xfrm>
          <a:prstGeom prst="roundRect">
            <a:avLst>
              <a:gd name="adj" fmla="val 3902"/>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Crew autonomy</a:t>
            </a:r>
            <a:endParaRPr lang="en-US" sz="1600" dirty="0"/>
          </a:p>
        </p:txBody>
      </p:sp>
      <p:sp>
        <p:nvSpPr>
          <p:cNvPr id="7" name="Text 4"/>
          <p:cNvSpPr txBox="1"/>
          <p:nvPr/>
        </p:nvSpPr>
        <p:spPr>
          <a:xfrm>
            <a:off x="749808" y="2450592"/>
            <a:ext cx="3200400" cy="1051560"/>
          </a:xfrm>
          <a:prstGeom prst="rect">
            <a:avLst/>
          </a:prstGeom>
          <a:noFill/>
          <a:ln/>
        </p:spPr>
        <p:txBody>
          <a:bodyPr wrap="square" lIns="0" tIns="0" rIns="0" bIns="0" rtlCol="0" anchor="t"/>
          <a:lstStyle/>
          <a:p>
            <a:pPr marL="0" indent="0">
              <a:buNone/>
            </a:pPr>
            <a:r>
              <a:rPr lang="en-US" sz="1400" dirty="0">
                <a:solidFill>
                  <a:srgbClr val="E8EEF5"/>
                </a:solidFill>
              </a:rPr>
              <a:t>Health loop works without a ground link</a:t>
            </a:r>
            <a:endParaRPr lang="en-US" sz="1400" dirty="0"/>
          </a:p>
        </p:txBody>
      </p:sp>
      <p:sp>
        <p:nvSpPr>
          <p:cNvPr id="8" name="card"/>
          <p:cNvSpPr/>
          <p:nvPr/>
        </p:nvSpPr>
        <p:spPr>
          <a:xfrm>
            <a:off x="4251960" y="1737360"/>
            <a:ext cx="3566160" cy="1874520"/>
          </a:xfrm>
          <a:prstGeom prst="roundRect">
            <a:avLst>
              <a:gd name="adj" fmla="val 3902"/>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4453128" y="1938528"/>
            <a:ext cx="384048" cy="384048"/>
          </a:xfrm>
          <a:prstGeom prst="rect">
            <a:avLst/>
          </a:prstGeom>
        </p:spPr>
      </p:pic>
      <p:sp>
        <p:nvSpPr>
          <p:cNvPr id="10" name="Text 6"/>
          <p:cNvSpPr txBox="1"/>
          <p:nvPr/>
        </p:nvSpPr>
        <p:spPr>
          <a:xfrm>
            <a:off x="496519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Personal, not population</a:t>
            </a:r>
            <a:endParaRPr lang="en-US" sz="1600" dirty="0"/>
          </a:p>
        </p:txBody>
      </p:sp>
      <p:sp>
        <p:nvSpPr>
          <p:cNvPr id="11" name="Text 7"/>
          <p:cNvSpPr txBox="1"/>
          <p:nvPr/>
        </p:nvSpPr>
        <p:spPr>
          <a:xfrm>
            <a:off x="4453128" y="2450592"/>
            <a:ext cx="3200400" cy="1051560"/>
          </a:xfrm>
          <a:prstGeom prst="rect">
            <a:avLst/>
          </a:prstGeom>
          <a:noFill/>
          <a:ln/>
        </p:spPr>
        <p:txBody>
          <a:bodyPr wrap="square" lIns="0" tIns="0" rIns="0" bIns="0" rtlCol="0" anchor="t"/>
          <a:lstStyle/>
          <a:p>
            <a:pPr marL="0" indent="0">
              <a:buNone/>
            </a:pPr>
            <a:r>
              <a:rPr lang="en-US" sz="1400" dirty="0">
                <a:solidFill>
                  <a:srgbClr val="E8EEF5"/>
                </a:solidFill>
              </a:rPr>
              <a:t>Phase-aware baselines per astronaut</a:t>
            </a:r>
            <a:endParaRPr lang="en-US" sz="1400" dirty="0"/>
          </a:p>
        </p:txBody>
      </p:sp>
      <p:sp>
        <p:nvSpPr>
          <p:cNvPr id="12" name="card"/>
          <p:cNvSpPr/>
          <p:nvPr/>
        </p:nvSpPr>
        <p:spPr>
          <a:xfrm>
            <a:off x="7955280" y="1737360"/>
            <a:ext cx="3566160" cy="1874520"/>
          </a:xfrm>
          <a:prstGeom prst="roundRect">
            <a:avLst>
              <a:gd name="adj" fmla="val 3902"/>
            </a:avLst>
          </a:prstGeom>
          <a:solidFill>
            <a:srgbClr val="0F2236"/>
          </a:solidFill>
          <a:ln w="12700">
            <a:solidFill>
              <a:srgbClr val="24496B"/>
            </a:solidFill>
            <a:prstDash val="solid"/>
          </a:ln>
        </p:spPr>
        <p:txBody>
          <a:bodyPr/>
          <a:lstStyle/>
          <a:p>
            <a:endParaRPr lang="en-US"/>
          </a:p>
        </p:txBody>
      </p:sp>
      <p:pic>
        <p:nvPicPr>
          <p:cNvPr id="13" name="Image 2" descr="preencoded.png"/>
          <p:cNvPicPr>
            <a:picLocks noChangeAspect="1"/>
          </p:cNvPicPr>
          <p:nvPr/>
        </p:nvPicPr>
        <p:blipFill>
          <a:blip r:embed="rId7"/>
          <a:stretch>
            <a:fillRect/>
          </a:stretch>
        </p:blipFill>
        <p:spPr>
          <a:xfrm>
            <a:off x="8156448" y="1938528"/>
            <a:ext cx="384048" cy="384048"/>
          </a:xfrm>
          <a:prstGeom prst="rect">
            <a:avLst/>
          </a:prstGeom>
        </p:spPr>
      </p:pic>
      <p:sp>
        <p:nvSpPr>
          <p:cNvPr id="14" name="Text 9"/>
          <p:cNvSpPr txBox="1"/>
          <p:nvPr/>
        </p:nvSpPr>
        <p:spPr>
          <a:xfrm>
            <a:off x="8668512" y="190195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Explainable by design</a:t>
            </a:r>
            <a:endParaRPr lang="en-US" sz="1600" dirty="0"/>
          </a:p>
        </p:txBody>
      </p:sp>
      <p:sp>
        <p:nvSpPr>
          <p:cNvPr id="15" name="Text 10"/>
          <p:cNvSpPr txBox="1"/>
          <p:nvPr/>
        </p:nvSpPr>
        <p:spPr>
          <a:xfrm>
            <a:off x="8156448" y="2450592"/>
            <a:ext cx="3200400" cy="1051560"/>
          </a:xfrm>
          <a:prstGeom prst="rect">
            <a:avLst/>
          </a:prstGeom>
          <a:noFill/>
          <a:ln/>
        </p:spPr>
        <p:txBody>
          <a:bodyPr wrap="square" lIns="0" tIns="0" rIns="0" bIns="0" rtlCol="0" anchor="t"/>
          <a:lstStyle/>
          <a:p>
            <a:pPr marL="0" indent="0">
              <a:buNone/>
            </a:pPr>
            <a:r>
              <a:rPr lang="en-US" sz="1400" dirty="0">
                <a:solidFill>
                  <a:srgbClr val="E8EEF5"/>
                </a:solidFill>
              </a:rPr>
              <a:t>Evidence, gaps and uncertainty on every finding</a:t>
            </a:r>
            <a:endParaRPr lang="en-US" sz="1400" dirty="0"/>
          </a:p>
        </p:txBody>
      </p:sp>
      <p:sp>
        <p:nvSpPr>
          <p:cNvPr id="16" name="card"/>
          <p:cNvSpPr/>
          <p:nvPr/>
        </p:nvSpPr>
        <p:spPr>
          <a:xfrm>
            <a:off x="548640" y="3749040"/>
            <a:ext cx="3566160" cy="1874520"/>
          </a:xfrm>
          <a:prstGeom prst="roundRect">
            <a:avLst>
              <a:gd name="adj" fmla="val 3902"/>
            </a:avLst>
          </a:prstGeom>
          <a:solidFill>
            <a:srgbClr val="0F2236"/>
          </a:solidFill>
          <a:ln w="12700">
            <a:solidFill>
              <a:srgbClr val="24496B"/>
            </a:solidFill>
            <a:prstDash val="solid"/>
          </a:ln>
        </p:spPr>
        <p:txBody>
          <a:bodyPr/>
          <a:lstStyle/>
          <a:p>
            <a:endParaRPr lang="en-US"/>
          </a:p>
        </p:txBody>
      </p:sp>
      <p:pic>
        <p:nvPicPr>
          <p:cNvPr id="17" name="Image 3" descr="preencoded.png"/>
          <p:cNvPicPr>
            <a:picLocks noChangeAspect="1"/>
          </p:cNvPicPr>
          <p:nvPr/>
        </p:nvPicPr>
        <p:blipFill>
          <a:blip r:embed="rId8"/>
          <a:stretch>
            <a:fillRect/>
          </a:stretch>
        </p:blipFill>
        <p:spPr>
          <a:xfrm>
            <a:off x="749808" y="3950208"/>
            <a:ext cx="384048" cy="384048"/>
          </a:xfrm>
          <a:prstGeom prst="rect">
            <a:avLst/>
          </a:prstGeom>
        </p:spPr>
      </p:pic>
      <p:sp>
        <p:nvSpPr>
          <p:cNvPr id="18" name="Text 12"/>
          <p:cNvSpPr txBox="1"/>
          <p:nvPr/>
        </p:nvSpPr>
        <p:spPr>
          <a:xfrm>
            <a:off x="1261872" y="391363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Research-ready</a:t>
            </a:r>
            <a:endParaRPr lang="en-US" sz="1600" dirty="0"/>
          </a:p>
        </p:txBody>
      </p:sp>
      <p:sp>
        <p:nvSpPr>
          <p:cNvPr id="19" name="Text 13"/>
          <p:cNvSpPr txBox="1"/>
          <p:nvPr/>
        </p:nvSpPr>
        <p:spPr>
          <a:xfrm>
            <a:off x="749808" y="4462272"/>
            <a:ext cx="3200400" cy="1051560"/>
          </a:xfrm>
          <a:prstGeom prst="rect">
            <a:avLst/>
          </a:prstGeom>
          <a:noFill/>
          <a:ln/>
        </p:spPr>
        <p:txBody>
          <a:bodyPr wrap="square" lIns="0" tIns="0" rIns="0" bIns="0" rtlCol="0" anchor="t"/>
          <a:lstStyle/>
          <a:p>
            <a:pPr marL="0" indent="0">
              <a:buNone/>
            </a:pPr>
            <a:r>
              <a:rPr lang="en-US" sz="1400" dirty="0">
                <a:solidFill>
                  <a:srgbClr val="E8EEF5"/>
                </a:solidFill>
              </a:rPr>
              <a:t>Analog missions, research teams, education</a:t>
            </a:r>
            <a:endParaRPr lang="en-US" sz="1400" dirty="0"/>
          </a:p>
        </p:txBody>
      </p:sp>
      <p:sp>
        <p:nvSpPr>
          <p:cNvPr id="20" name="card"/>
          <p:cNvSpPr/>
          <p:nvPr/>
        </p:nvSpPr>
        <p:spPr>
          <a:xfrm>
            <a:off x="4251960" y="3749040"/>
            <a:ext cx="3566160" cy="1874520"/>
          </a:xfrm>
          <a:prstGeom prst="roundRect">
            <a:avLst>
              <a:gd name="adj" fmla="val 3902"/>
            </a:avLst>
          </a:prstGeom>
          <a:solidFill>
            <a:srgbClr val="0F2236"/>
          </a:solidFill>
          <a:ln w="12700">
            <a:solidFill>
              <a:srgbClr val="24496B"/>
            </a:solidFill>
            <a:prstDash val="solid"/>
          </a:ln>
        </p:spPr>
        <p:txBody>
          <a:bodyPr/>
          <a:lstStyle/>
          <a:p>
            <a:endParaRPr lang="en-US"/>
          </a:p>
        </p:txBody>
      </p:sp>
      <p:pic>
        <p:nvPicPr>
          <p:cNvPr id="21" name="Image 4" descr="preencoded.png"/>
          <p:cNvPicPr>
            <a:picLocks noChangeAspect="1"/>
          </p:cNvPicPr>
          <p:nvPr/>
        </p:nvPicPr>
        <p:blipFill>
          <a:blip r:embed="rId9"/>
          <a:stretch>
            <a:fillRect/>
          </a:stretch>
        </p:blipFill>
        <p:spPr>
          <a:xfrm>
            <a:off x="4453128" y="3950208"/>
            <a:ext cx="384048" cy="384048"/>
          </a:xfrm>
          <a:prstGeom prst="rect">
            <a:avLst/>
          </a:prstGeom>
        </p:spPr>
      </p:pic>
      <p:sp>
        <p:nvSpPr>
          <p:cNvPr id="22" name="Text 15"/>
          <p:cNvSpPr txBox="1"/>
          <p:nvPr/>
        </p:nvSpPr>
        <p:spPr>
          <a:xfrm>
            <a:off x="4965192" y="391363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Open and extensible</a:t>
            </a:r>
            <a:endParaRPr lang="en-US" sz="1600" dirty="0"/>
          </a:p>
        </p:txBody>
      </p:sp>
      <p:sp>
        <p:nvSpPr>
          <p:cNvPr id="23" name="Text 16"/>
          <p:cNvSpPr txBox="1"/>
          <p:nvPr/>
        </p:nvSpPr>
        <p:spPr>
          <a:xfrm>
            <a:off x="4453128" y="4462272"/>
            <a:ext cx="3200400" cy="1051560"/>
          </a:xfrm>
          <a:prstGeom prst="rect">
            <a:avLst/>
          </a:prstGeom>
          <a:noFill/>
          <a:ln/>
        </p:spPr>
        <p:txBody>
          <a:bodyPr wrap="square" lIns="0" tIns="0" rIns="0" bIns="0" rtlCol="0" anchor="t"/>
          <a:lstStyle/>
          <a:p>
            <a:pPr marL="0" indent="0">
              <a:buNone/>
            </a:pPr>
            <a:r>
              <a:rPr lang="en-US" sz="1400" dirty="0">
                <a:solidFill>
                  <a:srgbClr val="E8EEF5"/>
                </a:solidFill>
              </a:rPr>
              <a:t>New sensors and catalogues via contracts</a:t>
            </a:r>
            <a:endParaRPr lang="en-US" sz="1400" dirty="0"/>
          </a:p>
        </p:txBody>
      </p:sp>
      <p:sp>
        <p:nvSpPr>
          <p:cNvPr id="24" name="card"/>
          <p:cNvSpPr/>
          <p:nvPr/>
        </p:nvSpPr>
        <p:spPr>
          <a:xfrm>
            <a:off x="7955280" y="3749040"/>
            <a:ext cx="3566160" cy="1874520"/>
          </a:xfrm>
          <a:prstGeom prst="roundRect">
            <a:avLst>
              <a:gd name="adj" fmla="val 3902"/>
            </a:avLst>
          </a:prstGeom>
          <a:solidFill>
            <a:srgbClr val="0F2236"/>
          </a:solidFill>
          <a:ln w="12700">
            <a:solidFill>
              <a:srgbClr val="24496B"/>
            </a:solidFill>
            <a:prstDash val="solid"/>
          </a:ln>
        </p:spPr>
        <p:txBody>
          <a:bodyPr/>
          <a:lstStyle/>
          <a:p>
            <a:endParaRPr lang="en-US"/>
          </a:p>
        </p:txBody>
      </p:sp>
      <p:pic>
        <p:nvPicPr>
          <p:cNvPr id="25" name="Image 5" descr="preencoded.png"/>
          <p:cNvPicPr>
            <a:picLocks noChangeAspect="1"/>
          </p:cNvPicPr>
          <p:nvPr/>
        </p:nvPicPr>
        <p:blipFill>
          <a:blip r:embed="rId10"/>
          <a:stretch>
            <a:fillRect/>
          </a:stretch>
        </p:blipFill>
        <p:spPr>
          <a:xfrm>
            <a:off x="8156448" y="3950208"/>
            <a:ext cx="384048" cy="384048"/>
          </a:xfrm>
          <a:prstGeom prst="rect">
            <a:avLst/>
          </a:prstGeom>
        </p:spPr>
      </p:pic>
      <p:sp>
        <p:nvSpPr>
          <p:cNvPr id="26" name="Text 18"/>
          <p:cNvSpPr txBox="1"/>
          <p:nvPr/>
        </p:nvSpPr>
        <p:spPr>
          <a:xfrm>
            <a:off x="8668512" y="3913632"/>
            <a:ext cx="2715768" cy="457200"/>
          </a:xfrm>
          <a:prstGeom prst="rect">
            <a:avLst/>
          </a:prstGeom>
          <a:noFill/>
          <a:ln/>
        </p:spPr>
        <p:txBody>
          <a:bodyPr wrap="square" lIns="0" tIns="0" rIns="0" bIns="0" rtlCol="0" anchor="ctr"/>
          <a:lstStyle/>
          <a:p>
            <a:pPr marL="0" indent="0">
              <a:buNone/>
            </a:pPr>
            <a:r>
              <a:rPr lang="en-US" sz="1600" b="1" dirty="0">
                <a:solidFill>
                  <a:srgbClr val="E8EEF5"/>
                </a:solidFill>
              </a:rPr>
              <a:t>Trustworthy</a:t>
            </a:r>
            <a:endParaRPr lang="en-US" sz="1600" dirty="0"/>
          </a:p>
        </p:txBody>
      </p:sp>
      <p:sp>
        <p:nvSpPr>
          <p:cNvPr id="27" name="Text 19"/>
          <p:cNvSpPr txBox="1"/>
          <p:nvPr/>
        </p:nvSpPr>
        <p:spPr>
          <a:xfrm>
            <a:off x="8156448" y="4462272"/>
            <a:ext cx="3200400" cy="1051560"/>
          </a:xfrm>
          <a:prstGeom prst="rect">
            <a:avLst/>
          </a:prstGeom>
          <a:noFill/>
          <a:ln/>
        </p:spPr>
        <p:txBody>
          <a:bodyPr wrap="square" lIns="0" tIns="0" rIns="0" bIns="0" rtlCol="0" anchor="t"/>
          <a:lstStyle/>
          <a:p>
            <a:pPr marL="0" indent="0">
              <a:buNone/>
            </a:pPr>
            <a:r>
              <a:rPr lang="en-US" sz="1400" dirty="0">
                <a:solidFill>
                  <a:srgbClr val="E8EEF5"/>
                </a:solidFill>
              </a:rPr>
              <a:t>Governance and provenance built in</a:t>
            </a:r>
            <a:endParaRPr lang="en-US" sz="1400" dirty="0"/>
          </a:p>
        </p:txBody>
      </p:sp>
      <p:sp>
        <p:nvSpPr>
          <p:cNvPr id="28" name="Text 20"/>
          <p:cNvSpPr txBox="1"/>
          <p:nvPr/>
        </p:nvSpPr>
        <p:spPr>
          <a:xfrm>
            <a:off x="548640" y="6108192"/>
            <a:ext cx="11064240" cy="274320"/>
          </a:xfrm>
          <a:prstGeom prst="rect">
            <a:avLst/>
          </a:prstGeom>
          <a:noFill/>
          <a:ln/>
        </p:spPr>
        <p:txBody>
          <a:bodyPr wrap="square" lIns="0" tIns="0" rIns="0" bIns="0" rtlCol="0" anchor="ctr"/>
          <a:lstStyle/>
          <a:p>
            <a:pPr marL="0" indent="0">
              <a:buNone/>
            </a:pPr>
            <a:r>
              <a:rPr lang="en-US" sz="1000" i="1" dirty="0">
                <a:solidFill>
                  <a:srgbClr val="93A7BC"/>
                </a:solidFill>
              </a:rPr>
              <a:t>Source: Master Manual §02 and §39.3</a:t>
            </a:r>
            <a:endParaRPr lang="en-US" sz="1000" dirty="0"/>
          </a:p>
        </p:txBody>
      </p:sp>
      <p:sp>
        <p:nvSpPr>
          <p:cNvPr id="29"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29</a:t>
            </a:fld>
            <a:endParaRPr lang="en-US"/>
          </a:p>
        </p:txBody>
      </p:sp>
      <p:pic>
        <p:nvPicPr>
          <p:cNvPr id="30" name="narration29">
            <a:hlinkClick r:id="" action="ppaction://media"/>
            <a:extLst>
              <a:ext uri="{FF2B5EF4-FFF2-40B4-BE49-F238E27FC236}">
                <a16:creationId xmlns:a16="http://schemas.microsoft.com/office/drawing/2014/main" id="{75BF8FC7-870E-0B51-F32D-11C4B4A74B9C}"/>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7995385" y="548640"/>
            <a:ext cx="487363" cy="487363"/>
          </a:xfrm>
          <a:prstGeom prst="rect">
            <a:avLst/>
          </a:prstGeom>
        </p:spPr>
      </p:pic>
    </p:spTree>
  </p:cSld>
  <p:clrMapOvr>
    <a:masterClrMapping/>
  </p:clrMapOvr>
  <p:transition spd="slow" advTm="225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289"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566928"/>
            <a:ext cx="11064240" cy="777240"/>
          </a:xfrm>
          <a:prstGeom prst="rect">
            <a:avLst/>
          </a:prstGeom>
          <a:noFill/>
          <a:ln/>
        </p:spPr>
        <p:txBody>
          <a:bodyPr wrap="square" lIns="0" tIns="0" rIns="0" bIns="0" rtlCol="0" anchor="t"/>
          <a:lstStyle/>
          <a:p>
            <a:pPr marL="0" indent="0" algn="l">
              <a:buNone/>
            </a:pPr>
            <a:r>
              <a:rPr lang="en-US" sz="2800" b="1" dirty="0">
                <a:solidFill>
                  <a:srgbClr val="E8EEF5"/>
                </a:solidFill>
              </a:rPr>
              <a:t>Healthy people. Farther together — with evidence you can check.</a:t>
            </a:r>
            <a:endParaRPr lang="en-US" sz="2800" dirty="0"/>
          </a:p>
        </p:txBody>
      </p:sp>
      <p:sp>
        <p:nvSpPr>
          <p:cNvPr id="3" name="kicker"/>
          <p:cNvSpPr txBox="1"/>
          <p:nvPr/>
        </p:nvSpPr>
        <p:spPr>
          <a:xfrm>
            <a:off x="548640" y="274320"/>
            <a:ext cx="10972800" cy="274320"/>
          </a:xfrm>
          <a:prstGeom prst="rect">
            <a:avLst/>
          </a:prstGeom>
          <a:noFill/>
          <a:ln/>
        </p:spPr>
        <p:txBody>
          <a:bodyPr wrap="square" lIns="0" tIns="0" rIns="0" bIns="0" rtlCol="0" anchor="ctr"/>
          <a:lstStyle/>
          <a:p>
            <a:pPr marL="0" indent="0">
              <a:buNone/>
            </a:pPr>
            <a:r>
              <a:rPr lang="en-US" sz="1100" b="1" kern="0" spc="300" dirty="0">
                <a:solidFill>
                  <a:srgbClr val="19B5C9"/>
                </a:solidFill>
              </a:rPr>
              <a:t>CLOSING</a:t>
            </a:r>
            <a:endParaRPr lang="en-US" sz="1100" dirty="0"/>
          </a:p>
        </p:txBody>
      </p:sp>
      <p:sp>
        <p:nvSpPr>
          <p:cNvPr id="4" name="card"/>
          <p:cNvSpPr/>
          <p:nvPr/>
        </p:nvSpPr>
        <p:spPr>
          <a:xfrm>
            <a:off x="548640" y="1737360"/>
            <a:ext cx="3931920" cy="3931920"/>
          </a:xfrm>
          <a:prstGeom prst="roundRect">
            <a:avLst>
              <a:gd name="adj" fmla="val 1860"/>
            </a:avLst>
          </a:prstGeom>
          <a:solidFill>
            <a:srgbClr val="0F2236"/>
          </a:solidFill>
          <a:ln w="12700">
            <a:solidFill>
              <a:srgbClr val="24496B"/>
            </a:solidFill>
            <a:prstDash val="solid"/>
          </a:ln>
        </p:spPr>
        <p:txBody>
          <a:bodyPr/>
          <a:lstStyle/>
          <a:p>
            <a:endParaRPr lang="en-US"/>
          </a:p>
        </p:txBody>
      </p:sp>
      <p:pic>
        <p:nvPicPr>
          <p:cNvPr id="5" name="Image 0" descr="preencoded.png"/>
          <p:cNvPicPr>
            <a:picLocks noChangeAspect="1"/>
          </p:cNvPicPr>
          <p:nvPr/>
        </p:nvPicPr>
        <p:blipFill>
          <a:blip r:embed="rId5"/>
          <a:stretch>
            <a:fillRect/>
          </a:stretch>
        </p:blipFill>
        <p:spPr>
          <a:xfrm>
            <a:off x="749808" y="1938528"/>
            <a:ext cx="384048" cy="384048"/>
          </a:xfrm>
          <a:prstGeom prst="rect">
            <a:avLst/>
          </a:prstGeom>
        </p:spPr>
      </p:pic>
      <p:sp>
        <p:nvSpPr>
          <p:cNvPr id="6" name="Text 3"/>
          <p:cNvSpPr txBox="1"/>
          <p:nvPr/>
        </p:nvSpPr>
        <p:spPr>
          <a:xfrm>
            <a:off x="1261872" y="1901952"/>
            <a:ext cx="3081528" cy="457200"/>
          </a:xfrm>
          <a:prstGeom prst="rect">
            <a:avLst/>
          </a:prstGeom>
          <a:noFill/>
          <a:ln/>
        </p:spPr>
        <p:txBody>
          <a:bodyPr wrap="square" lIns="0" tIns="0" rIns="0" bIns="0" rtlCol="0" anchor="ctr"/>
          <a:lstStyle/>
          <a:p>
            <a:pPr marL="0" indent="0">
              <a:buNone/>
            </a:pPr>
            <a:r>
              <a:rPr lang="en-US" sz="1600" b="1" dirty="0">
                <a:solidFill>
                  <a:srgbClr val="E8EEF5"/>
                </a:solidFill>
              </a:rPr>
              <a:t>Try it</a:t>
            </a:r>
            <a:endParaRPr lang="en-US" sz="1600" dirty="0"/>
          </a:p>
        </p:txBody>
      </p:sp>
      <p:sp>
        <p:nvSpPr>
          <p:cNvPr id="7" name="Text 4"/>
          <p:cNvSpPr txBox="1"/>
          <p:nvPr/>
        </p:nvSpPr>
        <p:spPr>
          <a:xfrm>
            <a:off x="749808" y="2450592"/>
            <a:ext cx="356616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8EEF5"/>
                </a:solidFill>
              </a:rPr>
              <a:t>mitochondria.edocinfo.com</a:t>
            </a:r>
            <a:endParaRPr lang="en-US" sz="1500" dirty="0"/>
          </a:p>
          <a:p>
            <a:pPr marL="342900" indent="-342900">
              <a:spcAft>
                <a:spcPts val="400"/>
              </a:spcAft>
              <a:buSzPct val="100000"/>
              <a:buChar char="▪"/>
            </a:pPr>
            <a:r>
              <a:rPr lang="en-US" sz="1500" dirty="0">
                <a:solidFill>
                  <a:srgbClr val="E8EEF5"/>
                </a:solidFill>
              </a:rPr>
              <a:t>Public path: no account</a:t>
            </a:r>
            <a:endParaRPr lang="en-US" sz="1500" dirty="0"/>
          </a:p>
          <a:p>
            <a:pPr marL="342900" indent="-342900">
              <a:spcAft>
                <a:spcPts val="400"/>
              </a:spcAft>
              <a:buSzPct val="100000"/>
              <a:buChar char="▪"/>
            </a:pPr>
            <a:r>
              <a:rPr lang="en-US" sz="1500" dirty="0">
                <a:solidFill>
                  <a:srgbClr val="E8EEF5"/>
                </a:solidFill>
              </a:rPr>
              <a:t>Evaluator guide: 15–20 min</a:t>
            </a:r>
            <a:endParaRPr lang="en-US" sz="1500" dirty="0"/>
          </a:p>
        </p:txBody>
      </p:sp>
      <p:sp>
        <p:nvSpPr>
          <p:cNvPr id="8" name="card"/>
          <p:cNvSpPr/>
          <p:nvPr/>
        </p:nvSpPr>
        <p:spPr>
          <a:xfrm>
            <a:off x="4663440" y="1737360"/>
            <a:ext cx="3657600" cy="3931920"/>
          </a:xfrm>
          <a:prstGeom prst="roundRect">
            <a:avLst>
              <a:gd name="adj" fmla="val 2000"/>
            </a:avLst>
          </a:prstGeom>
          <a:solidFill>
            <a:srgbClr val="0F2236"/>
          </a:solidFill>
          <a:ln w="12700">
            <a:solidFill>
              <a:srgbClr val="24496B"/>
            </a:solidFill>
            <a:prstDash val="solid"/>
          </a:ln>
        </p:spPr>
        <p:txBody>
          <a:bodyPr/>
          <a:lstStyle/>
          <a:p>
            <a:endParaRPr lang="en-US"/>
          </a:p>
        </p:txBody>
      </p:sp>
      <p:pic>
        <p:nvPicPr>
          <p:cNvPr id="9" name="Image 1" descr="preencoded.png"/>
          <p:cNvPicPr>
            <a:picLocks noChangeAspect="1"/>
          </p:cNvPicPr>
          <p:nvPr/>
        </p:nvPicPr>
        <p:blipFill>
          <a:blip r:embed="rId6"/>
          <a:stretch>
            <a:fillRect/>
          </a:stretch>
        </p:blipFill>
        <p:spPr>
          <a:xfrm>
            <a:off x="4864608" y="1938528"/>
            <a:ext cx="384048" cy="384048"/>
          </a:xfrm>
          <a:prstGeom prst="rect">
            <a:avLst/>
          </a:prstGeom>
        </p:spPr>
      </p:pic>
      <p:sp>
        <p:nvSpPr>
          <p:cNvPr id="10" name="Text 6"/>
          <p:cNvSpPr txBox="1"/>
          <p:nvPr/>
        </p:nvSpPr>
        <p:spPr>
          <a:xfrm>
            <a:off x="5376672" y="1901952"/>
            <a:ext cx="2807208" cy="457200"/>
          </a:xfrm>
          <a:prstGeom prst="rect">
            <a:avLst/>
          </a:prstGeom>
          <a:noFill/>
          <a:ln/>
        </p:spPr>
        <p:txBody>
          <a:bodyPr wrap="square" lIns="0" tIns="0" rIns="0" bIns="0" rtlCol="0" anchor="ctr"/>
          <a:lstStyle/>
          <a:p>
            <a:pPr marL="0" indent="0">
              <a:buNone/>
            </a:pPr>
            <a:r>
              <a:rPr lang="en-US" sz="1600" b="1" dirty="0">
                <a:solidFill>
                  <a:srgbClr val="E8EEF5"/>
                </a:solidFill>
              </a:rPr>
              <a:t>Read and review</a:t>
            </a:r>
            <a:endParaRPr lang="en-US" sz="1600" dirty="0"/>
          </a:p>
        </p:txBody>
      </p:sp>
      <p:sp>
        <p:nvSpPr>
          <p:cNvPr id="11" name="Text 7"/>
          <p:cNvSpPr txBox="1"/>
          <p:nvPr/>
        </p:nvSpPr>
        <p:spPr>
          <a:xfrm>
            <a:off x="4864608" y="2450592"/>
            <a:ext cx="329184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E8EEF5"/>
                </a:solidFill>
              </a:rPr>
              <a:t>Master Operations &amp; Technical Manual</a:t>
            </a:r>
            <a:endParaRPr lang="en-US" sz="1500" dirty="0"/>
          </a:p>
          <a:p>
            <a:pPr marL="342900" indent="-342900">
              <a:spcAft>
                <a:spcPts val="400"/>
              </a:spcAft>
              <a:buSzPct val="100000"/>
              <a:buChar char="▪"/>
            </a:pPr>
            <a:r>
              <a:rPr lang="en-US" sz="1500" dirty="0">
                <a:solidFill>
                  <a:srgbClr val="E8EEF5"/>
                </a:solidFill>
              </a:rPr>
              <a:t>github.com/computech-gr/astro-vitality-core</a:t>
            </a:r>
            <a:endParaRPr lang="en-US" sz="1500" dirty="0"/>
          </a:p>
          <a:p>
            <a:pPr marL="342900" indent="-342900">
              <a:spcAft>
                <a:spcPts val="400"/>
              </a:spcAft>
              <a:buSzPct val="100000"/>
              <a:buChar char="▪"/>
            </a:pPr>
            <a:r>
              <a:rPr lang="en-US" sz="1500" dirty="0">
                <a:solidFill>
                  <a:srgbClr val="E8EEF5"/>
                </a:solidFill>
              </a:rPr>
              <a:t>Apache-2.0 · contributions welcome</a:t>
            </a:r>
            <a:endParaRPr lang="en-US" sz="1500" dirty="0"/>
          </a:p>
        </p:txBody>
      </p:sp>
      <p:sp>
        <p:nvSpPr>
          <p:cNvPr id="12" name="Shape 8"/>
          <p:cNvSpPr/>
          <p:nvPr/>
        </p:nvSpPr>
        <p:spPr>
          <a:xfrm>
            <a:off x="8494776" y="1545336"/>
            <a:ext cx="3218688" cy="4133088"/>
          </a:xfrm>
          <a:prstGeom prst="roundRect">
            <a:avLst>
              <a:gd name="adj" fmla="val 1420"/>
            </a:avLst>
          </a:prstGeom>
          <a:solidFill>
            <a:srgbClr val="0F2236"/>
          </a:solidFill>
          <a:ln w="12700">
            <a:solidFill>
              <a:srgbClr val="19B5C9"/>
            </a:solidFill>
            <a:prstDash val="solid"/>
          </a:ln>
        </p:spPr>
        <p:txBody>
          <a:bodyPr/>
          <a:lstStyle/>
          <a:p>
            <a:endParaRPr lang="en-US"/>
          </a:p>
        </p:txBody>
      </p:sp>
      <p:pic>
        <p:nvPicPr>
          <p:cNvPr id="13" name="Image 2" descr="/home/claude/v6/shots_doc/home.jpg"/>
          <p:cNvPicPr>
            <a:picLocks noChangeAspect="1"/>
          </p:cNvPicPr>
          <p:nvPr/>
        </p:nvPicPr>
        <p:blipFill>
          <a:blip r:embed="rId7"/>
          <a:stretch>
            <a:fillRect/>
          </a:stretch>
        </p:blipFill>
        <p:spPr>
          <a:xfrm>
            <a:off x="8549640" y="1600200"/>
            <a:ext cx="3108960" cy="4023360"/>
          </a:xfrm>
          <a:prstGeom prst="rect">
            <a:avLst/>
          </a:prstGeom>
        </p:spPr>
      </p:pic>
      <p:sp>
        <p:nvSpPr>
          <p:cNvPr id="14" name="Text 9"/>
          <p:cNvSpPr txBox="1"/>
          <p:nvPr/>
        </p:nvSpPr>
        <p:spPr>
          <a:xfrm>
            <a:off x="8275320" y="5715000"/>
            <a:ext cx="3657600" cy="256032"/>
          </a:xfrm>
          <a:prstGeom prst="rect">
            <a:avLst/>
          </a:prstGeom>
          <a:noFill/>
          <a:ln/>
        </p:spPr>
        <p:txBody>
          <a:bodyPr wrap="square" lIns="0" tIns="0" rIns="0" bIns="0" rtlCol="0" anchor="ctr"/>
          <a:lstStyle/>
          <a:p>
            <a:pPr marL="0" indent="0" algn="ctr">
              <a:buNone/>
            </a:pPr>
            <a:r>
              <a:rPr lang="en-US" sz="1000" dirty="0">
                <a:solidFill>
                  <a:srgbClr val="93A7BC"/>
                </a:solidFill>
              </a:rPr>
              <a:t>Home — live site</a:t>
            </a:r>
            <a:endParaRPr lang="en-US" sz="1000" dirty="0"/>
          </a:p>
        </p:txBody>
      </p:sp>
      <p:sp>
        <p:nvSpPr>
          <p:cNvPr id="15" name="Text 10"/>
          <p:cNvSpPr txBox="1"/>
          <p:nvPr/>
        </p:nvSpPr>
        <p:spPr>
          <a:xfrm>
            <a:off x="548640" y="5852160"/>
            <a:ext cx="7955280" cy="320040"/>
          </a:xfrm>
          <a:prstGeom prst="rect">
            <a:avLst/>
          </a:prstGeom>
          <a:noFill/>
          <a:ln/>
        </p:spPr>
        <p:txBody>
          <a:bodyPr wrap="square" lIns="0" tIns="0" rIns="0" bIns="0" rtlCol="0" anchor="ctr"/>
          <a:lstStyle/>
          <a:p>
            <a:pPr marL="0" indent="0">
              <a:buNone/>
            </a:pPr>
            <a:r>
              <a:rPr lang="en-US" sz="1300" b="1" dirty="0">
                <a:solidFill>
                  <a:srgbClr val="F2A93B"/>
                </a:solidFill>
              </a:rPr>
              <a:t>Research prototype · synthetic data only · not NASA-endorsed · not clinically validated</a:t>
            </a:r>
            <a:endParaRPr lang="en-US" sz="1300" dirty="0"/>
          </a:p>
        </p:txBody>
      </p:sp>
      <p:sp>
        <p:nvSpPr>
          <p:cNvPr id="16"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93A7BC"/>
                </a:solidFill>
              </a:defRPr>
            </a:lvl1pPr>
          </a:lstStyle>
          <a:p>
            <a:pPr algn="r"/>
            <a:fld id="{F7021451-1387-4CA6-816F-3879F97B5CBC}" type="slidenum">
              <a:rPr lang="en-US" b="0"/>
              <a:t>30</a:t>
            </a:fld>
            <a:endParaRPr lang="en-US"/>
          </a:p>
        </p:txBody>
      </p:sp>
      <p:pic>
        <p:nvPicPr>
          <p:cNvPr id="17" name="narration30">
            <a:hlinkClick r:id="" action="ppaction://media"/>
            <a:extLst>
              <a:ext uri="{FF2B5EF4-FFF2-40B4-BE49-F238E27FC236}">
                <a16:creationId xmlns:a16="http://schemas.microsoft.com/office/drawing/2014/main" id="{BAD4D6E6-BC19-33AC-9B9B-04D40A022CD0}"/>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244431" y="652588"/>
            <a:ext cx="487363" cy="487363"/>
          </a:xfrm>
          <a:prstGeom prst="rect">
            <a:avLst/>
          </a:prstGeom>
        </p:spPr>
      </p:pic>
    </p:spTree>
  </p:cSld>
  <p:clrMapOvr>
    <a:masterClrMapping/>
  </p:clrMapOvr>
  <p:transition spd="slow" advTm="1740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22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theme/theme1.xml><?xml version="1.0" encoding="utf-8"?>
<a:theme xmlns:a="http://schemas.openxmlformats.org/drawingml/2006/main" name="Mitochondria Mission Control">
  <a:themeElements>
    <a:clrScheme name="Mitochondria Mission Control">
      <a:dk1>
        <a:srgbClr val="07121F"/>
      </a:dk1>
      <a:lt1>
        <a:srgbClr val="E8EEF5"/>
      </a:lt1>
      <a:dk2>
        <a:srgbClr val="0F2236"/>
      </a:dk2>
      <a:lt2>
        <a:srgbClr val="C9D6E3"/>
      </a:lt2>
      <a:accent1>
        <a:srgbClr val="19B5C9"/>
      </a:accent1>
      <a:accent2>
        <a:srgbClr val="F2A93B"/>
      </a:accent2>
      <a:accent3>
        <a:srgbClr val="3CB371"/>
      </a:accent3>
      <a:accent4>
        <a:srgbClr val="E05561"/>
      </a:accent4>
      <a:accent5>
        <a:srgbClr val="0E8C96"/>
      </a:accent5>
      <a:accent6>
        <a:srgbClr val="6C8EBF"/>
      </a:accent6>
      <a:hlink>
        <a:srgbClr val="19B5C9"/>
      </a:hlink>
      <a:folHlink>
        <a:srgbClr val="7FD3DE"/>
      </a:folHlink>
    </a:clrScheme>
    <a:fontScheme name="Mitochondria Mission Contro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4580</Words>
  <Application>Microsoft Office PowerPoint</Application>
  <PresentationFormat>Widescreen</PresentationFormat>
  <Paragraphs>617</Paragraphs>
  <Slides>30</Slides>
  <Notes>30</Notes>
  <HiddenSlides>0</HiddenSlides>
  <MMClips>30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Mitochondria Mission Control</vt:lpstr>
      <vt:lpstr>PowerPoint Presentation</vt:lpstr>
      <vt:lpstr>Spaceflight stresses the body on five interacting fronts</vt:lpstr>
      <vt:lpstr>Distance turns health monitoring into an autonomy problem</vt:lpstr>
      <vt:lpstr>Today’s health evidence is fragmented — and easy to over-interpret</vt:lpstr>
      <vt:lpstr>One loop: Monitor → Personalize → Correlate → Detect → Explain → Act → Learn</vt:lpstr>
      <vt:lpstr>What the platform gives each stakeholder</vt:lpstr>
      <vt:lpstr>Science leads — and every scientific claim carries its review state</vt:lpstr>
      <vt:lpstr>Four integrated health domains</vt:lpstr>
      <vt:lpstr>Explainability and personal baselines: compare each astronaut with themselves</vt:lpstr>
      <vt:lpstr>Biomarkers are matched exactly — relationships are shown, never inferred</vt:lpstr>
      <vt:lpstr>Nikolas’ biological research, integrated as a searchable Research Explorer</vt:lpstr>
      <vt:lpstr>Every claim traces back to a file, a hash or a ledger</vt:lpstr>
      <vt:lpstr>Architecture: the cloud is not in the sensor-to-astronaut path</vt:lpstr>
      <vt:lpstr>Four mission-scoped roles, enforced in the database</vt:lpstr>
      <vt:lpstr>Operators administer missions — and every action is audited</vt:lpstr>
      <vt:lpstr>Wearables and phone sensors with honest states — nothing is fabricated</vt:lpstr>
      <vt:lpstr>Live monitoring separates identity, transport, sample and storage</vt:lpstr>
      <vt:lpstr>Offline first: encrypt locally, synchronise with authority</vt:lpstr>
      <vt:lpstr>Laboratory evidence: synthetic reports reviewed in the browser</vt:lpstr>
      <vt:lpstr>Ground Medical review — eight synthetic values, read-only, session-safe</vt:lpstr>
      <vt:lpstr>Daily Health Companion: the astronaut’s day, with honest data</vt:lpstr>
      <vt:lpstr>A private view must never outlive its authorization</vt:lpstr>
      <vt:lpstr>Health intelligence explains — it never diagnoses</vt:lpstr>
      <vt:lpstr>NASA OSDR: real research metadata, clearly not crew data</vt:lpstr>
      <vt:lpstr>Mission-scoped privacy and governance, enforced where data lives</vt:lpstr>
      <vt:lpstr>Live demonstration: 15–20 minutes, no admin access, no real data</vt:lpstr>
      <vt:lpstr>Engineering evidence — reported as it is</vt:lpstr>
      <vt:lpstr>Scientific limitations and future validation</vt:lpstr>
      <vt:lpstr>Mission impact and future potential</vt:lpstr>
      <vt:lpstr>Healthy people. Farther together — with evidence you can check.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MITOCHONDRIA — NASA Space Apps Challenge 2026 — Final Competition Edition (14 November 2026)</dc:title>
  <dc:subject>Narrated 30-slide presentation with automatic transitions</dc:subject>
  <dc:creator>The Mitochondria team</dc:creator>
  <cp:lastModifiedBy>Theodore Silvestros</cp:lastModifiedBy>
  <cp:revision>1</cp:revision>
  <dcterms:created xsi:type="dcterms:W3CDTF">2026-10-31T11:21:52Z</dcterms:created>
  <dcterms:modified xsi:type="dcterms:W3CDTF">2026-10-31T14:03:18Z</dcterms:modified>
</cp:coreProperties>
</file>